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0" r:id="rId19"/>
    <p:sldId id="273" r:id="rId20"/>
    <p:sldId id="274" r:id="rId21"/>
    <p:sldId id="312" r:id="rId22"/>
    <p:sldId id="320" r:id="rId23"/>
    <p:sldId id="322" r:id="rId24"/>
    <p:sldId id="323" r:id="rId25"/>
    <p:sldId id="324" r:id="rId26"/>
    <p:sldId id="325" r:id="rId27"/>
    <p:sldId id="326" r:id="rId28"/>
    <p:sldId id="327" r:id="rId29"/>
    <p:sldId id="328" r:id="rId30"/>
    <p:sldId id="329" r:id="rId31"/>
    <p:sldId id="276" r:id="rId32"/>
    <p:sldId id="330" r:id="rId33"/>
    <p:sldId id="331" r:id="rId34"/>
    <p:sldId id="313" r:id="rId35"/>
    <p:sldId id="314" r:id="rId36"/>
    <p:sldId id="315"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6" r:id="rId71"/>
    <p:sldId id="317" r:id="rId72"/>
    <p:sldId id="318" r:id="rId73"/>
    <p:sldId id="319" r:id="rId74"/>
  </p:sldIdLst>
  <p:sldSz cx="9144000" cy="6858000" type="screen4x3"/>
  <p:notesSz cx="6888163" cy="100187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je1F0FZpsJkAQlR2LKU6xCiOXL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3AEAC8-0E0F-4518-AC34-8777B32E1071}">
  <a:tblStyle styleId="{743AEAC8-0E0F-4518-AC34-8777B32E1071}"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28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84871" cy="502676"/>
          </a:xfrm>
          <a:prstGeom prst="rect">
            <a:avLst/>
          </a:prstGeom>
          <a:noFill/>
          <a:ln>
            <a:noFill/>
          </a:ln>
        </p:spPr>
        <p:txBody>
          <a:bodyPr spcFirstLastPara="1" wrap="square" lIns="96600" tIns="48300" rIns="96600" bIns="483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01698" y="0"/>
            <a:ext cx="2984871" cy="502676"/>
          </a:xfrm>
          <a:prstGeom prst="rect">
            <a:avLst/>
          </a:prstGeom>
          <a:noFill/>
          <a:ln>
            <a:noFill/>
          </a:ln>
        </p:spPr>
        <p:txBody>
          <a:bodyPr spcFirstLastPara="1" wrap="square" lIns="96600" tIns="48300" rIns="96600" bIns="483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516039"/>
            <a:ext cx="2984871" cy="502674"/>
          </a:xfrm>
          <a:prstGeom prst="rect">
            <a:avLst/>
          </a:prstGeom>
          <a:noFill/>
          <a:ln>
            <a:noFill/>
          </a:ln>
        </p:spPr>
        <p:txBody>
          <a:bodyPr spcFirstLastPara="1" wrap="square" lIns="96600" tIns="48300" rIns="96600" bIns="483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0426079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p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64" name="Google Shape;64;p1:notes"/>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extLst>
      <p:ext uri="{BB962C8B-B14F-4D97-AF65-F5344CB8AC3E}">
        <p14:creationId xmlns:p14="http://schemas.microsoft.com/office/powerpoint/2010/main" val="1657115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78" name="Google Shape;78;p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9311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91" name="Google Shape;91;p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5033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97" name="Google Shape;97;p5: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8966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8369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7976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1035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8963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8: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8: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4665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1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5820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6332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96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1102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2793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5: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5018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3088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0518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9758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0: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2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3201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1438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7: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340" name="Google Shape;340;p3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2378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3: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2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6323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2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983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38cd95dfb_1_0:notes"/>
          <p:cNvSpPr txBox="1">
            <a:spLocks noGrp="1"/>
          </p:cNvSpPr>
          <p:nvPr>
            <p:ph type="body" idx="1"/>
          </p:nvPr>
        </p:nvSpPr>
        <p:spPr>
          <a:xfrm>
            <a:off x="688817" y="4821506"/>
            <a:ext cx="5510400" cy="3945000"/>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f38cd95dfb_1_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6760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6: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2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369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7: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2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3097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8: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1671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2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9994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3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7110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3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11375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3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4434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3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4151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5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5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7150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60: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6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585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3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34508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5: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35: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5271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6: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3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75587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7: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3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55542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38: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0149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p3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41648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0: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4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77199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4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94634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4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4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48361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3: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4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9667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6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78" name="Google Shape;378;p6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8998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62: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6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68729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6: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4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42749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7: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47: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9690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8: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48: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94038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63: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6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64918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6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6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99297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65: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422" name="Google Shape;422;p65: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28872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66: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428" name="Google Shape;428;p66: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98799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9: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49: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87165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4: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322" name="Google Shape;322;p3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0919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0: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357" name="Google Shape;357;p40: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80818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1: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363" name="Google Shape;363;p4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65660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2: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369" name="Google Shape;369;p42: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8726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5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52"/>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2"/>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4" name="Google Shape;24;p52"/>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52"/>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6" name="Google Shape;26;p52"/>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5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5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5"/>
        <p:cNvGrpSpPr/>
        <p:nvPr/>
      </p:nvGrpSpPr>
      <p:grpSpPr>
        <a:xfrm>
          <a:off x="0" y="0"/>
          <a:ext cx="0" cy="0"/>
          <a:chOff x="0" y="0"/>
          <a:chExt cx="0" cy="0"/>
        </a:xfrm>
      </p:grpSpPr>
      <p:sp>
        <p:nvSpPr>
          <p:cNvPr id="36" name="Google Shape;36;p5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4"/>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8" name="Google Shape;38;p5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5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2"/>
        <p:cNvGrpSpPr/>
        <p:nvPr/>
      </p:nvGrpSpPr>
      <p:grpSpPr>
        <a:xfrm>
          <a:off x="0" y="0"/>
          <a:ext cx="0" cy="0"/>
          <a:chOff x="0" y="0"/>
          <a:chExt cx="0" cy="0"/>
        </a:xfrm>
      </p:grpSpPr>
      <p:sp>
        <p:nvSpPr>
          <p:cNvPr id="43" name="Google Shape;43;p5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55"/>
          <p:cNvSpPr>
            <a:spLocks noGrp="1"/>
          </p:cNvSpPr>
          <p:nvPr>
            <p:ph type="pic" idx="2"/>
          </p:nvPr>
        </p:nvSpPr>
        <p:spPr>
          <a:xfrm>
            <a:off x="3887391" y="987426"/>
            <a:ext cx="4629150" cy="4873625"/>
          </a:xfrm>
          <a:prstGeom prst="rect">
            <a:avLst/>
          </a:prstGeom>
          <a:noFill/>
          <a:ln>
            <a:noFill/>
          </a:ln>
        </p:spPr>
      </p:sp>
      <p:sp>
        <p:nvSpPr>
          <p:cNvPr id="45" name="Google Shape;45;p55"/>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 name="Google Shape;46;p5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9"/>
        <p:cNvGrpSpPr/>
        <p:nvPr/>
      </p:nvGrpSpPr>
      <p:grpSpPr>
        <a:xfrm>
          <a:off x="0" y="0"/>
          <a:ext cx="0" cy="0"/>
          <a:chOff x="0" y="0"/>
          <a:chExt cx="0" cy="0"/>
        </a:xfrm>
      </p:grpSpPr>
      <p:sp>
        <p:nvSpPr>
          <p:cNvPr id="50" name="Google Shape;50;p5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6"/>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5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57"/>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7"/>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9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9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009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29.jp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67" name="Google Shape;67;p1"/>
          <p:cNvPicPr preferRelativeResize="0">
            <a:picLocks noGrp="1"/>
          </p:cNvPicPr>
          <p:nvPr>
            <p:ph type="body" idx="1"/>
          </p:nvPr>
        </p:nvPicPr>
        <p:blipFill rotWithShape="1">
          <a:blip r:embed="rId3">
            <a:alphaModFix/>
          </a:blip>
          <a:srcRect/>
          <a:stretch/>
        </p:blipFill>
        <p:spPr>
          <a:xfrm>
            <a:off x="0" y="17406"/>
            <a:ext cx="9144000" cy="6858000"/>
          </a:xfrm>
          <a:prstGeom prst="rect">
            <a:avLst/>
          </a:prstGeom>
          <a:noFill/>
          <a:ln>
            <a:noFill/>
          </a:ln>
        </p:spPr>
      </p:pic>
      <p:pic>
        <p:nvPicPr>
          <p:cNvPr id="68" name="Google Shape;68;p1"/>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69" name="Google Shape;69;p1"/>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70" name="Google Shape;70;p1"/>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1" name="Google Shape;71;p1"/>
          <p:cNvSpPr txBox="1"/>
          <p:nvPr/>
        </p:nvSpPr>
        <p:spPr>
          <a:xfrm>
            <a:off x="450376" y="1460311"/>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2" name="Google Shape;72;p1"/>
          <p:cNvSpPr/>
          <p:nvPr/>
        </p:nvSpPr>
        <p:spPr>
          <a:xfrm>
            <a:off x="4250437" y="3244334"/>
            <a:ext cx="643125"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73" name="Google Shape;73;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74" name="Google Shape;74;p1"/>
          <p:cNvSpPr txBox="1"/>
          <p:nvPr/>
        </p:nvSpPr>
        <p:spPr>
          <a:xfrm>
            <a:off x="628650" y="1320476"/>
            <a:ext cx="7648500" cy="2247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Second Year Engineering</a:t>
            </a:r>
            <a:endParaRPr sz="28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CC00CC"/>
                </a:solidFill>
                <a:latin typeface="Times New Roman"/>
                <a:ea typeface="Times New Roman"/>
                <a:cs typeface="Times New Roman"/>
                <a:sym typeface="Times New Roman"/>
              </a:rPr>
              <a:t>Database Management System</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a:t>(23CSE2022)</a:t>
            </a:r>
            <a:r>
              <a:rPr lang="en-US" sz="2800" b="0" i="0" u="none" strike="noStrike" cap="none">
                <a:solidFill>
                  <a:srgbClr val="000000"/>
                </a:solidFill>
                <a:latin typeface="Arial"/>
                <a:ea typeface="Arial"/>
                <a:cs typeface="Arial"/>
                <a:sym typeface="Arial"/>
              </a:rPr>
              <a:t/>
            </a:r>
            <a:br>
              <a:rPr lang="en-US" sz="2800" b="0" i="0" u="none" strike="noStrike" cap="none">
                <a:solidFill>
                  <a:srgbClr val="000000"/>
                </a:solidFill>
                <a:latin typeface="Arial"/>
                <a:ea typeface="Arial"/>
                <a:cs typeface="Arial"/>
                <a:sym typeface="Arial"/>
              </a:rPr>
            </a:br>
            <a:r>
              <a:rPr lang="en-US" sz="2800" b="1" i="0" u="none" strike="noStrike" cap="none">
                <a:solidFill>
                  <a:srgbClr val="FF0000"/>
                </a:solidFill>
                <a:latin typeface="Times New Roman"/>
                <a:ea typeface="Times New Roman"/>
                <a:cs typeface="Times New Roman"/>
                <a:sym typeface="Times New Roman"/>
              </a:rPr>
              <a:t>Class - S.Y. </a:t>
            </a:r>
            <a:endParaRPr sz="2800" b="1" i="0" u="none" strike="noStrike" cap="none">
              <a:solidFill>
                <a:srgbClr val="FF0000"/>
              </a:solidFill>
              <a:latin typeface="Times New Roman"/>
              <a:ea typeface="Times New Roman"/>
              <a:cs typeface="Times New Roman"/>
              <a:sym typeface="Times New Roman"/>
            </a:endParaRPr>
          </a:p>
        </p:txBody>
      </p:sp>
      <p:sp>
        <p:nvSpPr>
          <p:cNvPr id="75" name="Google Shape;75;p1"/>
          <p:cNvSpPr txBox="1"/>
          <p:nvPr/>
        </p:nvSpPr>
        <p:spPr>
          <a:xfrm>
            <a:off x="2128800" y="4616127"/>
            <a:ext cx="4648200" cy="1385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rgbClr val="CC00CC"/>
                </a:solidFill>
                <a:latin typeface="Times New Roman"/>
                <a:ea typeface="Times New Roman"/>
                <a:cs typeface="Times New Roman"/>
                <a:sym typeface="Times New Roman"/>
              </a:rPr>
              <a:t>AY 2026-2027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CC00CC"/>
                </a:solidFill>
                <a:latin typeface="Times New Roman"/>
                <a:ea typeface="Times New Roman"/>
                <a:cs typeface="Times New Roman"/>
                <a:sym typeface="Times New Roman"/>
              </a:rPr>
              <a:t>SEM-I</a:t>
            </a:r>
            <a:endParaRPr sz="2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81" name="Google Shape;81;p2"/>
          <p:cNvPicPr preferRelativeResize="0">
            <a:picLocks noGrp="1"/>
          </p:cNvPicPr>
          <p:nvPr>
            <p:ph type="body" idx="1"/>
          </p:nvPr>
        </p:nvPicPr>
        <p:blipFill rotWithShape="1">
          <a:blip r:embed="rId3">
            <a:alphaModFix/>
          </a:blip>
          <a:srcRect/>
          <a:stretch/>
        </p:blipFill>
        <p:spPr>
          <a:xfrm>
            <a:off x="0" y="0"/>
            <a:ext cx="9144000" cy="6858000"/>
          </a:xfrm>
          <a:prstGeom prst="rect">
            <a:avLst/>
          </a:prstGeom>
          <a:noFill/>
          <a:ln>
            <a:noFill/>
          </a:ln>
        </p:spPr>
      </p:pic>
      <p:pic>
        <p:nvPicPr>
          <p:cNvPr id="82" name="Google Shape;82;p2"/>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83" name="Google Shape;83;p2"/>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p:txBody>
      </p:sp>
      <p:sp>
        <p:nvSpPr>
          <p:cNvPr id="84" name="Google Shape;84;p2"/>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85;p2"/>
          <p:cNvSpPr txBox="1"/>
          <p:nvPr/>
        </p:nvSpPr>
        <p:spPr>
          <a:xfrm>
            <a:off x="450376" y="1501254"/>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86;p2"/>
          <p:cNvSpPr/>
          <p:nvPr/>
        </p:nvSpPr>
        <p:spPr>
          <a:xfrm>
            <a:off x="4250437" y="3244334"/>
            <a:ext cx="643125"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87" name="Google Shape;87;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graphicFrame>
        <p:nvGraphicFramePr>
          <p:cNvPr id="88" name="Google Shape;88;p2"/>
          <p:cNvGraphicFramePr/>
          <p:nvPr/>
        </p:nvGraphicFramePr>
        <p:xfrm>
          <a:off x="674429" y="2326252"/>
          <a:ext cx="7650800" cy="2129584"/>
        </p:xfrm>
        <a:graphic>
          <a:graphicData uri="http://schemas.openxmlformats.org/drawingml/2006/table">
            <a:tbl>
              <a:tblPr bandRow="1">
                <a:noFill/>
                <a:tableStyleId>{743AEAC8-0E0F-4518-AC34-8777B32E1071}</a:tableStyleId>
              </a:tblPr>
              <a:tblGrid>
                <a:gridCol w="1383225"/>
                <a:gridCol w="1282050"/>
                <a:gridCol w="4985525"/>
              </a:tblGrid>
              <a:tr h="530400">
                <a:tc gridSpan="3">
                  <a:txBody>
                    <a:bodyPr/>
                    <a:lstStyle/>
                    <a:p>
                      <a:pPr marL="0" marR="0" lvl="0" indent="0" algn="ctr" rtl="0">
                        <a:lnSpc>
                          <a:spcPct val="115000"/>
                        </a:lnSpc>
                        <a:spcBef>
                          <a:spcPts val="0"/>
                        </a:spcBef>
                        <a:spcAft>
                          <a:spcPts val="0"/>
                        </a:spcAft>
                        <a:buClr>
                          <a:srgbClr val="000000"/>
                        </a:buClr>
                        <a:buSzPts val="1800"/>
                        <a:buFont typeface="Arial"/>
                        <a:buNone/>
                      </a:pPr>
                      <a:r>
                        <a:rPr lang="en-US" sz="1800" b="1" u="none" strike="noStrike" cap="none"/>
                        <a:t>Database Management  System </a:t>
                      </a:r>
                      <a:endParaRPr sz="1600" b="1"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r>
              <a:tr h="393175">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t>Teaching Scheme </a:t>
                      </a:r>
                      <a:endParaRPr sz="1400" b="1"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800"/>
                        <a:buFont typeface="Arial"/>
                        <a:buNone/>
                      </a:pPr>
                      <a:r>
                        <a:rPr lang="en-US" sz="1800" b="1" u="none" strike="noStrike" cap="none"/>
                        <a:t>Credit Scheme</a:t>
                      </a:r>
                      <a:endParaRPr sz="1600" b="1"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800"/>
                        <a:buFont typeface="Arial"/>
                        <a:buNone/>
                      </a:pPr>
                      <a:r>
                        <a:rPr lang="en-US" sz="1800" b="1" u="none" strike="noStrike" cap="none"/>
                        <a:t>Examination Scheme and Marks</a:t>
                      </a:r>
                      <a:endParaRPr sz="1600" b="1"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22050">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t>Lecture: 03 Hours/Week</a:t>
                      </a:r>
                      <a:endParaRPr sz="1400" b="1" u="none" strike="noStrike" cap="none"/>
                    </a:p>
                    <a:p>
                      <a:pPr marL="0" marR="0" lvl="0" indent="0" algn="l" rtl="0">
                        <a:lnSpc>
                          <a:spcPct val="115000"/>
                        </a:lnSpc>
                        <a:spcBef>
                          <a:spcPts val="1000"/>
                        </a:spcBef>
                        <a:spcAft>
                          <a:spcPts val="0"/>
                        </a:spcAft>
                        <a:buClr>
                          <a:srgbClr val="000000"/>
                        </a:buClr>
                        <a:buSzPts val="1600"/>
                        <a:buFont typeface="Arial"/>
                        <a:buNone/>
                      </a:pPr>
                      <a:r>
                        <a:rPr lang="en-US" sz="1600" b="1" u="none" strike="noStrike" cap="none"/>
                        <a:t> </a:t>
                      </a:r>
                      <a:endParaRPr sz="1400" b="1"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800"/>
                        <a:buFont typeface="Arial"/>
                        <a:buNone/>
                      </a:pPr>
                      <a:r>
                        <a:rPr lang="en-US" sz="1800" u="none" strike="noStrike" cap="none"/>
                        <a:t>03</a:t>
                      </a:r>
                      <a:endParaRPr sz="1600"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800" u="none" strike="noStrike" cap="none"/>
                        <a:t>Continues Assessment (TH):  50 Marks       </a:t>
                      </a:r>
                      <a:endParaRPr sz="1600" u="none" strike="noStrike" cap="none"/>
                    </a:p>
                    <a:p>
                      <a:pPr marL="0" marR="0" lvl="0" indent="0" algn="l" rtl="0">
                        <a:lnSpc>
                          <a:spcPct val="115000"/>
                        </a:lnSpc>
                        <a:spcBef>
                          <a:spcPts val="1000"/>
                        </a:spcBef>
                        <a:spcAft>
                          <a:spcPts val="0"/>
                        </a:spcAft>
                        <a:buClr>
                          <a:srgbClr val="000000"/>
                        </a:buClr>
                        <a:buSzPts val="1800"/>
                        <a:buFont typeface="Arial"/>
                        <a:buNone/>
                      </a:pPr>
                      <a:r>
                        <a:rPr lang="en-US" sz="1800" u="none" strike="noStrike" cap="none"/>
                        <a:t>End_Semester_Examination (TH):  50 Marks</a:t>
                      </a:r>
                      <a:endParaRPr sz="1600" u="none" strike="noStrike" cap="none">
                        <a:latin typeface="Calibri"/>
                        <a:ea typeface="Calibri"/>
                        <a:cs typeface="Calibri"/>
                        <a:sym typeface="Calibri"/>
                      </a:endParaRPr>
                    </a:p>
                  </a:txBody>
                  <a:tcPr marL="2730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94" name="Google Shape;94;p4"/>
          <p:cNvSpPr txBox="1"/>
          <p:nvPr/>
        </p:nvSpPr>
        <p:spPr>
          <a:xfrm>
            <a:off x="772998" y="2109916"/>
            <a:ext cx="7550870" cy="13849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Unit – I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Introduction to Database Management Systems</a:t>
            </a:r>
            <a:endParaRPr sz="4000" b="1" i="0" u="none" strike="noStrike" cap="none">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100" name="Google Shape;100;p5"/>
          <p:cNvPicPr preferRelativeResize="0">
            <a:picLocks noGrp="1"/>
          </p:cNvPicPr>
          <p:nvPr>
            <p:ph type="body" idx="1"/>
          </p:nvPr>
        </p:nvPicPr>
        <p:blipFill rotWithShape="1">
          <a:blip r:embed="rId3">
            <a:alphaModFix/>
          </a:blip>
          <a:srcRect/>
          <a:stretch/>
        </p:blipFill>
        <p:spPr>
          <a:xfrm>
            <a:off x="0" y="0"/>
            <a:ext cx="9144000" cy="6858000"/>
          </a:xfrm>
          <a:prstGeom prst="rect">
            <a:avLst/>
          </a:prstGeom>
          <a:noFill/>
          <a:ln>
            <a:noFill/>
          </a:ln>
        </p:spPr>
      </p:pic>
      <p:pic>
        <p:nvPicPr>
          <p:cNvPr id="101" name="Google Shape;101;p5"/>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102" name="Google Shape;102;p5"/>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p:txBody>
      </p:sp>
      <p:sp>
        <p:nvSpPr>
          <p:cNvPr id="103" name="Google Shape;103;p5"/>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4" name="Google Shape;104;p5"/>
          <p:cNvSpPr txBox="1"/>
          <p:nvPr/>
        </p:nvSpPr>
        <p:spPr>
          <a:xfrm>
            <a:off x="450376" y="1501254"/>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5" name="Google Shape;105;p5"/>
          <p:cNvSpPr/>
          <p:nvPr/>
        </p:nvSpPr>
        <p:spPr>
          <a:xfrm>
            <a:off x="4250437" y="3244334"/>
            <a:ext cx="643125"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106" name="Google Shape;106;p5"/>
          <p:cNvSpPr txBox="1"/>
          <p:nvPr/>
        </p:nvSpPr>
        <p:spPr>
          <a:xfrm>
            <a:off x="-78742" y="1383654"/>
            <a:ext cx="8338800" cy="47928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80000"/>
              </a:lnSpc>
              <a:spcBef>
                <a:spcPts val="0"/>
              </a:spcBef>
              <a:spcAft>
                <a:spcPts val="0"/>
              </a:spcAft>
              <a:buClr>
                <a:srgbClr val="000000"/>
              </a:buClr>
              <a:buSzPts val="3459"/>
              <a:buFont typeface="Arial"/>
              <a:buNone/>
            </a:pPr>
            <a:r>
              <a:rPr lang="en-US" sz="3200" b="1" i="0" u="none" strike="noStrike" cap="none">
                <a:solidFill>
                  <a:srgbClr val="C00000"/>
                </a:solidFill>
                <a:latin typeface="Times New Roman"/>
                <a:ea typeface="Times New Roman"/>
                <a:cs typeface="Times New Roman"/>
                <a:sym typeface="Times New Roman"/>
              </a:rPr>
              <a:t> 	Syllabus</a:t>
            </a:r>
            <a:endParaRPr sz="3200" b="1" i="0" u="none" strike="noStrike" cap="none">
              <a:solidFill>
                <a:srgbClr val="C00000"/>
              </a:solidFill>
              <a:latin typeface="Times New Roman"/>
              <a:ea typeface="Times New Roman"/>
              <a:cs typeface="Times New Roman"/>
              <a:sym typeface="Times New Roman"/>
            </a:endParaRPr>
          </a:p>
          <a:p>
            <a:pPr marL="228600" marR="0" lvl="0" indent="-228600" algn="l" rtl="0">
              <a:lnSpc>
                <a:spcPct val="80000"/>
              </a:lnSpc>
              <a:spcBef>
                <a:spcPts val="0"/>
              </a:spcBef>
              <a:spcAft>
                <a:spcPts val="0"/>
              </a:spcAft>
              <a:buClr>
                <a:srgbClr val="000000"/>
              </a:buClr>
              <a:buSzPts val="3459"/>
              <a:buFont typeface="Arial"/>
              <a:buNone/>
            </a:pPr>
            <a:r>
              <a:rPr lang="en-US" sz="3200" b="1" i="0" u="none" strike="noStrike" cap="none">
                <a:solidFill>
                  <a:srgbClr val="C00000"/>
                </a:solidFill>
                <a:latin typeface="Times New Roman"/>
                <a:ea typeface="Times New Roman"/>
                <a:cs typeface="Times New Roman"/>
                <a:sym typeface="Times New Roman"/>
              </a:rPr>
              <a:t>			</a:t>
            </a:r>
            <a:endParaRPr sz="3200" b="1" i="0" u="none" strike="noStrike" cap="none">
              <a:solidFill>
                <a:srgbClr val="C00000"/>
              </a:solidFill>
              <a:latin typeface="Times New Roman"/>
              <a:ea typeface="Times New Roman"/>
              <a:cs typeface="Times New Roman"/>
              <a:sym typeface="Times New Roman"/>
            </a:endParaRPr>
          </a:p>
          <a:p>
            <a:pPr marL="639763" marR="0" lvl="1" indent="-273047" algn="just" rtl="0">
              <a:lnSpc>
                <a:spcPct val="12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Database system, purpose of database system, </a:t>
            </a:r>
            <a:endParaRPr sz="2400" b="0" i="0" u="none" strike="noStrike" cap="none">
              <a:solidFill>
                <a:srgbClr val="1E4E79"/>
              </a:solidFill>
              <a:latin typeface="Times New Roman"/>
              <a:ea typeface="Times New Roman"/>
              <a:cs typeface="Times New Roman"/>
              <a:sym typeface="Times New Roman"/>
            </a:endParaRPr>
          </a:p>
          <a:p>
            <a:pPr marL="639763" marR="0" lvl="1" indent="-273047" algn="just" rtl="0">
              <a:lnSpc>
                <a:spcPct val="12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view of data, relational databases, database architecture,</a:t>
            </a:r>
            <a:endParaRPr sz="1400" b="0" i="0" u="none" strike="noStrike" cap="none">
              <a:solidFill>
                <a:srgbClr val="000000"/>
              </a:solidFill>
              <a:latin typeface="Arial"/>
              <a:ea typeface="Arial"/>
              <a:cs typeface="Arial"/>
              <a:sym typeface="Arial"/>
            </a:endParaRPr>
          </a:p>
          <a:p>
            <a:pPr marL="639763" marR="0" lvl="1" indent="-273047" algn="just" rtl="0">
              <a:lnSpc>
                <a:spcPct val="12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 Database Concepts, </a:t>
            </a:r>
            <a:endParaRPr sz="2400" b="0" i="0" u="none" strike="noStrike" cap="none">
              <a:solidFill>
                <a:srgbClr val="1E4E79"/>
              </a:solidFill>
              <a:latin typeface="Times New Roman"/>
              <a:ea typeface="Times New Roman"/>
              <a:cs typeface="Times New Roman"/>
              <a:sym typeface="Times New Roman"/>
            </a:endParaRPr>
          </a:p>
          <a:p>
            <a:pPr marL="639763" marR="0" lvl="1" indent="-273047" algn="just" rtl="0">
              <a:lnSpc>
                <a:spcPct val="12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Three-schema architecture of a database, Data Models,</a:t>
            </a:r>
            <a:endParaRPr sz="1400" b="0" i="0" u="none" strike="noStrike" cap="none">
              <a:solidFill>
                <a:srgbClr val="000000"/>
              </a:solidFill>
              <a:latin typeface="Arial"/>
              <a:ea typeface="Arial"/>
              <a:cs typeface="Arial"/>
              <a:sym typeface="Arial"/>
            </a:endParaRPr>
          </a:p>
          <a:p>
            <a:pPr marL="639763" marR="0" lvl="1" indent="-273047" algn="just" rtl="0">
              <a:lnSpc>
                <a:spcPct val="12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 ER model, Relational Model, ER to Table Conversion  </a:t>
            </a:r>
            <a:endParaRPr sz="2400" b="0" i="0" u="none" strike="noStrike" cap="none">
              <a:solidFill>
                <a:srgbClr val="1E4E79"/>
              </a:solidFill>
              <a:latin typeface="Times New Roman"/>
              <a:ea typeface="Times New Roman"/>
              <a:cs typeface="Times New Roman"/>
              <a:sym typeface="Times New Roman"/>
            </a:endParaRPr>
          </a:p>
        </p:txBody>
      </p:sp>
      <p:sp>
        <p:nvSpPr>
          <p:cNvPr id="107" name="Google Shape;10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113" name="Google Shape;113;p6"/>
          <p:cNvPicPr preferRelativeResize="0">
            <a:picLocks noGrp="1"/>
          </p:cNvPicPr>
          <p:nvPr>
            <p:ph type="body" idx="1"/>
          </p:nvPr>
        </p:nvPicPr>
        <p:blipFill rotWithShape="1">
          <a:blip r:embed="rId3">
            <a:alphaModFix/>
          </a:blip>
          <a:srcRect/>
          <a:stretch/>
        </p:blipFill>
        <p:spPr>
          <a:xfrm>
            <a:off x="0" y="0"/>
            <a:ext cx="9144000" cy="6858000"/>
          </a:xfrm>
          <a:prstGeom prst="rect">
            <a:avLst/>
          </a:prstGeom>
          <a:noFill/>
          <a:ln>
            <a:noFill/>
          </a:ln>
        </p:spPr>
      </p:pic>
      <p:pic>
        <p:nvPicPr>
          <p:cNvPr id="114" name="Google Shape;114;p6"/>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115" name="Google Shape;115;p6"/>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p:txBody>
      </p:sp>
      <p:sp>
        <p:nvSpPr>
          <p:cNvPr id="116" name="Google Shape;116;p6"/>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7" name="Google Shape;117;p6"/>
          <p:cNvSpPr txBox="1"/>
          <p:nvPr/>
        </p:nvSpPr>
        <p:spPr>
          <a:xfrm>
            <a:off x="450376" y="1501254"/>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8" name="Google Shape;118;p6"/>
          <p:cNvSpPr/>
          <p:nvPr/>
        </p:nvSpPr>
        <p:spPr>
          <a:xfrm>
            <a:off x="4250437" y="3244334"/>
            <a:ext cx="643125"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119" name="Google Shape;119;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20" name="Google Shape;120;p6"/>
          <p:cNvSpPr txBox="1"/>
          <p:nvPr/>
        </p:nvSpPr>
        <p:spPr>
          <a:xfrm>
            <a:off x="354842" y="1105287"/>
            <a:ext cx="8338800" cy="501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C00000"/>
                </a:solidFill>
                <a:latin typeface="Times New Roman"/>
                <a:ea typeface="Times New Roman"/>
                <a:cs typeface="Times New Roman"/>
                <a:sym typeface="Times New Roman"/>
              </a:rPr>
              <a:t>Introduction</a:t>
            </a:r>
            <a:r>
              <a:rPr lang="en-US" sz="3200" b="0" i="0" u="none" strike="noStrike" cap="none">
                <a:solidFill>
                  <a:srgbClr val="1E4E79"/>
                </a:solidFill>
                <a:latin typeface="Times New Roman"/>
                <a:ea typeface="Times New Roman"/>
                <a:cs typeface="Times New Roman"/>
                <a:sym typeface="Times New Roman"/>
              </a:rPr>
              <a:t> </a:t>
            </a:r>
            <a:r>
              <a:rPr lang="en-US" sz="3200" b="1" i="0" u="none" strike="noStrike" cap="none">
                <a:solidFill>
                  <a:srgbClr val="C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Database</a:t>
            </a:r>
            <a:r>
              <a:rPr lang="en-US" sz="2400" b="0" i="0" u="none" strike="noStrike" cap="none">
                <a:solidFill>
                  <a:srgbClr val="1E4E79"/>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639763" marR="0" lvl="1" indent="-273050"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A collection of related data that is stored in a central location or in multiple locations </a:t>
            </a:r>
            <a:endParaRPr sz="2400" b="0" i="0" u="none" strike="noStrike" cap="none">
              <a:solidFill>
                <a:srgbClr val="1E4E79"/>
              </a:solidFill>
              <a:latin typeface="Times New Roman"/>
              <a:ea typeface="Times New Roman"/>
              <a:cs typeface="Times New Roman"/>
              <a:sym typeface="Times New Roman"/>
            </a:endParaRPr>
          </a:p>
          <a:p>
            <a:pPr marL="639763" marR="0" lvl="1" indent="-273050"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A database is a structured collection of data.</a:t>
            </a:r>
            <a:endParaRPr sz="2400">
              <a:solidFill>
                <a:srgbClr val="1E4E79"/>
              </a:solidFill>
              <a:latin typeface="Times New Roman"/>
              <a:ea typeface="Times New Roman"/>
              <a:cs typeface="Times New Roman"/>
              <a:sym typeface="Times New Roman"/>
            </a:endParaRPr>
          </a:p>
          <a:p>
            <a:pPr marL="366713" marR="0" lvl="1" indent="0" algn="just" rtl="0">
              <a:lnSpc>
                <a:spcPct val="100000"/>
              </a:lnSpc>
              <a:spcBef>
                <a:spcPts val="0"/>
              </a:spcBef>
              <a:spcAft>
                <a:spcPts val="0"/>
              </a:spcAft>
              <a:buClr>
                <a:srgbClr val="000000"/>
              </a:buClr>
              <a:buSzPts val="2400"/>
              <a:buFont typeface="Arial"/>
              <a:buNone/>
            </a:pPr>
            <a:endParaRPr sz="2400">
              <a:solidFill>
                <a:srgbClr val="1E4E7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Data hierarchy</a:t>
            </a:r>
            <a:r>
              <a:rPr lang="en-US" sz="2400" b="0" i="0" u="none" strike="noStrike" cap="none">
                <a:solidFill>
                  <a:srgbClr val="1E4E79"/>
                </a:solidFill>
                <a:latin typeface="Times New Roman"/>
                <a:ea typeface="Times New Roman"/>
                <a:cs typeface="Times New Roman"/>
                <a:sym typeface="Times New Roman"/>
              </a:rPr>
              <a:t>: Structure and organization of data involving fields, records, and files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rgbClr val="1E4E7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Database Management System (DBMS) </a:t>
            </a:r>
            <a:endParaRPr sz="1400" b="0" i="0" u="none" strike="noStrike" cap="none">
              <a:solidFill>
                <a:srgbClr val="000000"/>
              </a:solidFill>
              <a:latin typeface="Arial"/>
              <a:ea typeface="Arial"/>
              <a:cs typeface="Arial"/>
              <a:sym typeface="Arial"/>
            </a:endParaRPr>
          </a:p>
          <a:p>
            <a:pPr marL="639763" marR="0" lvl="1" indent="-273050"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Software for creating, storing, maintaining, and accessing database files </a:t>
            </a:r>
            <a:endParaRPr sz="1400" b="0" i="0" u="none" strike="noStrike" cap="none">
              <a:solidFill>
                <a:srgbClr val="000000"/>
              </a:solidFill>
              <a:latin typeface="Arial"/>
              <a:ea typeface="Arial"/>
              <a:cs typeface="Arial"/>
              <a:sym typeface="Arial"/>
            </a:endParaRPr>
          </a:p>
          <a:p>
            <a:pPr marL="639763" marR="0" lvl="1" indent="-273050"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Times New Roman"/>
                <a:ea typeface="Times New Roman"/>
                <a:cs typeface="Times New Roman"/>
                <a:sym typeface="Times New Roman"/>
              </a:rPr>
              <a:t>Makes using databases more efficient</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320537" y="662781"/>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Database Applications Examples</a:t>
            </a:r>
            <a:endParaRPr/>
          </a:p>
        </p:txBody>
      </p:sp>
      <p:sp>
        <p:nvSpPr>
          <p:cNvPr id="126" name="Google Shape;126;p7"/>
          <p:cNvSpPr txBox="1">
            <a:spLocks noGrp="1"/>
          </p:cNvSpPr>
          <p:nvPr>
            <p:ph type="body" idx="1"/>
          </p:nvPr>
        </p:nvSpPr>
        <p:spPr>
          <a:xfrm>
            <a:off x="628650" y="1508126"/>
            <a:ext cx="8445776" cy="5030787"/>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Enterprise Information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 Sales: customers, products, purchases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 Accounting: payments, receipts, assets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 Human Resources: Information about employees,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salaries, payroll taxes.</a:t>
            </a:r>
            <a:endParaRPr/>
          </a:p>
          <a:p>
            <a:pPr marL="457200" lvl="0" indent="-342900" algn="l" rtl="0">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 Manufacturing: management of production, inventory, orders, supply chain. </a:t>
            </a:r>
            <a:endParaRPr sz="2400">
              <a:latin typeface="Times New Roman"/>
              <a:ea typeface="Times New Roman"/>
              <a:cs typeface="Times New Roman"/>
              <a:sym typeface="Times New Roman"/>
            </a:endParaRPr>
          </a:p>
          <a:p>
            <a:pPr marL="457200" lvl="0" indent="-342900" algn="l" rtl="0">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Banking and finance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 customer information, accounts, loans, and banking</a:t>
            </a:r>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transactions.</a:t>
            </a:r>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 Credit card transactions </a:t>
            </a:r>
            <a:endParaRPr sz="2400">
              <a:latin typeface="Times New Roman"/>
              <a:ea typeface="Times New Roman"/>
              <a:cs typeface="Times New Roman"/>
              <a:sym typeface="Times New Roman"/>
            </a:endParaRPr>
          </a:p>
        </p:txBody>
      </p:sp>
      <p:sp>
        <p:nvSpPr>
          <p:cNvPr id="127" name="Google Shape;127;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49137" y="643422"/>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Database Applications Examples</a:t>
            </a:r>
            <a:endParaRPr/>
          </a:p>
        </p:txBody>
      </p:sp>
      <p:sp>
        <p:nvSpPr>
          <p:cNvPr id="133" name="Google Shape;133;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SzPts val="1800"/>
              <a:buFont typeface="Noto Sans Symbols"/>
              <a:buChar char="❑"/>
            </a:pPr>
            <a:r>
              <a:rPr lang="en-US" sz="2400" dirty="0">
                <a:latin typeface="Times New Roman"/>
                <a:ea typeface="Times New Roman"/>
                <a:cs typeface="Times New Roman"/>
                <a:sym typeface="Times New Roman"/>
              </a:rPr>
              <a:t>Universities: registration, grades</a:t>
            </a:r>
            <a:endParaRPr dirty="0"/>
          </a:p>
          <a:p>
            <a:pPr marL="457200" lvl="0" indent="-342900" algn="l" rtl="0">
              <a:lnSpc>
                <a:spcPct val="90000"/>
              </a:lnSpc>
              <a:spcBef>
                <a:spcPts val="1000"/>
              </a:spcBef>
              <a:spcAft>
                <a:spcPts val="0"/>
              </a:spcAft>
              <a:buSzPts val="1800"/>
              <a:buFont typeface="Noto Sans Symbols"/>
              <a:buChar char="❑"/>
            </a:pPr>
            <a:r>
              <a:rPr lang="en-US" sz="2400" dirty="0">
                <a:latin typeface="Times New Roman"/>
                <a:ea typeface="Times New Roman"/>
                <a:cs typeface="Times New Roman"/>
                <a:sym typeface="Times New Roman"/>
              </a:rPr>
              <a:t> Airlines: reservations, schedules</a:t>
            </a:r>
            <a:endParaRPr dirty="0"/>
          </a:p>
          <a:p>
            <a:pPr marL="457200" lvl="0" indent="-342900" algn="l" rtl="0">
              <a:lnSpc>
                <a:spcPct val="90000"/>
              </a:lnSpc>
              <a:spcBef>
                <a:spcPts val="1000"/>
              </a:spcBef>
              <a:spcAft>
                <a:spcPts val="0"/>
              </a:spcAft>
              <a:buSzPts val="1800"/>
              <a:buFont typeface="Noto Sans Symbols"/>
              <a:buChar char="❑"/>
            </a:pPr>
            <a:r>
              <a:rPr lang="en-US" sz="2400" dirty="0">
                <a:latin typeface="Times New Roman"/>
                <a:ea typeface="Times New Roman"/>
                <a:cs typeface="Times New Roman"/>
                <a:sym typeface="Times New Roman"/>
              </a:rPr>
              <a:t>Telecommunication: records of calls, texts, and data usage, generating monthly bills, maintaining balances on prepaid calling cards </a:t>
            </a:r>
            <a:endParaRPr sz="2400" dirty="0">
              <a:latin typeface="Times New Roman"/>
              <a:ea typeface="Times New Roman"/>
              <a:cs typeface="Times New Roman"/>
              <a:sym typeface="Times New Roman"/>
            </a:endParaRPr>
          </a:p>
          <a:p>
            <a:pPr marL="457200" lvl="0" indent="-228600" algn="l" rtl="0">
              <a:lnSpc>
                <a:spcPct val="90000"/>
              </a:lnSpc>
              <a:spcBef>
                <a:spcPts val="1000"/>
              </a:spcBef>
              <a:spcAft>
                <a:spcPts val="0"/>
              </a:spcAft>
              <a:buSzPts val="1800"/>
              <a:buFont typeface="Noto Sans Symbols"/>
              <a:buNone/>
            </a:pPr>
            <a:endParaRPr sz="2400" dirty="0">
              <a:latin typeface="Times New Roman"/>
              <a:ea typeface="Times New Roman"/>
              <a:cs typeface="Times New Roman"/>
              <a:sym typeface="Times New Roman"/>
            </a:endParaRPr>
          </a:p>
          <a:p>
            <a:pPr marL="457200" lvl="0" indent="-342900" algn="l" rtl="0">
              <a:lnSpc>
                <a:spcPct val="90000"/>
              </a:lnSpc>
              <a:spcBef>
                <a:spcPts val="1000"/>
              </a:spcBef>
              <a:spcAft>
                <a:spcPts val="0"/>
              </a:spcAft>
              <a:buSzPts val="1800"/>
              <a:buFont typeface="Noto Sans Symbols"/>
              <a:buChar char="❑"/>
            </a:pPr>
            <a:r>
              <a:rPr lang="en-US" sz="2400" dirty="0">
                <a:latin typeface="Times New Roman"/>
                <a:ea typeface="Times New Roman"/>
                <a:cs typeface="Times New Roman"/>
                <a:sym typeface="Times New Roman"/>
              </a:rPr>
              <a:t>Web-based services </a:t>
            </a:r>
            <a:endParaRPr sz="2400" dirty="0">
              <a:latin typeface="Times New Roman"/>
              <a:ea typeface="Times New Roman"/>
              <a:cs typeface="Times New Roman"/>
              <a:sym typeface="Times New Roman"/>
            </a:endParaRPr>
          </a:p>
          <a:p>
            <a:pPr marL="571500" lvl="1" indent="0" algn="l" rtl="0">
              <a:lnSpc>
                <a:spcPct val="90000"/>
              </a:lnSpc>
              <a:spcBef>
                <a:spcPts val="500"/>
              </a:spcBef>
              <a:spcAft>
                <a:spcPts val="0"/>
              </a:spcAft>
              <a:buSzPts val="1800"/>
              <a:buNone/>
            </a:pPr>
            <a:r>
              <a:rPr lang="en-US" sz="2000" dirty="0">
                <a:latin typeface="Times New Roman"/>
                <a:ea typeface="Times New Roman"/>
                <a:cs typeface="Times New Roman"/>
                <a:sym typeface="Times New Roman"/>
              </a:rPr>
              <a:t>• Online retailers: order tracking, customized recommendations </a:t>
            </a:r>
            <a:endParaRPr sz="2000" dirty="0">
              <a:latin typeface="Times New Roman"/>
              <a:ea typeface="Times New Roman"/>
              <a:cs typeface="Times New Roman"/>
              <a:sym typeface="Times New Roman"/>
            </a:endParaRPr>
          </a:p>
          <a:p>
            <a:pPr marL="571500" lvl="1" indent="0" algn="l" rtl="0">
              <a:lnSpc>
                <a:spcPct val="90000"/>
              </a:lnSpc>
              <a:spcBef>
                <a:spcPts val="500"/>
              </a:spcBef>
              <a:spcAft>
                <a:spcPts val="0"/>
              </a:spcAft>
              <a:buSzPts val="1800"/>
              <a:buNone/>
            </a:pPr>
            <a:r>
              <a:rPr lang="en-US" sz="2000" dirty="0">
                <a:latin typeface="Times New Roman"/>
                <a:ea typeface="Times New Roman"/>
                <a:cs typeface="Times New Roman"/>
                <a:sym typeface="Times New Roman"/>
              </a:rPr>
              <a:t>• Online advertisements</a:t>
            </a:r>
            <a:endParaRPr sz="2000" dirty="0">
              <a:latin typeface="Times New Roman"/>
              <a:ea typeface="Times New Roman"/>
              <a:cs typeface="Times New Roman"/>
              <a:sym typeface="Times New Roman"/>
            </a:endParaRPr>
          </a:p>
        </p:txBody>
      </p:sp>
      <p:sp>
        <p:nvSpPr>
          <p:cNvPr id="134" name="Google Shape;134;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9"/>
          <p:cNvPicPr preferRelativeResize="0"/>
          <p:nvPr/>
        </p:nvPicPr>
        <p:blipFill rotWithShape="1">
          <a:blip r:embed="rId3">
            <a:alphaModFix/>
          </a:blip>
          <a:srcRect/>
          <a:stretch/>
        </p:blipFill>
        <p:spPr>
          <a:xfrm>
            <a:off x="387283" y="1642765"/>
            <a:ext cx="7927975" cy="4264968"/>
          </a:xfrm>
          <a:prstGeom prst="rect">
            <a:avLst/>
          </a:prstGeom>
          <a:noFill/>
          <a:ln>
            <a:noFill/>
          </a:ln>
        </p:spPr>
      </p:pic>
      <p:sp>
        <p:nvSpPr>
          <p:cNvPr id="140" name="Google Shape;140;p9"/>
          <p:cNvSpPr/>
          <p:nvPr/>
        </p:nvSpPr>
        <p:spPr>
          <a:xfrm>
            <a:off x="424205" y="950267"/>
            <a:ext cx="7391400"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Interaction Between the User, DBMS and Database</a:t>
            </a:r>
            <a:endParaRPr sz="2400" b="1" i="0" u="none" strike="noStrike" cap="none">
              <a:solidFill>
                <a:srgbClr val="FF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8"/>
          <p:cNvSpPr/>
          <p:nvPr/>
        </p:nvSpPr>
        <p:spPr>
          <a:xfrm>
            <a:off x="424205" y="950267"/>
            <a:ext cx="7391400"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Interaction Between the User, DBMS and Database</a:t>
            </a:r>
            <a:endParaRPr sz="2400" b="1" i="0" u="none" strike="noStrike" cap="none">
              <a:solidFill>
                <a:srgbClr val="FF0000"/>
              </a:solidFill>
              <a:latin typeface="Times New Roman"/>
              <a:ea typeface="Times New Roman"/>
              <a:cs typeface="Times New Roman"/>
              <a:sym typeface="Times New Roman"/>
            </a:endParaRPr>
          </a:p>
        </p:txBody>
      </p:sp>
      <p:sp>
        <p:nvSpPr>
          <p:cNvPr id="146" name="Google Shape;146;p58"/>
          <p:cNvSpPr txBox="1">
            <a:spLocks noGrp="1"/>
          </p:cNvSpPr>
          <p:nvPr>
            <p:ph type="body" idx="1"/>
          </p:nvPr>
        </p:nvSpPr>
        <p:spPr>
          <a:xfrm>
            <a:off x="285750" y="1411932"/>
            <a:ext cx="8698230" cy="5057448"/>
          </a:xfrm>
          <a:prstGeom prst="rect">
            <a:avLst/>
          </a:prstGeom>
          <a:noFill/>
          <a:ln>
            <a:noFill/>
          </a:ln>
        </p:spPr>
        <p:txBody>
          <a:bodyPr spcFirstLastPara="1" wrap="square" lIns="91425" tIns="45700" rIns="91425" bIns="45700" anchor="t" anchorCtr="0">
            <a:normAutofit fontScale="85000" lnSpcReduction="20000"/>
          </a:bodyPr>
          <a:lstStyle/>
          <a:p>
            <a:pPr>
              <a:lnSpc>
                <a:spcPct val="110000"/>
              </a:lnSpc>
              <a:buFont typeface="Noto Sans Symbols"/>
              <a:buChar char="❑"/>
            </a:pPr>
            <a:r>
              <a:rPr lang="en-US" sz="2600" dirty="0">
                <a:latin typeface="Times New Roman"/>
                <a:ea typeface="Times New Roman"/>
                <a:cs typeface="Times New Roman"/>
              </a:rPr>
              <a:t>Working of a DBMS (Database Management System)</a:t>
            </a:r>
            <a:endParaRPr sz="2600" dirty="0">
              <a:latin typeface="Times New Roman"/>
              <a:ea typeface="Times New Roman"/>
              <a:cs typeface="Times New Roman"/>
            </a:endParaRPr>
          </a:p>
          <a:p>
            <a:pPr>
              <a:lnSpc>
                <a:spcPct val="110000"/>
              </a:lnSpc>
              <a:buFont typeface="Noto Sans Symbols"/>
              <a:buChar char="❑"/>
            </a:pPr>
            <a:r>
              <a:rPr lang="en-US" sz="2600" dirty="0">
                <a:latin typeface="Times New Roman"/>
                <a:ea typeface="Times New Roman"/>
                <a:cs typeface="Times New Roman"/>
              </a:rPr>
              <a:t>User makes a request</a:t>
            </a:r>
            <a:br>
              <a:rPr lang="en-US" sz="2600" dirty="0">
                <a:latin typeface="Times New Roman"/>
                <a:ea typeface="Times New Roman"/>
                <a:cs typeface="Times New Roman"/>
              </a:rPr>
            </a:br>
            <a:r>
              <a:rPr lang="en-US" sz="2600" dirty="0">
                <a:latin typeface="Times New Roman"/>
                <a:ea typeface="Times New Roman"/>
                <a:cs typeface="Times New Roman"/>
              </a:rPr>
              <a:t>The user asks for information by entering a query or request. </a:t>
            </a:r>
            <a:endParaRPr sz="2600" dirty="0">
              <a:latin typeface="Times New Roman"/>
              <a:ea typeface="Times New Roman"/>
              <a:cs typeface="Times New Roman"/>
            </a:endParaRPr>
          </a:p>
          <a:p>
            <a:pPr>
              <a:lnSpc>
                <a:spcPct val="110000"/>
              </a:lnSpc>
              <a:buFont typeface="Noto Sans Symbols"/>
              <a:buChar char="❑"/>
            </a:pPr>
            <a:r>
              <a:rPr lang="en-US" sz="2600" dirty="0">
                <a:latin typeface="Times New Roman"/>
                <a:ea typeface="Times New Roman"/>
                <a:cs typeface="Times New Roman"/>
              </a:rPr>
              <a:t>Request goes to the DBMS</a:t>
            </a:r>
            <a:br>
              <a:rPr lang="en-US" sz="2600" dirty="0">
                <a:latin typeface="Times New Roman"/>
                <a:ea typeface="Times New Roman"/>
                <a:cs typeface="Times New Roman"/>
              </a:rPr>
            </a:br>
            <a:r>
              <a:rPr lang="en-US" sz="2600" dirty="0">
                <a:latin typeface="Times New Roman"/>
                <a:ea typeface="Times New Roman"/>
                <a:cs typeface="Times New Roman"/>
              </a:rPr>
              <a:t>The DBMS receives the user's request and processes it. </a:t>
            </a:r>
            <a:endParaRPr sz="2600" dirty="0">
              <a:latin typeface="Times New Roman"/>
              <a:ea typeface="Times New Roman"/>
              <a:cs typeface="Times New Roman"/>
            </a:endParaRPr>
          </a:p>
          <a:p>
            <a:pPr>
              <a:lnSpc>
                <a:spcPct val="110000"/>
              </a:lnSpc>
              <a:buFont typeface="Noto Sans Symbols"/>
              <a:buChar char="❑"/>
            </a:pPr>
            <a:r>
              <a:rPr lang="en-US" sz="2600" dirty="0">
                <a:latin typeface="Times New Roman"/>
                <a:ea typeface="Times New Roman"/>
                <a:cs typeface="Times New Roman"/>
              </a:rPr>
              <a:t>DBMS searches the database</a:t>
            </a:r>
            <a:br>
              <a:rPr lang="en-US" sz="2600" dirty="0">
                <a:latin typeface="Times New Roman"/>
                <a:ea typeface="Times New Roman"/>
                <a:cs typeface="Times New Roman"/>
              </a:rPr>
            </a:br>
            <a:r>
              <a:rPr lang="en-US" sz="2600" dirty="0">
                <a:latin typeface="Times New Roman"/>
                <a:ea typeface="Times New Roman"/>
                <a:cs typeface="Times New Roman"/>
              </a:rPr>
              <a:t>The DBMS checks the database to find the required data. </a:t>
            </a:r>
            <a:endParaRPr sz="2600" dirty="0">
              <a:latin typeface="Times New Roman"/>
              <a:ea typeface="Times New Roman"/>
              <a:cs typeface="Times New Roman"/>
            </a:endParaRPr>
          </a:p>
          <a:p>
            <a:pPr>
              <a:lnSpc>
                <a:spcPct val="110000"/>
              </a:lnSpc>
              <a:buFont typeface="Noto Sans Symbols"/>
              <a:buChar char="❑"/>
            </a:pPr>
            <a:r>
              <a:rPr lang="en-US" sz="2600" dirty="0">
                <a:latin typeface="Times New Roman"/>
                <a:ea typeface="Times New Roman"/>
                <a:cs typeface="Times New Roman"/>
              </a:rPr>
              <a:t>DBMS retrieves the information</a:t>
            </a:r>
            <a:br>
              <a:rPr lang="en-US" sz="2600" dirty="0">
                <a:latin typeface="Times New Roman"/>
                <a:ea typeface="Times New Roman"/>
                <a:cs typeface="Times New Roman"/>
              </a:rPr>
            </a:br>
            <a:r>
              <a:rPr lang="en-US" sz="2600" dirty="0">
                <a:latin typeface="Times New Roman"/>
                <a:ea typeface="Times New Roman"/>
                <a:cs typeface="Times New Roman"/>
              </a:rPr>
              <a:t>After finding the matching data, the DBMS collects the required information from the database. </a:t>
            </a:r>
            <a:endParaRPr sz="2600" dirty="0">
              <a:latin typeface="Times New Roman"/>
              <a:ea typeface="Times New Roman"/>
              <a:cs typeface="Times New Roman"/>
            </a:endParaRPr>
          </a:p>
          <a:p>
            <a:pPr>
              <a:lnSpc>
                <a:spcPct val="110000"/>
              </a:lnSpc>
              <a:buFont typeface="Noto Sans Symbols"/>
              <a:buChar char="❑"/>
            </a:pPr>
            <a:r>
              <a:rPr lang="en-US" sz="2600" dirty="0">
                <a:latin typeface="Times New Roman"/>
                <a:ea typeface="Times New Roman"/>
                <a:cs typeface="Times New Roman"/>
              </a:rPr>
              <a:t>DBMS returns the information to the user</a:t>
            </a:r>
            <a:br>
              <a:rPr lang="en-US" sz="2600" dirty="0">
                <a:latin typeface="Times New Roman"/>
                <a:ea typeface="Times New Roman"/>
                <a:cs typeface="Times New Roman"/>
              </a:rPr>
            </a:br>
            <a:r>
              <a:rPr lang="en-US" sz="2600" dirty="0">
                <a:latin typeface="Times New Roman"/>
                <a:ea typeface="Times New Roman"/>
                <a:cs typeface="Times New Roman"/>
              </a:rPr>
              <a:t>Finally, the DBMS sends the retrieved information back to the user in an easy-to-understand format.</a:t>
            </a:r>
            <a:endParaRPr sz="2600" dirty="0">
              <a:latin typeface="Times New Roman"/>
              <a:ea typeface="Times New Roman"/>
              <a:cs typeface="Times New Roman"/>
            </a:endParaRPr>
          </a:p>
          <a:p>
            <a:pPr marL="457200" lvl="0" indent="-228600" algn="l" rtl="0">
              <a:lnSpc>
                <a:spcPct val="90000"/>
              </a:lnSpc>
              <a:spcBef>
                <a:spcPts val="1000"/>
              </a:spcBef>
              <a:spcAft>
                <a:spcPts val="0"/>
              </a:spcAft>
              <a:buClr>
                <a:schemeClr val="dk1"/>
              </a:buClr>
              <a:buSzPct val="69498"/>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526774" y="1049910"/>
            <a:ext cx="77724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55554"/>
              <a:buNone/>
            </a:pPr>
            <a:r>
              <a:rPr lang="en-US" sz="3100" b="1" dirty="0">
                <a:solidFill>
                  <a:srgbClr val="FF0000"/>
                </a:solidFill>
                <a:latin typeface="Times New Roman"/>
                <a:ea typeface="Times New Roman"/>
                <a:cs typeface="Times New Roman"/>
                <a:sym typeface="Times New Roman"/>
              </a:rPr>
              <a:t>Purpose of Database Systems</a:t>
            </a:r>
            <a:r>
              <a:rPr lang="en-US" sz="3100" dirty="0"/>
              <a:t>/ </a:t>
            </a:r>
            <a:r>
              <a:rPr lang="en-US" sz="3100" b="1" dirty="0">
                <a:solidFill>
                  <a:srgbClr val="FF0000"/>
                </a:solidFill>
                <a:latin typeface="Times New Roman"/>
                <a:ea typeface="Times New Roman"/>
                <a:cs typeface="Times New Roman"/>
                <a:sym typeface="Times New Roman"/>
              </a:rPr>
              <a:t>Disadvantage of File-oriented system</a:t>
            </a:r>
            <a:r>
              <a:rPr lang="en-US" b="1" dirty="0"/>
              <a:t/>
            </a:r>
            <a:br>
              <a:rPr lang="en-US" b="1" dirty="0"/>
            </a:br>
            <a:endParaRPr dirty="0"/>
          </a:p>
        </p:txBody>
      </p:sp>
      <p:sp>
        <p:nvSpPr>
          <p:cNvPr id="152" name="Google Shape;152;p10"/>
          <p:cNvSpPr txBox="1">
            <a:spLocks noGrp="1"/>
          </p:cNvSpPr>
          <p:nvPr>
            <p:ph type="body" idx="1"/>
          </p:nvPr>
        </p:nvSpPr>
        <p:spPr>
          <a:xfrm>
            <a:off x="380999" y="1621410"/>
            <a:ext cx="8497529" cy="4867880"/>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90000"/>
              </a:lnSpc>
              <a:spcBef>
                <a:spcPts val="1000"/>
              </a:spcBef>
              <a:spcAft>
                <a:spcPts val="0"/>
              </a:spcAft>
              <a:buSzPct val="102856"/>
              <a:buNone/>
            </a:pPr>
            <a:r>
              <a:rPr lang="en-US" sz="3600" b="1" dirty="0">
                <a:latin typeface="Times New Roman"/>
                <a:ea typeface="Times New Roman"/>
                <a:cs typeface="Times New Roman"/>
                <a:sym typeface="Times New Roman"/>
              </a:rPr>
              <a:t>Data Redundancy:</a:t>
            </a:r>
            <a:endParaRPr sz="3600" dirty="0">
              <a:latin typeface="Times New Roman"/>
              <a:ea typeface="Times New Roman"/>
              <a:cs typeface="Times New Roman"/>
              <a:sym typeface="Times New Roman"/>
            </a:endParaRPr>
          </a:p>
          <a:p>
            <a:pPr marL="639763" lvl="1" indent="-273048" algn="just" rtl="0">
              <a:lnSpc>
                <a:spcPct val="120000"/>
              </a:lnSpc>
              <a:spcBef>
                <a:spcPts val="0"/>
              </a:spcBef>
              <a:spcAft>
                <a:spcPts val="0"/>
              </a:spcAft>
              <a:buClr>
                <a:srgbClr val="000000"/>
              </a:buClr>
              <a:buSzPct val="92903"/>
              <a:buFont typeface="Arial"/>
              <a:buChar char="•"/>
            </a:pPr>
            <a:r>
              <a:rPr lang="en-US" sz="3600" dirty="0">
                <a:solidFill>
                  <a:srgbClr val="1E4E79"/>
                </a:solidFill>
                <a:latin typeface="Times New Roman"/>
                <a:ea typeface="Times New Roman"/>
                <a:cs typeface="Times New Roman"/>
                <a:sym typeface="Times New Roman"/>
              </a:rPr>
              <a:t>It is possible that the same information may be </a:t>
            </a:r>
            <a:r>
              <a:rPr lang="en-US" sz="3600" dirty="0">
                <a:solidFill>
                  <a:srgbClr val="FF0000"/>
                </a:solidFill>
                <a:latin typeface="Times New Roman"/>
                <a:ea typeface="Times New Roman"/>
                <a:cs typeface="Times New Roman"/>
                <a:sym typeface="Times New Roman"/>
              </a:rPr>
              <a:t>duplicated </a:t>
            </a:r>
            <a:r>
              <a:rPr lang="en-US" sz="3600" dirty="0">
                <a:solidFill>
                  <a:srgbClr val="1E4E79"/>
                </a:solidFill>
                <a:latin typeface="Times New Roman"/>
                <a:ea typeface="Times New Roman"/>
                <a:cs typeface="Times New Roman"/>
                <a:sym typeface="Times New Roman"/>
              </a:rPr>
              <a:t>in different files. this leads to data redundancy results in memory wastage.</a:t>
            </a:r>
            <a:endParaRPr sz="3600" dirty="0">
              <a:latin typeface="Times New Roman"/>
              <a:ea typeface="Times New Roman"/>
              <a:cs typeface="Times New Roman"/>
              <a:sym typeface="Times New Roman"/>
            </a:endParaRPr>
          </a:p>
          <a:p>
            <a:pPr marL="0" lvl="0" indent="0" algn="just" rtl="0">
              <a:lnSpc>
                <a:spcPct val="90000"/>
              </a:lnSpc>
              <a:spcBef>
                <a:spcPts val="1000"/>
              </a:spcBef>
              <a:spcAft>
                <a:spcPts val="0"/>
              </a:spcAft>
              <a:buSzPct val="102856"/>
              <a:buNone/>
            </a:pPr>
            <a:r>
              <a:rPr lang="en-US" sz="3600" b="1" dirty="0">
                <a:latin typeface="Times New Roman"/>
                <a:ea typeface="Times New Roman"/>
                <a:cs typeface="Times New Roman"/>
                <a:sym typeface="Times New Roman"/>
              </a:rPr>
              <a:t>Data Inconsistency:</a:t>
            </a:r>
            <a:endParaRPr sz="3600" dirty="0">
              <a:latin typeface="Times New Roman"/>
              <a:ea typeface="Times New Roman"/>
              <a:cs typeface="Times New Roman"/>
              <a:sym typeface="Times New Roman"/>
            </a:endParaRPr>
          </a:p>
          <a:p>
            <a:pPr marL="639763" lvl="1" indent="-273050" algn="just" rtl="0">
              <a:lnSpc>
                <a:spcPct val="120000"/>
              </a:lnSpc>
              <a:spcBef>
                <a:spcPts val="0"/>
              </a:spcBef>
              <a:spcAft>
                <a:spcPts val="0"/>
              </a:spcAft>
              <a:buClr>
                <a:srgbClr val="000000"/>
              </a:buClr>
              <a:buSzPct val="84704"/>
              <a:buFont typeface="Arial"/>
              <a:buChar char="•"/>
            </a:pPr>
            <a:r>
              <a:rPr lang="en-US" sz="3600" dirty="0">
                <a:solidFill>
                  <a:srgbClr val="1E4E79"/>
                </a:solidFill>
                <a:latin typeface="Times New Roman"/>
                <a:ea typeface="Times New Roman"/>
                <a:cs typeface="Times New Roman"/>
                <a:sym typeface="Times New Roman"/>
              </a:rPr>
              <a:t>Because of data redundancy, it is possible that data may not be in consistent state.</a:t>
            </a:r>
            <a:endParaRPr sz="3600" dirty="0">
              <a:latin typeface="Times New Roman"/>
              <a:ea typeface="Times New Roman"/>
              <a:cs typeface="Times New Roman"/>
              <a:sym typeface="Times New Roman"/>
            </a:endParaRPr>
          </a:p>
          <a:p>
            <a:pPr marL="0" lvl="0" indent="0" algn="just" rtl="0">
              <a:lnSpc>
                <a:spcPct val="90000"/>
              </a:lnSpc>
              <a:spcBef>
                <a:spcPts val="1000"/>
              </a:spcBef>
              <a:spcAft>
                <a:spcPts val="0"/>
              </a:spcAft>
              <a:buSzPct val="102856"/>
              <a:buNone/>
            </a:pPr>
            <a:r>
              <a:rPr lang="en-US" sz="3600" b="1" dirty="0">
                <a:latin typeface="Times New Roman"/>
                <a:ea typeface="Times New Roman"/>
                <a:cs typeface="Times New Roman"/>
                <a:sym typeface="Times New Roman"/>
              </a:rPr>
              <a:t>Limited Data Sharing:</a:t>
            </a:r>
            <a:endParaRPr sz="3600" dirty="0">
              <a:latin typeface="Times New Roman"/>
              <a:ea typeface="Times New Roman"/>
              <a:cs typeface="Times New Roman"/>
              <a:sym typeface="Times New Roman"/>
            </a:endParaRPr>
          </a:p>
          <a:p>
            <a:pPr marL="639763" lvl="1" indent="-273050" algn="just" rtl="0">
              <a:lnSpc>
                <a:spcPct val="120000"/>
              </a:lnSpc>
              <a:spcBef>
                <a:spcPts val="0"/>
              </a:spcBef>
              <a:spcAft>
                <a:spcPts val="0"/>
              </a:spcAft>
              <a:buClr>
                <a:srgbClr val="000000"/>
              </a:buClr>
              <a:buSzPct val="75789"/>
              <a:buFont typeface="Arial"/>
              <a:buChar char="•"/>
            </a:pPr>
            <a:r>
              <a:rPr lang="en-US" sz="3600" dirty="0">
                <a:solidFill>
                  <a:srgbClr val="1E4E79"/>
                </a:solidFill>
                <a:latin typeface="Times New Roman"/>
                <a:ea typeface="Times New Roman"/>
                <a:cs typeface="Times New Roman"/>
                <a:sym typeface="Times New Roman"/>
              </a:rPr>
              <a:t>Data are scattered in various files. Also different files may have different formats and these files may be stored in different folders may be of different departments.</a:t>
            </a:r>
            <a:endParaRPr sz="3600" dirty="0">
              <a:latin typeface="Times New Roman"/>
              <a:ea typeface="Times New Roman"/>
              <a:cs typeface="Times New Roman"/>
              <a:sym typeface="Times New Roman"/>
            </a:endParaRPr>
          </a:p>
          <a:p>
            <a:pPr marL="639763" lvl="1" indent="-273050" algn="just" rtl="0">
              <a:lnSpc>
                <a:spcPct val="120000"/>
              </a:lnSpc>
              <a:spcBef>
                <a:spcPts val="0"/>
              </a:spcBef>
              <a:spcAft>
                <a:spcPts val="0"/>
              </a:spcAft>
              <a:buClr>
                <a:srgbClr val="000000"/>
              </a:buClr>
              <a:buSzPct val="75789"/>
              <a:buFont typeface="Arial"/>
              <a:buChar char="•"/>
            </a:pPr>
            <a:r>
              <a:rPr lang="en-US" sz="3600" dirty="0">
                <a:solidFill>
                  <a:srgbClr val="1E4E79"/>
                </a:solidFill>
                <a:latin typeface="Times New Roman"/>
                <a:ea typeface="Times New Roman"/>
                <a:cs typeface="Times New Roman"/>
                <a:sym typeface="Times New Roman"/>
              </a:rPr>
              <a:t>So, due to this data isolation, it is difficult to share data among different applications.</a:t>
            </a:r>
            <a:endParaRPr sz="36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209671" y="852796"/>
            <a:ext cx="8305800" cy="58674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1000"/>
              </a:spcBef>
              <a:spcAft>
                <a:spcPts val="0"/>
              </a:spcAft>
              <a:buSzPts val="1668"/>
              <a:buNone/>
            </a:pPr>
            <a:r>
              <a:rPr lang="en-US" sz="2400" b="1">
                <a:latin typeface="Times New Roman"/>
                <a:ea typeface="Times New Roman"/>
                <a:cs typeface="Times New Roman"/>
                <a:sym typeface="Times New Roman"/>
              </a:rPr>
              <a:t>Integrity Problems:</a:t>
            </a:r>
            <a:endParaRPr sz="2400">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Font typeface="Arial"/>
              <a:buChar char="•"/>
            </a:pPr>
            <a:r>
              <a:rPr lang="en-US">
                <a:solidFill>
                  <a:srgbClr val="1E4E79"/>
                </a:solidFill>
                <a:latin typeface="Times New Roman"/>
                <a:ea typeface="Times New Roman"/>
                <a:cs typeface="Times New Roman"/>
                <a:sym typeface="Times New Roman"/>
              </a:rPr>
              <a:t>Data integrity means that the data contained in the database in both correct and consistent. for this purpose the data stored in database must satisfy correct and constraints.</a:t>
            </a:r>
            <a:endParaRPr/>
          </a:p>
          <a:p>
            <a:pPr marL="1096963" lvl="2" indent="-273050" algn="just" rtl="0">
              <a:lnSpc>
                <a:spcPct val="100000"/>
              </a:lnSpc>
              <a:spcBef>
                <a:spcPts val="0"/>
              </a:spcBef>
              <a:spcAft>
                <a:spcPts val="0"/>
              </a:spcAft>
              <a:buClr>
                <a:srgbClr val="000000"/>
              </a:buClr>
              <a:buSzPts val="1497"/>
              <a:buChar char="•"/>
            </a:pPr>
            <a:r>
              <a:rPr lang="en-US">
                <a:solidFill>
                  <a:srgbClr val="1E4E79"/>
                </a:solidFill>
                <a:latin typeface="Times New Roman"/>
                <a:ea typeface="Times New Roman"/>
                <a:cs typeface="Times New Roman"/>
                <a:sym typeface="Times New Roman"/>
              </a:rPr>
              <a:t>Eg. If a user enters a mobile number in the incorrect format. </a:t>
            </a:r>
            <a:endParaRPr>
              <a:solidFill>
                <a:srgbClr val="1E4E79"/>
              </a:solidFill>
              <a:latin typeface="Times New Roman"/>
              <a:ea typeface="Times New Roman"/>
              <a:cs typeface="Times New Roman"/>
              <a:sym typeface="Times New Roman"/>
            </a:endParaRPr>
          </a:p>
          <a:p>
            <a:pPr marL="1096963" lvl="2" indent="-273050" algn="just" rtl="0">
              <a:lnSpc>
                <a:spcPct val="100000"/>
              </a:lnSpc>
              <a:spcBef>
                <a:spcPts val="0"/>
              </a:spcBef>
              <a:spcAft>
                <a:spcPts val="0"/>
              </a:spcAft>
              <a:buClr>
                <a:srgbClr val="000000"/>
              </a:buClr>
              <a:buSzPts val="1497"/>
              <a:buChar char="•"/>
            </a:pPr>
            <a:r>
              <a:rPr lang="en-US">
                <a:solidFill>
                  <a:srgbClr val="1E4E79"/>
                </a:solidFill>
                <a:latin typeface="Times New Roman"/>
                <a:ea typeface="Times New Roman"/>
                <a:cs typeface="Times New Roman"/>
                <a:sym typeface="Times New Roman"/>
              </a:rPr>
              <a:t>If the user attempts to remove a record from a database, however, that record is referenced in another table as a relationship</a:t>
            </a:r>
            <a:endParaRPr/>
          </a:p>
          <a:p>
            <a:pPr marL="0" lvl="0" indent="0" algn="just" rtl="0">
              <a:lnSpc>
                <a:spcPct val="90000"/>
              </a:lnSpc>
              <a:spcBef>
                <a:spcPts val="1000"/>
              </a:spcBef>
              <a:spcAft>
                <a:spcPts val="0"/>
              </a:spcAft>
              <a:buSzPts val="3703"/>
              <a:buNone/>
            </a:pPr>
            <a:r>
              <a:rPr lang="en-US" sz="2400" b="1">
                <a:latin typeface="Times New Roman"/>
                <a:ea typeface="Times New Roman"/>
                <a:cs typeface="Times New Roman"/>
                <a:sym typeface="Times New Roman"/>
              </a:rPr>
              <a:t>Difficulty in Accessing Data:</a:t>
            </a:r>
            <a:endParaRPr sz="2400">
              <a:latin typeface="Times New Roman"/>
              <a:ea typeface="Times New Roman"/>
              <a:cs typeface="Times New Roman"/>
              <a:sym typeface="Times New Roman"/>
            </a:endParaRPr>
          </a:p>
          <a:p>
            <a:pPr marL="0" lvl="0" indent="0" algn="just" rtl="0">
              <a:lnSpc>
                <a:spcPct val="90000"/>
              </a:lnSpc>
              <a:spcBef>
                <a:spcPts val="1000"/>
              </a:spcBef>
              <a:spcAft>
                <a:spcPts val="0"/>
              </a:spcAft>
              <a:buSzPts val="2469"/>
              <a:buNone/>
            </a:pPr>
            <a:r>
              <a:rPr lang="en-US" sz="2400">
                <a:solidFill>
                  <a:srgbClr val="1E4E79"/>
                </a:solidFill>
                <a:latin typeface="Times New Roman"/>
                <a:ea typeface="Times New Roman"/>
                <a:cs typeface="Times New Roman"/>
                <a:sym typeface="Times New Roman"/>
              </a:rPr>
              <a:t>         Accessing data is not convenient and efficient in file processing system.</a:t>
            </a:r>
            <a:endParaRPr sz="2400">
              <a:solidFill>
                <a:srgbClr val="1E4E79"/>
              </a:solidFill>
              <a:latin typeface="Times New Roman"/>
              <a:ea typeface="Times New Roman"/>
              <a:cs typeface="Times New Roman"/>
              <a:sym typeface="Times New Roman"/>
            </a:endParaRPr>
          </a:p>
          <a:p>
            <a:pPr marL="823913" lvl="2" indent="0" algn="just" rtl="0">
              <a:lnSpc>
                <a:spcPct val="100000"/>
              </a:lnSpc>
              <a:spcBef>
                <a:spcPts val="0"/>
              </a:spcBef>
              <a:spcAft>
                <a:spcPts val="0"/>
              </a:spcAft>
              <a:buClr>
                <a:srgbClr val="000000"/>
              </a:buClr>
              <a:buSzPts val="1497"/>
              <a:buNone/>
            </a:pPr>
            <a:endParaRPr>
              <a:solidFill>
                <a:srgbClr val="1E4E79"/>
              </a:solidFill>
              <a:latin typeface="Times New Roman"/>
              <a:ea typeface="Times New Roman"/>
              <a:cs typeface="Times New Roman"/>
              <a:sym typeface="Times New Roman"/>
            </a:endParaRPr>
          </a:p>
          <a:p>
            <a:pPr marL="0" lvl="0" indent="0" algn="just" rtl="0">
              <a:lnSpc>
                <a:spcPct val="100000"/>
              </a:lnSpc>
              <a:spcBef>
                <a:spcPts val="1000"/>
              </a:spcBef>
              <a:spcAft>
                <a:spcPts val="0"/>
              </a:spcAft>
              <a:buSzPts val="1668"/>
              <a:buNone/>
            </a:pPr>
            <a:r>
              <a:rPr lang="en-US" sz="2400" b="1">
                <a:latin typeface="Times New Roman"/>
                <a:ea typeface="Times New Roman"/>
                <a:cs typeface="Times New Roman"/>
                <a:sym typeface="Times New Roman"/>
              </a:rPr>
              <a:t>Atomicity Problems:</a:t>
            </a:r>
            <a:endParaRPr sz="2400">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Font typeface="Arial"/>
              <a:buChar char="•"/>
            </a:pPr>
            <a:r>
              <a:rPr lang="en-US">
                <a:solidFill>
                  <a:srgbClr val="1E4E79"/>
                </a:solidFill>
                <a:latin typeface="Times New Roman"/>
                <a:ea typeface="Times New Roman"/>
                <a:cs typeface="Times New Roman"/>
                <a:sym typeface="Times New Roman"/>
              </a:rPr>
              <a:t>Any operation on database must be atomic.</a:t>
            </a:r>
            <a:endParaRPr>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Font typeface="Arial"/>
              <a:buChar char="•"/>
            </a:pPr>
            <a:r>
              <a:rPr lang="en-US">
                <a:solidFill>
                  <a:srgbClr val="1E4E79"/>
                </a:solidFill>
                <a:latin typeface="Times New Roman"/>
                <a:ea typeface="Times New Roman"/>
                <a:cs typeface="Times New Roman"/>
                <a:sym typeface="Times New Roman"/>
              </a:rPr>
              <a:t>this means, it must happen in its entirely or not at all.</a:t>
            </a: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668"/>
              <a:buNone/>
            </a:pPr>
            <a:r>
              <a:rPr lang="en-US" sz="2400" b="1">
                <a:latin typeface="Times New Roman"/>
                <a:ea typeface="Times New Roman"/>
                <a:cs typeface="Times New Roman"/>
                <a:sym typeface="Times New Roman"/>
              </a:rPr>
              <a:t>Concurrent Access Anomalies:</a:t>
            </a:r>
            <a:endParaRPr sz="2400">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Char char="•"/>
            </a:pPr>
            <a:r>
              <a:rPr lang="en-US">
                <a:solidFill>
                  <a:srgbClr val="1E4E79"/>
                </a:solidFill>
                <a:latin typeface="Times New Roman"/>
                <a:ea typeface="Times New Roman"/>
                <a:cs typeface="Times New Roman"/>
                <a:sym typeface="Times New Roman"/>
              </a:rPr>
              <a:t>Multiple users are allowed to access data simultaneously. this is for the sake of better performance and faster response.</a:t>
            </a:r>
            <a:endParaRPr>
              <a:latin typeface="Times New Roman"/>
              <a:ea typeface="Times New Roman"/>
              <a:cs typeface="Times New Roman"/>
              <a:sym typeface="Times New Roman"/>
            </a:endParaRPr>
          </a:p>
          <a:p>
            <a:pPr marL="0" lvl="0" indent="0" algn="just" rtl="0">
              <a:lnSpc>
                <a:spcPct val="100000"/>
              </a:lnSpc>
              <a:spcBef>
                <a:spcPts val="1000"/>
              </a:spcBef>
              <a:spcAft>
                <a:spcPts val="0"/>
              </a:spcAft>
              <a:buSzPts val="1668"/>
              <a:buNone/>
            </a:pPr>
            <a:r>
              <a:rPr lang="en-US" sz="2400" b="1">
                <a:latin typeface="Times New Roman"/>
                <a:ea typeface="Times New Roman"/>
                <a:cs typeface="Times New Roman"/>
                <a:sym typeface="Times New Roman"/>
              </a:rPr>
              <a:t>Security Problems:</a:t>
            </a:r>
            <a:endParaRPr sz="2400">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Char char="•"/>
            </a:pPr>
            <a:r>
              <a:rPr lang="en-US">
                <a:solidFill>
                  <a:srgbClr val="1E4E79"/>
                </a:solidFill>
                <a:latin typeface="Times New Roman"/>
                <a:ea typeface="Times New Roman"/>
                <a:cs typeface="Times New Roman"/>
                <a:sym typeface="Times New Roman"/>
              </a:rPr>
              <a:t>Database should be accessible to users in limited way.</a:t>
            </a:r>
            <a:endParaRPr>
              <a:latin typeface="Times New Roman"/>
              <a:ea typeface="Times New Roman"/>
              <a:cs typeface="Times New Roman"/>
              <a:sym typeface="Times New Roman"/>
            </a:endParaRPr>
          </a:p>
          <a:p>
            <a:pPr marL="639763" lvl="1" indent="-273049" algn="just" rtl="0">
              <a:lnSpc>
                <a:spcPct val="100000"/>
              </a:lnSpc>
              <a:spcBef>
                <a:spcPts val="0"/>
              </a:spcBef>
              <a:spcAft>
                <a:spcPts val="0"/>
              </a:spcAft>
              <a:buClr>
                <a:srgbClr val="000000"/>
              </a:buClr>
              <a:buSzPts val="1796"/>
              <a:buChar char="•"/>
            </a:pPr>
            <a:r>
              <a:rPr lang="en-US">
                <a:solidFill>
                  <a:srgbClr val="1E4E79"/>
                </a:solidFill>
                <a:latin typeface="Times New Roman"/>
                <a:ea typeface="Times New Roman"/>
                <a:cs typeface="Times New Roman"/>
                <a:sym typeface="Times New Roman"/>
              </a:rPr>
              <a:t>Each user should be allowed to access data concerning his requirements only</a:t>
            </a:r>
            <a:endParaRPr>
              <a:latin typeface="Times New Roman"/>
              <a:ea typeface="Times New Roman"/>
              <a:cs typeface="Times New Roman"/>
              <a:sym typeface="Times New Roman"/>
            </a:endParaRPr>
          </a:p>
        </p:txBody>
      </p:sp>
      <p:sp>
        <p:nvSpPr>
          <p:cNvPr id="163" name="Google Shape;16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628650" y="7925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View of Data</a:t>
            </a:r>
            <a:endParaRPr/>
          </a:p>
        </p:txBody>
      </p:sp>
      <p:sp>
        <p:nvSpPr>
          <p:cNvPr id="169" name="Google Shape;169;p1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A database system is a collection of interrelated data and a set of programs that allow users to access and modify these data.</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 A major purpose of a database system is to provide users with an abstract view of the data. That is, the system hides certain details of how the data are stored and maintained.</a:t>
            </a:r>
            <a:endParaRPr/>
          </a:p>
          <a:p>
            <a:pPr marL="914400" lvl="1" indent="-342900" algn="l" rtl="0">
              <a:lnSpc>
                <a:spcPct val="90000"/>
              </a:lnSpc>
              <a:spcBef>
                <a:spcPts val="500"/>
              </a:spcBef>
              <a:spcAft>
                <a:spcPts val="0"/>
              </a:spcAft>
              <a:buSzPts val="1800"/>
              <a:buChar char="•"/>
            </a:pPr>
            <a:r>
              <a:rPr lang="en-US" sz="2000" b="1">
                <a:latin typeface="Times New Roman"/>
                <a:ea typeface="Times New Roman"/>
                <a:cs typeface="Times New Roman"/>
                <a:sym typeface="Times New Roman"/>
              </a:rPr>
              <a:t>Data Abstraction</a:t>
            </a:r>
            <a:endParaRPr/>
          </a:p>
          <a:p>
            <a:pPr marL="914400" lvl="1" indent="-342900" algn="l" rtl="0">
              <a:lnSpc>
                <a:spcPct val="90000"/>
              </a:lnSpc>
              <a:spcBef>
                <a:spcPts val="500"/>
              </a:spcBef>
              <a:spcAft>
                <a:spcPts val="0"/>
              </a:spcAft>
              <a:buSzPts val="1800"/>
              <a:buChar char="•"/>
            </a:pPr>
            <a:r>
              <a:rPr lang="en-US" sz="2000" b="1">
                <a:latin typeface="Times New Roman"/>
                <a:ea typeface="Times New Roman"/>
                <a:cs typeface="Times New Roman"/>
                <a:sym typeface="Times New Roman"/>
              </a:rPr>
              <a:t>Instances and Schemas</a:t>
            </a:r>
            <a:endParaRPr/>
          </a:p>
          <a:p>
            <a:pPr marL="914400" lvl="1" indent="-342900" algn="l" rtl="0">
              <a:lnSpc>
                <a:spcPct val="90000"/>
              </a:lnSpc>
              <a:spcBef>
                <a:spcPts val="500"/>
              </a:spcBef>
              <a:spcAft>
                <a:spcPts val="0"/>
              </a:spcAft>
              <a:buSzPts val="1800"/>
              <a:buChar char="•"/>
            </a:pPr>
            <a:r>
              <a:rPr lang="en-US" sz="2000" b="1">
                <a:latin typeface="Times New Roman"/>
                <a:ea typeface="Times New Roman"/>
                <a:cs typeface="Times New Roman"/>
                <a:sym typeface="Times New Roman"/>
              </a:rPr>
              <a:t>Data Models</a:t>
            </a:r>
            <a:endParaRPr/>
          </a:p>
        </p:txBody>
      </p:sp>
      <p:sp>
        <p:nvSpPr>
          <p:cNvPr id="170" name="Google Shape;170;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628650" y="638503"/>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600" b="1">
                <a:latin typeface="Times New Roman"/>
                <a:ea typeface="Times New Roman"/>
                <a:cs typeface="Times New Roman"/>
                <a:sym typeface="Times New Roman"/>
              </a:rPr>
              <a:t>Data Abstraction</a:t>
            </a:r>
            <a:endParaRPr sz="6000"/>
          </a:p>
        </p:txBody>
      </p:sp>
      <p:sp>
        <p:nvSpPr>
          <p:cNvPr id="176" name="Google Shape;176;p14"/>
          <p:cNvSpPr txBox="1">
            <a:spLocks noGrp="1"/>
          </p:cNvSpPr>
          <p:nvPr>
            <p:ph type="body" idx="1"/>
          </p:nvPr>
        </p:nvSpPr>
        <p:spPr>
          <a:xfrm>
            <a:off x="321726" y="1778016"/>
            <a:ext cx="4761551" cy="4581832"/>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20000"/>
              </a:lnSpc>
              <a:spcBef>
                <a:spcPts val="1000"/>
              </a:spcBef>
              <a:spcAft>
                <a:spcPts val="0"/>
              </a:spcAft>
              <a:buSzPct val="69498"/>
              <a:buNone/>
            </a:pPr>
            <a:r>
              <a:rPr lang="en-US" sz="2600">
                <a:latin typeface="Times New Roman"/>
                <a:ea typeface="Times New Roman"/>
                <a:cs typeface="Times New Roman"/>
                <a:sym typeface="Times New Roman"/>
              </a:rPr>
              <a:t>There are mainly three levels of data abstraction:</a:t>
            </a:r>
            <a:r>
              <a:rPr lang="en-US" sz="2600" b="1">
                <a:latin typeface="Times New Roman"/>
                <a:ea typeface="Times New Roman"/>
                <a:cs typeface="Times New Roman"/>
                <a:sym typeface="Times New Roman"/>
              </a:rPr>
              <a:t> </a:t>
            </a:r>
            <a:endParaRPr sz="2600">
              <a:latin typeface="Times New Roman"/>
              <a:ea typeface="Times New Roman"/>
              <a:cs typeface="Times New Roman"/>
              <a:sym typeface="Times New Roman"/>
            </a:endParaRPr>
          </a:p>
          <a:p>
            <a:pPr marL="0" lvl="0" indent="0" algn="l" rtl="0">
              <a:lnSpc>
                <a:spcPct val="90000"/>
              </a:lnSpc>
              <a:spcBef>
                <a:spcPts val="1000"/>
              </a:spcBef>
              <a:spcAft>
                <a:spcPts val="0"/>
              </a:spcAft>
              <a:buSzPct val="69498"/>
              <a:buNone/>
            </a:pPr>
            <a:endParaRPr>
              <a:latin typeface="Times New Roman"/>
              <a:ea typeface="Times New Roman"/>
              <a:cs typeface="Times New Roman"/>
              <a:sym typeface="Times New Roman"/>
            </a:endParaRPr>
          </a:p>
          <a:p>
            <a:pPr marL="285750" lvl="1" indent="-266957" algn="just" rtl="0">
              <a:lnSpc>
                <a:spcPct val="110000"/>
              </a:lnSpc>
              <a:spcBef>
                <a:spcPts val="0"/>
              </a:spcBef>
              <a:spcAft>
                <a:spcPts val="0"/>
              </a:spcAft>
              <a:buClr>
                <a:srgbClr val="000000"/>
              </a:buClr>
              <a:buSzPct val="74844"/>
              <a:buFont typeface="Arial"/>
              <a:buChar char="•"/>
            </a:pPr>
            <a:r>
              <a:rPr lang="en-US" sz="2600" b="1">
                <a:solidFill>
                  <a:srgbClr val="1E4E79"/>
                </a:solidFill>
                <a:latin typeface="Times New Roman"/>
                <a:ea typeface="Times New Roman"/>
                <a:cs typeface="Times New Roman"/>
                <a:sym typeface="Times New Roman"/>
              </a:rPr>
              <a:t>Internal Level</a:t>
            </a:r>
            <a:r>
              <a:rPr lang="en-US" sz="2600">
                <a:solidFill>
                  <a:srgbClr val="1E4E79"/>
                </a:solidFill>
                <a:latin typeface="Times New Roman"/>
                <a:ea typeface="Times New Roman"/>
                <a:cs typeface="Times New Roman"/>
                <a:sym typeface="Times New Roman"/>
              </a:rPr>
              <a:t>: Actual </a:t>
            </a:r>
            <a:r>
              <a:rPr lang="en-US" sz="2600">
                <a:solidFill>
                  <a:srgbClr val="FF0000"/>
                </a:solidFill>
                <a:latin typeface="Times New Roman"/>
                <a:ea typeface="Times New Roman"/>
                <a:cs typeface="Times New Roman"/>
                <a:sym typeface="Times New Roman"/>
              </a:rPr>
              <a:t>PHYSICAL</a:t>
            </a:r>
            <a:r>
              <a:rPr lang="en-US" sz="2600">
                <a:solidFill>
                  <a:srgbClr val="1E4E79"/>
                </a:solidFill>
                <a:latin typeface="Times New Roman"/>
                <a:ea typeface="Times New Roman"/>
                <a:cs typeface="Times New Roman"/>
                <a:sym typeface="Times New Roman"/>
              </a:rPr>
              <a:t> storage structure and access paths.</a:t>
            </a:r>
            <a:endParaRPr/>
          </a:p>
          <a:p>
            <a:pPr marL="639763" lvl="1" indent="-158750" algn="just" rtl="0">
              <a:lnSpc>
                <a:spcPct val="110000"/>
              </a:lnSpc>
              <a:spcBef>
                <a:spcPts val="0"/>
              </a:spcBef>
              <a:spcAft>
                <a:spcPts val="0"/>
              </a:spcAft>
              <a:buClr>
                <a:srgbClr val="000000"/>
              </a:buClr>
              <a:buSzPct val="74844"/>
              <a:buFont typeface="Arial"/>
              <a:buNone/>
            </a:pPr>
            <a:endParaRPr sz="2600">
              <a:solidFill>
                <a:srgbClr val="1E4E79"/>
              </a:solidFill>
              <a:latin typeface="Times New Roman"/>
              <a:ea typeface="Times New Roman"/>
              <a:cs typeface="Times New Roman"/>
              <a:sym typeface="Times New Roman"/>
            </a:endParaRPr>
          </a:p>
          <a:p>
            <a:pPr marL="285750" lvl="1" indent="-266957" algn="just" rtl="0">
              <a:lnSpc>
                <a:spcPct val="110000"/>
              </a:lnSpc>
              <a:spcBef>
                <a:spcPts val="0"/>
              </a:spcBef>
              <a:spcAft>
                <a:spcPts val="0"/>
              </a:spcAft>
              <a:buClr>
                <a:srgbClr val="000000"/>
              </a:buClr>
              <a:buSzPct val="74844"/>
              <a:buFont typeface="Arial"/>
              <a:buChar char="•"/>
            </a:pPr>
            <a:r>
              <a:rPr lang="en-US" sz="2600" b="1">
                <a:solidFill>
                  <a:srgbClr val="1E4E79"/>
                </a:solidFill>
                <a:latin typeface="Times New Roman"/>
                <a:ea typeface="Times New Roman"/>
                <a:cs typeface="Times New Roman"/>
                <a:sym typeface="Times New Roman"/>
              </a:rPr>
              <a:t>Conceptual or Logical Level</a:t>
            </a:r>
            <a:r>
              <a:rPr lang="en-US" sz="2600">
                <a:solidFill>
                  <a:srgbClr val="1E4E79"/>
                </a:solidFill>
                <a:latin typeface="Times New Roman"/>
                <a:ea typeface="Times New Roman"/>
                <a:cs typeface="Times New Roman"/>
                <a:sym typeface="Times New Roman"/>
              </a:rPr>
              <a:t>: Structure and constraints for the entire database</a:t>
            </a:r>
            <a:endParaRPr/>
          </a:p>
          <a:p>
            <a:pPr marL="639763" lvl="1" indent="-158750" algn="just" rtl="0">
              <a:lnSpc>
                <a:spcPct val="110000"/>
              </a:lnSpc>
              <a:spcBef>
                <a:spcPts val="0"/>
              </a:spcBef>
              <a:spcAft>
                <a:spcPts val="0"/>
              </a:spcAft>
              <a:buClr>
                <a:srgbClr val="000000"/>
              </a:buClr>
              <a:buSzPct val="74844"/>
              <a:buFont typeface="Arial"/>
              <a:buNone/>
            </a:pPr>
            <a:endParaRPr sz="2600" b="1">
              <a:solidFill>
                <a:srgbClr val="1E4E79"/>
              </a:solidFill>
              <a:latin typeface="Times New Roman"/>
              <a:ea typeface="Times New Roman"/>
              <a:cs typeface="Times New Roman"/>
              <a:sym typeface="Times New Roman"/>
            </a:endParaRPr>
          </a:p>
          <a:p>
            <a:pPr marL="285750" lvl="1" indent="-266957" algn="just" rtl="0">
              <a:lnSpc>
                <a:spcPct val="110000"/>
              </a:lnSpc>
              <a:spcBef>
                <a:spcPts val="0"/>
              </a:spcBef>
              <a:spcAft>
                <a:spcPts val="0"/>
              </a:spcAft>
              <a:buClr>
                <a:srgbClr val="000000"/>
              </a:buClr>
              <a:buSzPct val="74844"/>
              <a:buFont typeface="Arial"/>
              <a:buChar char="•"/>
            </a:pPr>
            <a:r>
              <a:rPr lang="en-US" sz="2600" b="1">
                <a:solidFill>
                  <a:srgbClr val="1E4E79"/>
                </a:solidFill>
                <a:latin typeface="Times New Roman"/>
                <a:ea typeface="Times New Roman"/>
                <a:cs typeface="Times New Roman"/>
                <a:sym typeface="Times New Roman"/>
              </a:rPr>
              <a:t>External or View level</a:t>
            </a:r>
            <a:r>
              <a:rPr lang="en-US" sz="2600">
                <a:solidFill>
                  <a:srgbClr val="1E4E79"/>
                </a:solidFill>
                <a:latin typeface="Times New Roman"/>
                <a:ea typeface="Times New Roman"/>
                <a:cs typeface="Times New Roman"/>
                <a:sym typeface="Times New Roman"/>
              </a:rPr>
              <a:t>: Describes various user views</a:t>
            </a:r>
            <a:endParaRPr/>
          </a:p>
          <a:p>
            <a:pPr marL="457200" lvl="0" indent="-228600" algn="l" rtl="0">
              <a:lnSpc>
                <a:spcPct val="90000"/>
              </a:lnSpc>
              <a:spcBef>
                <a:spcPts val="1000"/>
              </a:spcBef>
              <a:spcAft>
                <a:spcPts val="0"/>
              </a:spcAft>
              <a:buClr>
                <a:schemeClr val="dk1"/>
              </a:buClr>
              <a:buSzPct val="69498"/>
              <a:buNone/>
            </a:pPr>
            <a:endParaRPr>
              <a:latin typeface="Times New Roman"/>
              <a:ea typeface="Times New Roman"/>
              <a:cs typeface="Times New Roman"/>
              <a:sym typeface="Times New Roman"/>
            </a:endParaRPr>
          </a:p>
        </p:txBody>
      </p:sp>
      <p:pic>
        <p:nvPicPr>
          <p:cNvPr id="177" name="Google Shape;177;p14" descr="What is Data Abstraction in DBMS and what are its three levels?"/>
          <p:cNvPicPr preferRelativeResize="0"/>
          <p:nvPr/>
        </p:nvPicPr>
        <p:blipFill rotWithShape="1">
          <a:blip r:embed="rId3">
            <a:alphaModFix/>
          </a:blip>
          <a:srcRect/>
          <a:stretch/>
        </p:blipFill>
        <p:spPr>
          <a:xfrm>
            <a:off x="5234625" y="1313325"/>
            <a:ext cx="3790849" cy="5138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1"/>
          </p:nvPr>
        </p:nvSpPr>
        <p:spPr>
          <a:xfrm>
            <a:off x="550325" y="1134525"/>
            <a:ext cx="7772400" cy="3276600"/>
          </a:xfrm>
          <a:prstGeom prst="rect">
            <a:avLst/>
          </a:prstGeom>
          <a:noFill/>
          <a:ln>
            <a:noFill/>
          </a:ln>
        </p:spPr>
        <p:txBody>
          <a:bodyPr spcFirstLastPara="1" wrap="square" lIns="91425" tIns="45700" rIns="91425" bIns="45700" anchor="t" anchorCtr="0">
            <a:normAutofit/>
          </a:bodyPr>
          <a:lstStyle/>
          <a:p>
            <a:pPr marL="639763" lvl="1" indent="-273050" algn="just" rtl="0">
              <a:lnSpc>
                <a:spcPct val="100000"/>
              </a:lnSpc>
              <a:spcBef>
                <a:spcPts val="0"/>
              </a:spcBef>
              <a:spcAft>
                <a:spcPts val="0"/>
              </a:spcAft>
              <a:buClr>
                <a:srgbClr val="000000"/>
              </a:buClr>
              <a:buSzPts val="1800"/>
              <a:buFont typeface="Arial"/>
              <a:buChar char="•"/>
            </a:pPr>
            <a:r>
              <a:rPr lang="en-US" b="1"/>
              <a:t>Example</a:t>
            </a:r>
            <a:r>
              <a:rPr lang="en-US"/>
              <a:t>: </a:t>
            </a:r>
            <a:r>
              <a:rPr lang="en-US">
                <a:solidFill>
                  <a:srgbClr val="1E4E79"/>
                </a:solidFill>
                <a:latin typeface="Times New Roman"/>
                <a:ea typeface="Times New Roman"/>
                <a:cs typeface="Times New Roman"/>
                <a:sym typeface="Times New Roman"/>
              </a:rPr>
              <a:t>Let’s say we are storing customer information in a customer table. At physical level these records can be described as blocks of storage (bytes, gigabytes, terabytes etc.) in memory. These details are often hidden from the programmers.</a:t>
            </a:r>
            <a:endParaRPr/>
          </a:p>
          <a:p>
            <a:pPr marL="639763" lvl="1" indent="-273050" algn="just" rtl="0">
              <a:lnSpc>
                <a:spcPct val="100000"/>
              </a:lnSpc>
              <a:spcBef>
                <a:spcPts val="0"/>
              </a:spcBef>
              <a:spcAft>
                <a:spcPts val="0"/>
              </a:spcAft>
              <a:buClr>
                <a:srgbClr val="000000"/>
              </a:buClr>
              <a:buSzPts val="1800"/>
              <a:buFont typeface="Arial"/>
              <a:buChar char="•"/>
            </a:pPr>
            <a:r>
              <a:rPr lang="en-US">
                <a:solidFill>
                  <a:srgbClr val="1E4E79"/>
                </a:solidFill>
                <a:latin typeface="Times New Roman"/>
                <a:ea typeface="Times New Roman"/>
                <a:cs typeface="Times New Roman"/>
                <a:sym typeface="Times New Roman"/>
              </a:rPr>
              <a:t>Gmail account</a:t>
            </a:r>
            <a:endParaRPr/>
          </a:p>
        </p:txBody>
      </p:sp>
      <p:pic>
        <p:nvPicPr>
          <p:cNvPr id="183" name="Google Shape;183;p15"/>
          <p:cNvPicPr preferRelativeResize="0"/>
          <p:nvPr/>
        </p:nvPicPr>
        <p:blipFill rotWithShape="1">
          <a:blip r:embed="rId3">
            <a:alphaModFix/>
          </a:blip>
          <a:srcRect l="3475" t="19754" r="5067" b="22469"/>
          <a:stretch/>
        </p:blipFill>
        <p:spPr>
          <a:xfrm>
            <a:off x="0" y="3429000"/>
            <a:ext cx="9144000" cy="32766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89" name="Google Shape;189;p16"/>
          <p:cNvSpPr/>
          <p:nvPr/>
        </p:nvSpPr>
        <p:spPr>
          <a:xfrm>
            <a:off x="481781" y="1211642"/>
            <a:ext cx="8033569" cy="4816703"/>
          </a:xfrm>
          <a:prstGeom prst="rect">
            <a:avLst/>
          </a:prstGeom>
          <a:noFill/>
          <a:ln>
            <a:noFill/>
          </a:ln>
        </p:spPr>
        <p:txBody>
          <a:bodyPr spcFirstLastPara="1" wrap="square" lIns="91425" tIns="45700" rIns="91425" bIns="45700" anchor="t" anchorCtr="0">
            <a:noAutofit/>
          </a:bodyPr>
          <a:lstStyle/>
          <a:p>
            <a:pPr marL="12700" marR="0" lvl="0" indent="0" algn="l" rtl="0">
              <a:lnSpc>
                <a:spcPct val="84583"/>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Instance:</a:t>
            </a:r>
            <a:endParaRPr sz="1400" b="0" i="0" u="none" strike="noStrike" cap="none">
              <a:solidFill>
                <a:srgbClr val="000000"/>
              </a:solidFill>
              <a:latin typeface="Arial"/>
              <a:ea typeface="Arial"/>
              <a:cs typeface="Arial"/>
              <a:sym typeface="Arial"/>
            </a:endParaRPr>
          </a:p>
          <a:p>
            <a:pPr marL="12700" marR="0" lvl="0" indent="0" algn="l" rtl="0">
              <a:lnSpc>
                <a:spcPct val="84583"/>
              </a:lnSpc>
              <a:spcBef>
                <a:spcPts val="100"/>
              </a:spcBef>
              <a:spcAft>
                <a:spcPts val="0"/>
              </a:spcAft>
              <a:buClr>
                <a:srgbClr val="000000"/>
              </a:buClr>
              <a:buSzPts val="2400"/>
              <a:buFont typeface="Arial"/>
              <a:buNone/>
            </a:pPr>
            <a:endParaRPr sz="2400" b="1" i="0" u="none" strike="noStrike" cap="none">
              <a:solidFill>
                <a:srgbClr val="FF0000"/>
              </a:solidFill>
              <a:latin typeface="Times New Roman"/>
              <a:ea typeface="Times New Roman"/>
              <a:cs typeface="Times New Roman"/>
              <a:sym typeface="Times New Roman"/>
            </a:endParaRPr>
          </a:p>
          <a:p>
            <a:pPr marL="452755" marR="5080" lvl="0" indent="-342900" algn="l" rtl="0">
              <a:lnSpc>
                <a:spcPct val="100000"/>
              </a:lnSpc>
              <a:spcBef>
                <a:spcPts val="75"/>
              </a:spcBef>
              <a:spcAft>
                <a:spcPts val="0"/>
              </a:spcAft>
              <a:buClr>
                <a:srgbClr val="000000"/>
              </a:buClr>
              <a:buSzPts val="2400"/>
              <a:buFont typeface="Arial"/>
              <a:buChar char="•"/>
            </a:pPr>
            <a:r>
              <a:rPr lang="en-US" sz="2400" b="0" i="0" u="none" strike="noStrike" cap="none">
                <a:solidFill>
                  <a:srgbClr val="000000"/>
                </a:solidFill>
                <a:latin typeface="Times New Roman"/>
                <a:ea typeface="Times New Roman"/>
                <a:cs typeface="Times New Roman"/>
                <a:sym typeface="Times New Roman"/>
              </a:rPr>
              <a:t>The collection of information stored in the database at a particular moment is called an instance of the database.</a:t>
            </a: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Schemas</a:t>
            </a:r>
            <a:r>
              <a:rPr lang="en-US" sz="2400" b="1" i="0" u="none" strike="noStrike" cap="none">
                <a:solidFill>
                  <a:srgbClr val="000000"/>
                </a:solidFill>
                <a:latin typeface="Times New Roman"/>
                <a:ea typeface="Times New Roman"/>
                <a:cs typeface="Times New Roman"/>
                <a:sym typeface="Times New Roman"/>
              </a:rPr>
              <a:t>: </a:t>
            </a:r>
            <a:r>
              <a:rPr lang="en-US" sz="2400" b="0" i="0" u="none" strike="noStrike" cap="none">
                <a:solidFill>
                  <a:srgbClr val="000000"/>
                </a:solidFill>
                <a:latin typeface="Times New Roman"/>
                <a:ea typeface="Times New Roman"/>
                <a:cs typeface="Times New Roman"/>
                <a:sym typeface="Times New Roman"/>
              </a:rPr>
              <a:t>The Overall Structure of a database is called Schemas</a:t>
            </a:r>
            <a:endParaRPr sz="1400" b="0" i="0" u="none" strike="noStrike" cap="none">
              <a:solidFill>
                <a:srgbClr val="000000"/>
              </a:solidFill>
              <a:latin typeface="Arial"/>
              <a:ea typeface="Arial"/>
              <a:cs typeface="Arial"/>
              <a:sym typeface="Arial"/>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110490" marR="0" lvl="8" indent="0" algn="l" rtl="0">
              <a:lnSpc>
                <a:spcPct val="81833"/>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           </a:t>
            </a:r>
            <a:r>
              <a:rPr lang="en-US" sz="2200" b="1" i="0" u="none" strike="noStrike" cap="none">
                <a:solidFill>
                  <a:srgbClr val="000000"/>
                </a:solidFill>
                <a:latin typeface="Times New Roman"/>
                <a:ea typeface="Times New Roman"/>
                <a:cs typeface="Times New Roman"/>
                <a:sym typeface="Times New Roman"/>
              </a:rPr>
              <a:t>Logical Schema :</a:t>
            </a:r>
            <a:r>
              <a:rPr lang="en-US" sz="2200" b="1" i="1" u="sng" strike="noStrike" cap="none">
                <a:solidFill>
                  <a:srgbClr val="1154CC"/>
                </a:solidFill>
                <a:latin typeface="Times New Roman"/>
                <a:ea typeface="Times New Roman"/>
                <a:cs typeface="Times New Roman"/>
                <a:sym typeface="Times New Roman"/>
              </a:rPr>
              <a:t>logical structure</a:t>
            </a:r>
            <a:r>
              <a:rPr lang="en-US" sz="2200" b="1" i="1" u="none" strike="noStrike" cap="none">
                <a:solidFill>
                  <a:srgbClr val="1154CC"/>
                </a:solidFill>
                <a:latin typeface="Times New Roman"/>
                <a:ea typeface="Times New Roman"/>
                <a:cs typeface="Times New Roman"/>
                <a:sym typeface="Times New Roman"/>
              </a:rPr>
              <a:t> </a:t>
            </a:r>
            <a:r>
              <a:rPr lang="en-US" sz="2200" b="0" i="1" u="none" strike="noStrike" cap="none">
                <a:solidFill>
                  <a:srgbClr val="000000"/>
                </a:solidFill>
                <a:latin typeface="Times New Roman"/>
                <a:ea typeface="Times New Roman"/>
                <a:cs typeface="Times New Roman"/>
                <a:sym typeface="Times New Roman"/>
              </a:rPr>
              <a:t>of DB </a:t>
            </a:r>
            <a:endParaRPr sz="1400" b="0" i="0" u="none" strike="noStrike" cap="none">
              <a:solidFill>
                <a:srgbClr val="000000"/>
              </a:solidFill>
              <a:latin typeface="Arial"/>
              <a:ea typeface="Arial"/>
              <a:cs typeface="Arial"/>
              <a:sym typeface="Arial"/>
            </a:endParaRPr>
          </a:p>
          <a:p>
            <a:pPr marL="110490" marR="0" lvl="8" indent="0" algn="l" rtl="0">
              <a:lnSpc>
                <a:spcPct val="89272"/>
              </a:lnSpc>
              <a:spcBef>
                <a:spcPts val="0"/>
              </a:spcBef>
              <a:spcAft>
                <a:spcPts val="0"/>
              </a:spcAft>
              <a:buClr>
                <a:srgbClr val="000000"/>
              </a:buClr>
              <a:buSzPts val="2200"/>
              <a:buFont typeface="Arial"/>
              <a:buNone/>
            </a:pPr>
            <a:r>
              <a:rPr lang="en-US" sz="2200" b="0" i="1" u="none" strike="noStrike" cap="none">
                <a:solidFill>
                  <a:srgbClr val="000000"/>
                </a:solidFill>
                <a:latin typeface="Times New Roman"/>
                <a:ea typeface="Times New Roman"/>
                <a:cs typeface="Times New Roman"/>
                <a:sym typeface="Times New Roman"/>
              </a:rPr>
              <a:t>                                             Example- Customers Acc</a:t>
            </a:r>
            <a:endParaRPr sz="2200" b="0" i="1" u="none" strike="noStrike" cap="none">
              <a:solidFill>
                <a:srgbClr val="000000"/>
              </a:solidFill>
              <a:latin typeface="Times New Roman"/>
              <a:ea typeface="Times New Roman"/>
              <a:cs typeface="Times New Roman"/>
              <a:sym typeface="Times New Roman"/>
            </a:endParaRPr>
          </a:p>
          <a:p>
            <a:pPr marL="110490" marR="0" lvl="8" indent="0" algn="l" rtl="0">
              <a:lnSpc>
                <a:spcPct val="89272"/>
              </a:lnSpc>
              <a:spcBef>
                <a:spcPts val="0"/>
              </a:spcBef>
              <a:spcAft>
                <a:spcPts val="0"/>
              </a:spcAft>
              <a:buClr>
                <a:srgbClr val="000000"/>
              </a:buClr>
              <a:buSzPts val="2200"/>
              <a:buFont typeface="Arial"/>
              <a:buNone/>
            </a:pPr>
            <a:endParaRPr sz="2200" b="0" i="0" u="none" strike="noStrike" cap="none">
              <a:solidFill>
                <a:srgbClr val="000000"/>
              </a:solidFill>
              <a:latin typeface="Times New Roman"/>
              <a:ea typeface="Times New Roman"/>
              <a:cs typeface="Times New Roman"/>
              <a:sym typeface="Times New Roman"/>
            </a:endParaRPr>
          </a:p>
          <a:p>
            <a:pPr marL="110490" marR="0" lvl="8" indent="0" algn="l" rtl="0">
              <a:lnSpc>
                <a:spcPct val="89272"/>
              </a:lnSpc>
              <a:spcBef>
                <a:spcPts val="0"/>
              </a:spcBef>
              <a:spcAft>
                <a:spcPts val="0"/>
              </a:spcAft>
              <a:buClr>
                <a:srgbClr val="000000"/>
              </a:buClr>
              <a:buSzPts val="2200"/>
              <a:buFont typeface="Arial"/>
              <a:buNone/>
            </a:pPr>
            <a:endParaRPr sz="2200" b="0" i="0" u="none" strike="noStrike" cap="none">
              <a:solidFill>
                <a:srgbClr val="000000"/>
              </a:solidFill>
              <a:latin typeface="Times New Roman"/>
              <a:ea typeface="Times New Roman"/>
              <a:cs typeface="Times New Roman"/>
              <a:sym typeface="Times New Roman"/>
            </a:endParaRPr>
          </a:p>
          <a:p>
            <a:pPr marL="110490" marR="0" lvl="8" indent="0" algn="l" rtl="0">
              <a:lnSpc>
                <a:spcPct val="89272"/>
              </a:lnSpc>
              <a:spcBef>
                <a:spcPts val="0"/>
              </a:spcBef>
              <a:spcAft>
                <a:spcPts val="0"/>
              </a:spcAft>
              <a:buClr>
                <a:srgbClr val="000000"/>
              </a:buClr>
              <a:buSzPts val="2200"/>
              <a:buFont typeface="Arial"/>
              <a:buNone/>
            </a:pPr>
            <a:r>
              <a:rPr lang="en-US" sz="2200" b="1" i="0" u="none" strike="noStrike" cap="none">
                <a:solidFill>
                  <a:srgbClr val="000000"/>
                </a:solidFill>
                <a:latin typeface="Times New Roman"/>
                <a:ea typeface="Times New Roman"/>
                <a:cs typeface="Times New Roman"/>
                <a:sym typeface="Times New Roman"/>
              </a:rPr>
              <a:t>           Physical Schema: </a:t>
            </a:r>
            <a:r>
              <a:rPr lang="en-US" sz="2200" b="1" i="1" u="sng" strike="noStrike" cap="none">
                <a:solidFill>
                  <a:srgbClr val="1154CC"/>
                </a:solidFill>
                <a:latin typeface="Times New Roman"/>
                <a:ea typeface="Times New Roman"/>
                <a:cs typeface="Times New Roman"/>
                <a:sym typeface="Times New Roman"/>
              </a:rPr>
              <a:t>Physical structure</a:t>
            </a:r>
            <a:r>
              <a:rPr lang="en-US" sz="2200" b="1" i="1" u="none" strike="noStrike" cap="none">
                <a:solidFill>
                  <a:srgbClr val="1154CC"/>
                </a:solidFill>
                <a:latin typeface="Times New Roman"/>
                <a:ea typeface="Times New Roman"/>
                <a:cs typeface="Times New Roman"/>
                <a:sym typeface="Times New Roman"/>
              </a:rPr>
              <a:t> </a:t>
            </a:r>
            <a:r>
              <a:rPr lang="en-US" sz="2200" b="0" i="1" u="none" strike="noStrike" cap="none">
                <a:solidFill>
                  <a:srgbClr val="000000"/>
                </a:solidFill>
                <a:latin typeface="Times New Roman"/>
                <a:ea typeface="Times New Roman"/>
                <a:cs typeface="Times New Roman"/>
                <a:sym typeface="Times New Roman"/>
              </a:rPr>
              <a:t>of DB </a:t>
            </a:r>
            <a:endParaRPr sz="1400" b="0" i="0" u="none" strike="noStrike" cap="none">
              <a:solidFill>
                <a:srgbClr val="000000"/>
              </a:solidFill>
              <a:latin typeface="Arial"/>
              <a:ea typeface="Arial"/>
              <a:cs typeface="Arial"/>
              <a:sym typeface="Arial"/>
            </a:endParaRPr>
          </a:p>
          <a:p>
            <a:pPr marL="110490" marR="0" lvl="8" indent="0" algn="l" rtl="0">
              <a:lnSpc>
                <a:spcPct val="89272"/>
              </a:lnSpc>
              <a:spcBef>
                <a:spcPts val="0"/>
              </a:spcBef>
              <a:spcAft>
                <a:spcPts val="0"/>
              </a:spcAft>
              <a:buClr>
                <a:srgbClr val="000000"/>
              </a:buClr>
              <a:buSzPts val="2200"/>
              <a:buFont typeface="Arial"/>
              <a:buNone/>
            </a:pPr>
            <a:r>
              <a:rPr lang="en-US" sz="2200" b="0" i="1" u="none" strike="noStrike" cap="none">
                <a:solidFill>
                  <a:srgbClr val="000000"/>
                </a:solidFill>
                <a:latin typeface="Times New Roman"/>
                <a:ea typeface="Times New Roman"/>
                <a:cs typeface="Times New Roman"/>
                <a:sym typeface="Times New Roman"/>
              </a:rPr>
              <a:t>                                              Example- Files</a:t>
            </a:r>
            <a:endParaRPr sz="22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195" name="Google Shape;195;p17"/>
          <p:cNvSpPr/>
          <p:nvPr/>
        </p:nvSpPr>
        <p:spPr>
          <a:xfrm>
            <a:off x="481781" y="1211642"/>
            <a:ext cx="8033569" cy="4961230"/>
          </a:xfrm>
          <a:prstGeom prst="rect">
            <a:avLst/>
          </a:prstGeom>
          <a:noFill/>
          <a:ln>
            <a:noFill/>
          </a:ln>
        </p:spPr>
        <p:txBody>
          <a:bodyPr spcFirstLastPara="1" wrap="square" lIns="91425" tIns="45700" rIns="91425" bIns="45700" anchor="t" anchorCtr="0">
            <a:noAutofit/>
          </a:bodyPr>
          <a:lstStyle/>
          <a:p>
            <a:pPr marL="110490" marR="0" lvl="0" indent="0" algn="l" rtl="0">
              <a:lnSpc>
                <a:spcPct val="81833"/>
              </a:lnSpc>
              <a:spcBef>
                <a:spcPts val="0"/>
              </a:spcBef>
              <a:spcAft>
                <a:spcPts val="0"/>
              </a:spcAft>
              <a:buClr>
                <a:srgbClr val="000000"/>
              </a:buClr>
              <a:buSzPts val="2400"/>
              <a:buFont typeface="Arial"/>
              <a:buNone/>
            </a:pPr>
            <a:r>
              <a:rPr lang="en-US" sz="2400" b="1" i="0" u="none" strike="noStrike" cap="none">
                <a:solidFill>
                  <a:srgbClr val="FF0000"/>
                </a:solidFill>
                <a:latin typeface="Times New Roman"/>
                <a:ea typeface="Times New Roman"/>
                <a:cs typeface="Times New Roman"/>
                <a:sym typeface="Times New Roman"/>
              </a:rPr>
              <a:t>Data Independence</a:t>
            </a:r>
            <a:endParaRPr sz="1400" b="0" i="0" u="none" strike="noStrike" cap="none">
              <a:solidFill>
                <a:srgbClr val="000000"/>
              </a:solidFill>
              <a:latin typeface="Arial"/>
              <a:ea typeface="Arial"/>
              <a:cs typeface="Arial"/>
              <a:sym typeface="Arial"/>
            </a:endParaRPr>
          </a:p>
          <a:p>
            <a:pPr marL="110490" marR="0" lvl="0" indent="0" algn="l" rtl="0">
              <a:lnSpc>
                <a:spcPct val="81833"/>
              </a:lnSpc>
              <a:spcBef>
                <a:spcPts val="0"/>
              </a:spcBef>
              <a:spcAft>
                <a:spcPts val="0"/>
              </a:spcAft>
              <a:buClr>
                <a:srgbClr val="000000"/>
              </a:buClr>
              <a:buSzPts val="2400"/>
              <a:buFont typeface="Arial"/>
              <a:buNone/>
            </a:pPr>
            <a:endParaRPr sz="2400" b="1" i="0" u="none" strike="noStrike" cap="none">
              <a:solidFill>
                <a:srgbClr val="FF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FF0000"/>
              </a:solidFill>
              <a:latin typeface="Times New Roman"/>
              <a:ea typeface="Times New Roman"/>
              <a:cs typeface="Times New Roman"/>
              <a:sym typeface="Times New Roman"/>
            </a:endParaRPr>
          </a:p>
          <a:p>
            <a:pPr marL="110490" marR="0" lvl="0" indent="0" algn="just" rtl="0">
              <a:lnSpc>
                <a:spcPct val="81833"/>
              </a:lnSpc>
              <a:spcBef>
                <a:spcPts val="0"/>
              </a:spcBef>
              <a:spcAft>
                <a:spcPts val="0"/>
              </a:spcAft>
              <a:buClr>
                <a:srgbClr val="000000"/>
              </a:buClr>
              <a:buSzPts val="2400"/>
              <a:buFont typeface="Arial"/>
              <a:buNone/>
            </a:pPr>
            <a:r>
              <a:rPr lang="en-US" sz="2400" b="1" i="0" u="none" strike="noStrike" cap="none">
                <a:solidFill>
                  <a:srgbClr val="00B0F0"/>
                </a:solidFill>
                <a:latin typeface="Times New Roman"/>
                <a:ea typeface="Times New Roman"/>
                <a:cs typeface="Times New Roman"/>
                <a:sym typeface="Times New Roman"/>
              </a:rPr>
              <a:t>Logical Data Independence </a:t>
            </a:r>
            <a:r>
              <a:rPr lang="en-US" sz="2400" b="1" i="0" u="none" strike="noStrike" cap="none">
                <a:solidFill>
                  <a:srgbClr val="000000"/>
                </a:solidFill>
                <a:latin typeface="Times New Roman"/>
                <a:ea typeface="Times New Roman"/>
                <a:cs typeface="Times New Roman"/>
                <a:sym typeface="Times New Roman"/>
              </a:rPr>
              <a:t>:</a:t>
            </a:r>
            <a:r>
              <a:rPr lang="en-US" sz="2400" b="0" i="0" u="none" strike="noStrike" cap="none">
                <a:solidFill>
                  <a:srgbClr val="000000"/>
                </a:solidFill>
                <a:latin typeface="Times New Roman"/>
                <a:ea typeface="Times New Roman"/>
                <a:cs typeface="Times New Roman"/>
                <a:sym typeface="Times New Roman"/>
              </a:rPr>
              <a:t>Ability to modify the logical  schema without affecting the  external schema/application  program</a:t>
            </a: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B0F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r>
              <a:rPr lang="en-US" sz="2400" b="1" i="0" u="none" strike="noStrike" cap="none">
                <a:solidFill>
                  <a:srgbClr val="00B0F0"/>
                </a:solidFill>
                <a:latin typeface="Times New Roman"/>
                <a:ea typeface="Times New Roman"/>
                <a:cs typeface="Times New Roman"/>
                <a:sym typeface="Times New Roman"/>
              </a:rPr>
              <a:t>Physical Data Independence</a:t>
            </a:r>
            <a:endParaRPr sz="2400" b="0" i="0" u="none" strike="noStrike" cap="none">
              <a:solidFill>
                <a:srgbClr val="00B0F0"/>
              </a:solidFill>
              <a:latin typeface="Times New Roman"/>
              <a:ea typeface="Times New Roman"/>
              <a:cs typeface="Times New Roman"/>
              <a:sym typeface="Times New Roman"/>
            </a:endParaRPr>
          </a:p>
          <a:p>
            <a:pPr marL="12700" marR="5080" lvl="0" indent="0" algn="just" rtl="0">
              <a:lnSpc>
                <a:spcPct val="101600"/>
              </a:lnSpc>
              <a:spcBef>
                <a:spcPts val="7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Ability to modify the physical  schema without changing the  logical schema. </a:t>
            </a:r>
            <a:endParaRPr sz="2400" b="0" i="0" u="none" strike="noStrike" cap="none">
              <a:solidFill>
                <a:srgbClr val="000000"/>
              </a:solidFill>
              <a:latin typeface="Times New Roman"/>
              <a:ea typeface="Times New Roman"/>
              <a:cs typeface="Times New Roman"/>
              <a:sym typeface="Times New Roman"/>
            </a:endParaRPr>
          </a:p>
          <a:p>
            <a:pPr marL="558900" marR="5080" lvl="0" indent="-342900" algn="just" rtl="0">
              <a:lnSpc>
                <a:spcPct val="101600"/>
              </a:lnSpc>
              <a:spcBef>
                <a:spcPts val="70"/>
              </a:spcBef>
              <a:spcAft>
                <a:spcPts val="0"/>
              </a:spcAft>
              <a:buClr>
                <a:srgbClr val="000000"/>
              </a:buClr>
              <a:buSzPts val="2000"/>
              <a:buFont typeface="Arial"/>
              <a:buChar char="•"/>
            </a:pPr>
            <a:r>
              <a:rPr lang="en-US" sz="2000" b="0" i="0" u="none" strike="noStrike" cap="none">
                <a:solidFill>
                  <a:srgbClr val="000000"/>
                </a:solidFill>
                <a:latin typeface="Times New Roman"/>
                <a:ea typeface="Times New Roman"/>
                <a:cs typeface="Times New Roman"/>
                <a:sym typeface="Times New Roman"/>
              </a:rPr>
              <a:t>Applications depend on the logical schema</a:t>
            </a:r>
            <a:endParaRPr sz="1400" b="0" i="0" u="none" strike="noStrike" cap="none">
              <a:solidFill>
                <a:srgbClr val="000000"/>
              </a:solidFill>
              <a:latin typeface="Arial"/>
              <a:ea typeface="Arial"/>
              <a:cs typeface="Arial"/>
              <a:sym typeface="Arial"/>
            </a:endParaRPr>
          </a:p>
          <a:p>
            <a:pPr marL="558900" marR="5080" lvl="0" indent="-342900" algn="just" rtl="0">
              <a:lnSpc>
                <a:spcPct val="101600"/>
              </a:lnSpc>
              <a:spcBef>
                <a:spcPts val="70"/>
              </a:spcBef>
              <a:spcAft>
                <a:spcPts val="0"/>
              </a:spcAft>
              <a:buClr>
                <a:srgbClr val="000000"/>
              </a:buClr>
              <a:buSzPts val="2000"/>
              <a:buFont typeface="Arial"/>
              <a:buChar char="•"/>
            </a:pPr>
            <a:r>
              <a:rPr lang="en-US" sz="2000" b="0" i="0" u="none" strike="noStrike" cap="none">
                <a:solidFill>
                  <a:srgbClr val="000000"/>
                </a:solidFill>
                <a:latin typeface="Times New Roman"/>
                <a:ea typeface="Times New Roman"/>
                <a:cs typeface="Times New Roman"/>
                <a:sym typeface="Times New Roman"/>
              </a:rPr>
              <a:t> In general, the interfaces between the various levels and components should be well defined so that changes in some parts do not seriously influence others.</a:t>
            </a:r>
            <a:endParaRPr sz="20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110490" marR="0" lvl="0" indent="0" algn="l" rtl="0">
              <a:lnSpc>
                <a:spcPct val="81833"/>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04" y="1283760"/>
            <a:ext cx="8989996" cy="4433646"/>
          </a:xfrm>
          <a:prstGeom prst="rect">
            <a:avLst/>
          </a:prstGeom>
        </p:spPr>
      </p:pic>
    </p:spTree>
    <p:extLst>
      <p:ext uri="{BB962C8B-B14F-4D97-AF65-F5344CB8AC3E}">
        <p14:creationId xmlns:p14="http://schemas.microsoft.com/office/powerpoint/2010/main" val="327916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9"/>
          <p:cNvSpPr txBox="1">
            <a:spLocks noGrp="1"/>
          </p:cNvSpPr>
          <p:nvPr>
            <p:ph type="title"/>
          </p:nvPr>
        </p:nvSpPr>
        <p:spPr>
          <a:xfrm>
            <a:off x="628650" y="742813"/>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600"/>
              <a:t>Relational Databases</a:t>
            </a:r>
            <a:endParaRPr/>
          </a:p>
        </p:txBody>
      </p:sp>
      <p:sp>
        <p:nvSpPr>
          <p:cNvPr id="201" name="Google Shape;201;p1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A relational database is based on the relational model and uses a collection of tables to represent both data and the relationships among those data.</a:t>
            </a:r>
            <a:endParaRPr/>
          </a:p>
          <a:p>
            <a:pPr marL="914400" lvl="1" indent="-342900" algn="l" rtl="0">
              <a:lnSpc>
                <a:spcPct val="90000"/>
              </a:lnSpc>
              <a:spcBef>
                <a:spcPts val="500"/>
              </a:spcBef>
              <a:spcAft>
                <a:spcPts val="0"/>
              </a:spcAft>
              <a:buSzPts val="1800"/>
              <a:buFont typeface="Noto Sans Symbols"/>
              <a:buChar char="⮚"/>
            </a:pPr>
            <a:r>
              <a:rPr lang="en-US"/>
              <a:t>Tables</a:t>
            </a:r>
            <a:endParaRPr/>
          </a:p>
          <a:p>
            <a:pPr marL="914400" lvl="1" indent="-342900" algn="l" rtl="0">
              <a:lnSpc>
                <a:spcPct val="90000"/>
              </a:lnSpc>
              <a:spcBef>
                <a:spcPts val="500"/>
              </a:spcBef>
              <a:spcAft>
                <a:spcPts val="0"/>
              </a:spcAft>
              <a:buSzPts val="1800"/>
              <a:buFont typeface="Noto Sans Symbols"/>
              <a:buChar char="⮚"/>
            </a:pPr>
            <a:r>
              <a:rPr lang="en-US"/>
              <a:t>Data-Manipulation Language</a:t>
            </a:r>
            <a:endParaRPr/>
          </a:p>
          <a:p>
            <a:pPr marL="914400" lvl="1" indent="-342900" algn="l" rtl="0">
              <a:lnSpc>
                <a:spcPct val="90000"/>
              </a:lnSpc>
              <a:spcBef>
                <a:spcPts val="500"/>
              </a:spcBef>
              <a:spcAft>
                <a:spcPts val="0"/>
              </a:spcAft>
              <a:buSzPts val="1800"/>
              <a:buFont typeface="Noto Sans Symbols"/>
              <a:buChar char="⮚"/>
            </a:pPr>
            <a:r>
              <a:rPr lang="en-US"/>
              <a:t>Data-Definition Language</a:t>
            </a:r>
            <a:endParaRPr/>
          </a:p>
        </p:txBody>
      </p:sp>
      <p:sp>
        <p:nvSpPr>
          <p:cNvPr id="202" name="Google Shape;202;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0"/>
          <p:cNvSpPr txBox="1">
            <a:spLocks noGrp="1"/>
          </p:cNvSpPr>
          <p:nvPr>
            <p:ph type="title"/>
          </p:nvPr>
        </p:nvSpPr>
        <p:spPr>
          <a:xfrm>
            <a:off x="628650" y="625889"/>
            <a:ext cx="7886700" cy="1325563"/>
          </a:xfrm>
          <a:prstGeom prst="rect">
            <a:avLst/>
          </a:prstGeom>
          <a:noFill/>
          <a:ln>
            <a:noFill/>
          </a:ln>
        </p:spPr>
        <p:txBody>
          <a:bodyPr spcFirstLastPara="1" wrap="square" lIns="91425" tIns="45700" rIns="91425" bIns="45700" anchor="ctr" anchorCtr="0">
            <a:normAutofit/>
          </a:bodyPr>
          <a:lstStyle/>
          <a:p>
            <a:pPr marL="0" lvl="1" indent="0" algn="l" rtl="0">
              <a:lnSpc>
                <a:spcPct val="90000"/>
              </a:lnSpc>
              <a:spcBef>
                <a:spcPts val="0"/>
              </a:spcBef>
              <a:spcAft>
                <a:spcPts val="0"/>
              </a:spcAft>
              <a:buClr>
                <a:schemeClr val="dk1"/>
              </a:buClr>
              <a:buSzPts val="1800"/>
              <a:buNone/>
            </a:pPr>
            <a:r>
              <a:rPr lang="en-US" sz="3600">
                <a:latin typeface="Times New Roman"/>
                <a:ea typeface="Times New Roman"/>
                <a:cs typeface="Times New Roman"/>
                <a:sym typeface="Times New Roman"/>
              </a:rPr>
              <a:t>Data-Definition Language</a:t>
            </a:r>
            <a:endParaRPr sz="3600">
              <a:latin typeface="Times New Roman"/>
              <a:ea typeface="Times New Roman"/>
              <a:cs typeface="Times New Roman"/>
              <a:sym typeface="Times New Roman"/>
            </a:endParaRPr>
          </a:p>
        </p:txBody>
      </p:sp>
      <p:sp>
        <p:nvSpPr>
          <p:cNvPr id="208" name="Google Shape;208;p20"/>
          <p:cNvSpPr txBox="1">
            <a:spLocks noGrp="1"/>
          </p:cNvSpPr>
          <p:nvPr>
            <p:ph type="body" idx="1"/>
          </p:nvPr>
        </p:nvSpPr>
        <p:spPr>
          <a:xfrm>
            <a:off x="628650" y="1527451"/>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Specification notation for defining the database schema </a:t>
            </a:r>
            <a:endParaRPr sz="24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Example: create table instructor (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ID char(5),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name varchar(20),</a:t>
            </a:r>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dept_name varchar(20), </a:t>
            </a:r>
            <a:endParaRPr sz="2400">
              <a:latin typeface="Times New Roman"/>
              <a:ea typeface="Times New Roman"/>
              <a:cs typeface="Times New Roman"/>
              <a:sym typeface="Times New Roman"/>
            </a:endParaRPr>
          </a:p>
          <a:p>
            <a:pPr marL="11430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salary numeric(8,2)) </a:t>
            </a:r>
            <a:endParaRPr sz="24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DDL compiler generates a set of table templates stored in a data dictionary</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Data dictionary contains metadata (i.e., data about data)</a:t>
            </a:r>
            <a:endParaRPr/>
          </a:p>
        </p:txBody>
      </p:sp>
      <p:sp>
        <p:nvSpPr>
          <p:cNvPr id="209" name="Google Shape;209;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61087"/>
            <a:ext cx="7886700" cy="1325563"/>
          </a:xfrm>
        </p:spPr>
        <p:txBody>
          <a:bodyPr/>
          <a:lstStyle/>
          <a:p>
            <a:r>
              <a:rPr lang="en-US" sz="2400" b="1" dirty="0">
                <a:solidFill>
                  <a:srgbClr val="FF0000"/>
                </a:solidFill>
                <a:latin typeface="Times New Roman"/>
                <a:ea typeface="Times New Roman"/>
                <a:cs typeface="Times New Roman"/>
              </a:rPr>
              <a:t>DDL</a:t>
            </a:r>
            <a:r>
              <a:rPr lang="en-US" dirty="0" smtClean="0"/>
              <a:t> </a:t>
            </a:r>
            <a:r>
              <a:rPr lang="en-US" sz="2400" b="1" dirty="0">
                <a:solidFill>
                  <a:srgbClr val="FF0000"/>
                </a:solidFill>
                <a:latin typeface="Times New Roman"/>
                <a:ea typeface="Times New Roman"/>
                <a:cs typeface="Times New Roman"/>
              </a:rPr>
              <a:t>Command</a:t>
            </a:r>
            <a:endParaRPr lang="en-IN" sz="2400" b="1" dirty="0">
              <a:solidFill>
                <a:srgbClr val="FF0000"/>
              </a:solidFill>
              <a:latin typeface="Times New Roman"/>
              <a:ea typeface="Times New Roman"/>
              <a:cs typeface="Times New Roman"/>
            </a:endParaRPr>
          </a:p>
        </p:txBody>
      </p:sp>
      <p:sp>
        <p:nvSpPr>
          <p:cNvPr id="4" name="Text Placeholder 3"/>
          <p:cNvSpPr>
            <a:spLocks noGrp="1"/>
          </p:cNvSpPr>
          <p:nvPr>
            <p:ph type="body" idx="2"/>
          </p:nvPr>
        </p:nvSpPr>
        <p:spPr>
          <a:xfrm>
            <a:off x="531018" y="1777509"/>
            <a:ext cx="3868340" cy="3814768"/>
          </a:xfrm>
        </p:spPr>
        <p:txBody>
          <a:bodyPr/>
          <a:lstStyle/>
          <a:p>
            <a:r>
              <a:rPr lang="en-US" sz="2000" dirty="0">
                <a:latin typeface="Times New Roman"/>
                <a:ea typeface="Times New Roman"/>
                <a:cs typeface="Times New Roman"/>
                <a:sym typeface="Times New Roman"/>
              </a:rPr>
              <a:t>CREATE:</a:t>
            </a:r>
          </a:p>
          <a:p>
            <a:pPr marL="114300" indent="0">
              <a:buNone/>
            </a:pPr>
            <a:r>
              <a:rPr lang="en-US" sz="1800" dirty="0">
                <a:latin typeface="Times New Roman" panose="02020603050405020304" pitchFamily="18" charset="0"/>
                <a:cs typeface="Times New Roman" panose="02020603050405020304" pitchFamily="18" charset="0"/>
              </a:rPr>
              <a:t>CREATE TABLE </a:t>
            </a:r>
            <a:r>
              <a:rPr lang="en-US" sz="1800" i="1" dirty="0" err="1">
                <a:latin typeface="Times New Roman" panose="02020603050405020304" pitchFamily="18" charset="0"/>
                <a:cs typeface="Times New Roman" panose="02020603050405020304" pitchFamily="18" charset="0"/>
              </a:rPr>
              <a:t>table_name</a:t>
            </a:r>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    column1 </a:t>
            </a:r>
            <a:r>
              <a:rPr lang="en-US" sz="1800" i="1" dirty="0" err="1">
                <a:latin typeface="Times New Roman" panose="02020603050405020304" pitchFamily="18" charset="0"/>
                <a:cs typeface="Times New Roman" panose="02020603050405020304" pitchFamily="18" charset="0"/>
              </a:rPr>
              <a:t>datatype</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    column2 </a:t>
            </a:r>
            <a:r>
              <a:rPr lang="en-US" sz="1800" i="1" dirty="0" err="1">
                <a:latin typeface="Times New Roman" panose="02020603050405020304" pitchFamily="18" charset="0"/>
                <a:cs typeface="Times New Roman" panose="02020603050405020304" pitchFamily="18" charset="0"/>
              </a:rPr>
              <a:t>datatype</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    column3 </a:t>
            </a:r>
            <a:r>
              <a:rPr lang="en-US" sz="1800" i="1" dirty="0" err="1">
                <a:latin typeface="Times New Roman" panose="02020603050405020304" pitchFamily="18" charset="0"/>
                <a:cs typeface="Times New Roman" panose="02020603050405020304" pitchFamily="18" charset="0"/>
              </a:rPr>
              <a:t>datatype</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a:t>
            </a:r>
          </a:p>
          <a:p>
            <a:pPr marL="114300" indent="0">
              <a:buNone/>
            </a:pPr>
            <a:endParaRPr lang="en-US" sz="1800" dirty="0" smtClean="0">
              <a:latin typeface="Times New Roman" panose="02020603050405020304" pitchFamily="18" charset="0"/>
              <a:cs typeface="Times New Roman" panose="02020603050405020304" pitchFamily="18" charset="0"/>
            </a:endParaRPr>
          </a:p>
          <a:p>
            <a:r>
              <a:rPr lang="en-US" sz="2000" dirty="0">
                <a:latin typeface="Times New Roman"/>
                <a:ea typeface="Times New Roman"/>
                <a:cs typeface="Times New Roman"/>
                <a:sym typeface="Times New Roman"/>
              </a:rPr>
              <a:t>DROP:</a:t>
            </a:r>
          </a:p>
          <a:p>
            <a:pPr marL="114300" indent="0">
              <a:buNone/>
            </a:pPr>
            <a:r>
              <a:rPr lang="en-IN" sz="1800" dirty="0"/>
              <a:t>DROP TABLE </a:t>
            </a:r>
            <a:r>
              <a:rPr lang="en-IN" sz="1800" i="1" dirty="0" err="1"/>
              <a:t>table_name</a:t>
            </a:r>
            <a:r>
              <a:rPr lang="en-IN" sz="1800" dirty="0"/>
              <a:t>;</a:t>
            </a:r>
            <a:endParaRPr lang="en-US" sz="1800" dirty="0">
              <a:latin typeface="Times New Roman" panose="02020603050405020304" pitchFamily="18" charset="0"/>
              <a:cs typeface="Times New Roman" panose="02020603050405020304" pitchFamily="18" charset="0"/>
            </a:endParaRPr>
          </a:p>
          <a:p>
            <a:endParaRPr lang="en-IN" dirty="0"/>
          </a:p>
        </p:txBody>
      </p:sp>
      <p:sp>
        <p:nvSpPr>
          <p:cNvPr id="6" name="Text Placeholder 5"/>
          <p:cNvSpPr>
            <a:spLocks noGrp="1"/>
          </p:cNvSpPr>
          <p:nvPr>
            <p:ph type="body" idx="4"/>
          </p:nvPr>
        </p:nvSpPr>
        <p:spPr>
          <a:xfrm>
            <a:off x="4572000" y="1564481"/>
            <a:ext cx="3887391" cy="3684588"/>
          </a:xfrm>
        </p:spPr>
        <p:txBody>
          <a:bodyPr/>
          <a:lstStyle/>
          <a:p>
            <a:pPr>
              <a:buFont typeface="Arial" panose="020B0604020202020204" pitchFamily="34" charset="0"/>
              <a:buChar char="•"/>
            </a:pPr>
            <a:r>
              <a:rPr lang="en-US" sz="2000" dirty="0">
                <a:latin typeface="Times New Roman"/>
                <a:ea typeface="Times New Roman"/>
                <a:cs typeface="Times New Roman"/>
                <a:sym typeface="Times New Roman"/>
              </a:rPr>
              <a:t>ALTER:</a:t>
            </a:r>
          </a:p>
          <a:p>
            <a:pPr marL="114300" indent="0">
              <a:buNone/>
            </a:pPr>
            <a:r>
              <a:rPr lang="en-US" sz="1800" dirty="0">
                <a:latin typeface="Times New Roman" panose="02020603050405020304" pitchFamily="18" charset="0"/>
                <a:cs typeface="Times New Roman" panose="02020603050405020304" pitchFamily="18" charset="0"/>
              </a:rPr>
              <a:t>ALTER TABLE </a:t>
            </a:r>
            <a:r>
              <a:rPr lang="en-US" sz="1800" dirty="0" err="1">
                <a:latin typeface="Times New Roman" panose="02020603050405020304" pitchFamily="18" charset="0"/>
                <a:cs typeface="Times New Roman" panose="02020603050405020304" pitchFamily="18" charset="0"/>
              </a:rPr>
              <a:t>table_name</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ADD </a:t>
            </a:r>
            <a:r>
              <a:rPr lang="en-US" sz="1800" dirty="0" err="1">
                <a:latin typeface="Times New Roman" panose="02020603050405020304" pitchFamily="18" charset="0"/>
                <a:cs typeface="Times New Roman" panose="02020603050405020304" pitchFamily="18" charset="0"/>
              </a:rPr>
              <a:t>column_name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datatype</a:t>
            </a:r>
            <a:r>
              <a:rPr lang="en-US" sz="1800" dirty="0" smtClean="0">
                <a:latin typeface="Times New Roman" panose="02020603050405020304" pitchFamily="18" charset="0"/>
                <a:cs typeface="Times New Roman" panose="02020603050405020304" pitchFamily="18" charset="0"/>
              </a:rPr>
              <a:t>;</a:t>
            </a:r>
          </a:p>
          <a:p>
            <a:pPr marL="114300" indent="0">
              <a:buNone/>
            </a:pPr>
            <a:endParaRPr lang="en-US" sz="18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a:ea typeface="Times New Roman"/>
                <a:cs typeface="Times New Roman"/>
                <a:sym typeface="Times New Roman"/>
              </a:rPr>
              <a:t>TRUNCATE:</a:t>
            </a:r>
          </a:p>
          <a:p>
            <a:pPr marL="114300" indent="0">
              <a:buNone/>
            </a:pPr>
            <a:r>
              <a:rPr lang="en-IN" sz="1800" dirty="0"/>
              <a:t>TRUNCATE TABLE </a:t>
            </a:r>
            <a:r>
              <a:rPr lang="en-IN" sz="1800" dirty="0" err="1" smtClean="0"/>
              <a:t>table_name</a:t>
            </a:r>
            <a:r>
              <a:rPr lang="en-IN" sz="1800" dirty="0" smtClean="0"/>
              <a:t>;</a:t>
            </a: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endParaRPr lang="en-IN" sz="1800" dirty="0">
              <a:latin typeface="Times New Roman" panose="02020603050405020304" pitchFamily="18" charset="0"/>
              <a:cs typeface="Times New Roman" panose="02020603050405020304" pitchFamily="18" charset="0"/>
            </a:endParaRPr>
          </a:p>
          <a:p>
            <a:endParaRPr lang="en-IN" dirty="0"/>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31540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7888"/>
            <a:ext cx="7886700" cy="1325563"/>
          </a:xfrm>
        </p:spPr>
        <p:txBody>
          <a:bodyPr/>
          <a:lstStyle/>
          <a:p>
            <a:r>
              <a:rPr lang="en-US" dirty="0" smtClean="0"/>
              <a:t>Create </a:t>
            </a:r>
            <a:endParaRPr lang="en-IN" dirty="0"/>
          </a:p>
        </p:txBody>
      </p:sp>
      <p:sp>
        <p:nvSpPr>
          <p:cNvPr id="3" name="Text Placeholder 2"/>
          <p:cNvSpPr>
            <a:spLocks noGrp="1"/>
          </p:cNvSpPr>
          <p:nvPr>
            <p:ph type="body" idx="1"/>
          </p:nvPr>
        </p:nvSpPr>
        <p:spPr/>
        <p:txBody>
          <a:bodyPr>
            <a:normAutofit fontScale="85000" lnSpcReduction="20000"/>
          </a:bodyPr>
          <a:lstStyle/>
          <a:p>
            <a:r>
              <a:rPr lang="en-US" sz="3300" dirty="0" smtClean="0">
                <a:solidFill>
                  <a:srgbClr val="FF0000"/>
                </a:solidFill>
              </a:rPr>
              <a:t>Step 1:</a:t>
            </a:r>
          </a:p>
          <a:p>
            <a:pPr marL="114300" indent="0">
              <a:buNone/>
            </a:pPr>
            <a:r>
              <a:rPr lang="en-IN" sz="2600" dirty="0" smtClean="0"/>
              <a:t>&gt;SHOW </a:t>
            </a:r>
            <a:r>
              <a:rPr lang="en-IN" sz="2600" dirty="0"/>
              <a:t>DATABASES</a:t>
            </a:r>
            <a:r>
              <a:rPr lang="en-IN" sz="2600" dirty="0" smtClean="0"/>
              <a:t>;</a:t>
            </a:r>
            <a:endParaRPr lang="en-IN" sz="2600" dirty="0"/>
          </a:p>
          <a:p>
            <a:pPr marL="114300" indent="0">
              <a:buNone/>
            </a:pPr>
            <a:r>
              <a:rPr lang="en-IN" sz="2600" dirty="0"/>
              <a:t>+--------------------+</a:t>
            </a:r>
          </a:p>
          <a:p>
            <a:pPr marL="114300" indent="0">
              <a:buNone/>
            </a:pPr>
            <a:r>
              <a:rPr lang="en-IN" sz="2600" dirty="0"/>
              <a:t>| Database           |</a:t>
            </a:r>
          </a:p>
          <a:p>
            <a:pPr marL="114300" indent="0">
              <a:buNone/>
            </a:pPr>
            <a:r>
              <a:rPr lang="en-IN" sz="2600" dirty="0"/>
              <a:t>+--------------------+</a:t>
            </a:r>
          </a:p>
          <a:p>
            <a:pPr marL="114300" indent="0">
              <a:buNone/>
            </a:pPr>
            <a:r>
              <a:rPr lang="en-IN" sz="2600" dirty="0"/>
              <a:t>| </a:t>
            </a:r>
            <a:r>
              <a:rPr lang="en-IN" sz="2600" dirty="0" err="1"/>
              <a:t>CollegeDB</a:t>
            </a:r>
            <a:r>
              <a:rPr lang="en-IN" sz="2600" dirty="0"/>
              <a:t>          |</a:t>
            </a:r>
          </a:p>
          <a:p>
            <a:pPr marL="114300" indent="0">
              <a:buNone/>
            </a:pPr>
            <a:r>
              <a:rPr lang="en-IN" sz="2600" dirty="0"/>
              <a:t>| </a:t>
            </a:r>
            <a:r>
              <a:rPr lang="en-IN" sz="2600" dirty="0" err="1"/>
              <a:t>information_schema</a:t>
            </a:r>
            <a:r>
              <a:rPr lang="en-IN" sz="2600" dirty="0"/>
              <a:t> |</a:t>
            </a:r>
          </a:p>
          <a:p>
            <a:pPr marL="114300" indent="0">
              <a:buNone/>
            </a:pPr>
            <a:r>
              <a:rPr lang="en-IN" sz="2600" dirty="0"/>
              <a:t>| </a:t>
            </a:r>
            <a:r>
              <a:rPr lang="en-IN" sz="2600" dirty="0" err="1"/>
              <a:t>mysql</a:t>
            </a:r>
            <a:r>
              <a:rPr lang="en-IN" sz="2600" dirty="0"/>
              <a:t>              |</a:t>
            </a:r>
          </a:p>
          <a:p>
            <a:pPr marL="114300" indent="0">
              <a:buNone/>
            </a:pPr>
            <a:r>
              <a:rPr lang="en-IN" sz="2600" dirty="0"/>
              <a:t>| </a:t>
            </a:r>
            <a:r>
              <a:rPr lang="en-IN" sz="2600" dirty="0" err="1"/>
              <a:t>performance_schema</a:t>
            </a:r>
            <a:r>
              <a:rPr lang="en-IN" sz="2600" dirty="0"/>
              <a:t> |</a:t>
            </a:r>
          </a:p>
          <a:p>
            <a:pPr marL="114300" indent="0">
              <a:buNone/>
            </a:pPr>
            <a:r>
              <a:rPr lang="en-IN" sz="2600" dirty="0"/>
              <a:t>| sys                |</a:t>
            </a:r>
          </a:p>
          <a:p>
            <a:pPr marL="114300" indent="0">
              <a:buNone/>
            </a:pPr>
            <a:r>
              <a:rPr lang="en-IN" dirty="0"/>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405131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5021" y="760396"/>
            <a:ext cx="3529463" cy="5168766"/>
          </a:xfrm>
        </p:spPr>
        <p:txBody>
          <a:bodyPr>
            <a:noAutofit/>
          </a:bodyPr>
          <a:lstStyle/>
          <a:p>
            <a:r>
              <a:rPr lang="en-US" sz="3600" dirty="0" smtClean="0">
                <a:solidFill>
                  <a:srgbClr val="FF0000"/>
                </a:solidFill>
                <a:latin typeface="Times New Roman" panose="02020603050405020304" pitchFamily="18" charset="0"/>
                <a:cs typeface="Times New Roman" panose="02020603050405020304" pitchFamily="18" charset="0"/>
              </a:rPr>
              <a:t>Step 2:</a:t>
            </a:r>
          </a:p>
          <a:p>
            <a:pPr marL="114300" indent="0">
              <a:buNone/>
            </a:pP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Create a database</a:t>
            </a:r>
          </a:p>
          <a:p>
            <a:pPr marL="114300" indent="0">
              <a:buNone/>
            </a:pPr>
            <a:r>
              <a:rPr lang="en-US" sz="2000" dirty="0" smtClean="0">
                <a:latin typeface="Times New Roman" panose="02020603050405020304" pitchFamily="18" charset="0"/>
                <a:cs typeface="Times New Roman" panose="02020603050405020304" pitchFamily="18" charset="0"/>
              </a:rPr>
              <a:t>&gt;CREATE </a:t>
            </a:r>
            <a:r>
              <a:rPr lang="en-US" sz="2000" dirty="0">
                <a:latin typeface="Times New Roman" panose="02020603050405020304" pitchFamily="18" charset="0"/>
                <a:cs typeface="Times New Roman" panose="02020603050405020304" pitchFamily="18" charset="0"/>
              </a:rPr>
              <a:t>DATABASE </a:t>
            </a:r>
            <a:r>
              <a:rPr lang="en-US" sz="2000" dirty="0" err="1">
                <a:latin typeface="Times New Roman" panose="02020603050405020304" pitchFamily="18" charset="0"/>
                <a:cs typeface="Times New Roman" panose="02020603050405020304" pitchFamily="18" charset="0"/>
              </a:rPr>
              <a:t>CollegeDB</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Select the database</a:t>
            </a:r>
          </a:p>
          <a:p>
            <a:pPr marL="114300" indent="0">
              <a:buNone/>
            </a:pPr>
            <a:r>
              <a:rPr lang="en-US" sz="2000" dirty="0" smtClean="0">
                <a:latin typeface="Times New Roman" panose="02020603050405020304" pitchFamily="18" charset="0"/>
                <a:cs typeface="Times New Roman" panose="02020603050405020304" pitchFamily="18" charset="0"/>
              </a:rPr>
              <a:t>&gt;USE </a:t>
            </a:r>
            <a:r>
              <a:rPr lang="en-US" sz="2000" dirty="0" err="1">
                <a:latin typeface="Times New Roman" panose="02020603050405020304" pitchFamily="18" charset="0"/>
                <a:cs typeface="Times New Roman" panose="02020603050405020304" pitchFamily="18" charset="0"/>
              </a:rPr>
              <a:t>CollegeDB</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14300" indent="0">
              <a:buNone/>
            </a:pP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Create a table</a:t>
            </a:r>
          </a:p>
          <a:p>
            <a:pPr marL="114300" indent="0">
              <a:buNone/>
            </a:pPr>
            <a:r>
              <a:rPr lang="en-US" sz="2000" dirty="0" smtClean="0">
                <a:latin typeface="Times New Roman" panose="02020603050405020304" pitchFamily="18" charset="0"/>
                <a:cs typeface="Times New Roman" panose="02020603050405020304" pitchFamily="18" charset="0"/>
              </a:rPr>
              <a:t>&gt;CREATE </a:t>
            </a:r>
            <a:r>
              <a:rPr lang="en-US" sz="2000" dirty="0">
                <a:latin typeface="Times New Roman" panose="02020603050405020304" pitchFamily="18" charset="0"/>
                <a:cs typeface="Times New Roman" panose="02020603050405020304" pitchFamily="18" charset="0"/>
              </a:rPr>
              <a:t>TABLE Student (</a:t>
            </a:r>
          </a:p>
          <a:p>
            <a:pPr marL="11430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StudentID</a:t>
            </a:r>
            <a:r>
              <a:rPr lang="en-US" sz="2000" dirty="0">
                <a:latin typeface="Times New Roman" panose="02020603050405020304" pitchFamily="18" charset="0"/>
                <a:cs typeface="Times New Roman" panose="02020603050405020304" pitchFamily="18" charset="0"/>
              </a:rPr>
              <a:t> INT PRIMARY KEY,</a:t>
            </a:r>
          </a:p>
          <a:p>
            <a:pPr marL="11430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StudentName</a:t>
            </a:r>
            <a:r>
              <a:rPr lang="en-US" sz="2000" dirty="0">
                <a:latin typeface="Times New Roman" panose="02020603050405020304" pitchFamily="18" charset="0"/>
                <a:cs typeface="Times New Roman" panose="02020603050405020304" pitchFamily="18" charset="0"/>
              </a:rPr>
              <a:t> VARCHAR(50),</a:t>
            </a:r>
          </a:p>
          <a:p>
            <a:pPr marL="114300" indent="0">
              <a:buNone/>
            </a:pPr>
            <a:r>
              <a:rPr lang="en-US" sz="2000" dirty="0">
                <a:latin typeface="Times New Roman" panose="02020603050405020304" pitchFamily="18" charset="0"/>
                <a:cs typeface="Times New Roman" panose="02020603050405020304" pitchFamily="18" charset="0"/>
              </a:rPr>
              <a:t>    Age INT,</a:t>
            </a:r>
          </a:p>
          <a:p>
            <a:pPr marL="114300" indent="0">
              <a:buNone/>
            </a:pPr>
            <a:r>
              <a:rPr lang="en-US" sz="2000" dirty="0">
                <a:latin typeface="Times New Roman" panose="02020603050405020304" pitchFamily="18" charset="0"/>
                <a:cs typeface="Times New Roman" panose="02020603050405020304" pitchFamily="18" charset="0"/>
              </a:rPr>
              <a:t>    Department VARCHAR(30)</a:t>
            </a:r>
          </a:p>
          <a:p>
            <a:pPr marL="114300" indent="0">
              <a:buNone/>
            </a:pP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8" name="TextBox 7"/>
          <p:cNvSpPr txBox="1"/>
          <p:nvPr/>
        </p:nvSpPr>
        <p:spPr>
          <a:xfrm>
            <a:off x="4523874" y="1799924"/>
            <a:ext cx="3830854" cy="276998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Display all databases</a:t>
            </a:r>
          </a:p>
          <a:p>
            <a:pPr marL="114300" indent="0">
              <a:buNone/>
            </a:pPr>
            <a:r>
              <a:rPr lang="en-US" sz="2000" dirty="0" smtClean="0">
                <a:latin typeface="Times New Roman" panose="02020603050405020304" pitchFamily="18" charset="0"/>
                <a:cs typeface="Times New Roman" panose="02020603050405020304" pitchFamily="18" charset="0"/>
              </a:rPr>
              <a:t>&gt;SHOW </a:t>
            </a:r>
            <a:r>
              <a:rPr lang="en-US" sz="2000" dirty="0">
                <a:latin typeface="Times New Roman" panose="02020603050405020304" pitchFamily="18" charset="0"/>
                <a:cs typeface="Times New Roman" panose="02020603050405020304" pitchFamily="18" charset="0"/>
              </a:rPr>
              <a:t>DATABASES;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Display all tables</a:t>
            </a:r>
          </a:p>
          <a:p>
            <a:pPr marL="114300" indent="0">
              <a:buNone/>
            </a:pPr>
            <a:r>
              <a:rPr lang="en-US" sz="2000" dirty="0" smtClean="0">
                <a:latin typeface="Times New Roman" panose="02020603050405020304" pitchFamily="18" charset="0"/>
                <a:cs typeface="Times New Roman" panose="02020603050405020304" pitchFamily="18" charset="0"/>
              </a:rPr>
              <a:t>&gt;SHOW TABLES;</a:t>
            </a:r>
          </a:p>
          <a:p>
            <a:pPr marL="114300" indent="0">
              <a:buNone/>
            </a:pPr>
            <a:endParaRPr lang="en-US" sz="2000" dirty="0">
              <a:latin typeface="Times New Roman" panose="02020603050405020304" pitchFamily="18" charset="0"/>
              <a:cs typeface="Times New Roman" panose="02020603050405020304" pitchFamily="18" charset="0"/>
            </a:endParaRPr>
          </a:p>
          <a:p>
            <a:pPr marL="114300" indent="0">
              <a:buNone/>
            </a:pPr>
            <a:r>
              <a:rPr lang="en-US" sz="2000" dirty="0" smtClean="0">
                <a:latin typeface="Times New Roman" panose="02020603050405020304" pitchFamily="18" charset="0"/>
                <a:cs typeface="Times New Roman" panose="02020603050405020304" pitchFamily="18" charset="0"/>
              </a:rPr>
              <a:t>--</a:t>
            </a:r>
            <a:r>
              <a:rPr lang="en-US" sz="2000" dirty="0" smtClean="0">
                <a:solidFill>
                  <a:srgbClr val="FF0000"/>
                </a:solidFill>
                <a:latin typeface="Times New Roman" panose="02020603050405020304" pitchFamily="18" charset="0"/>
                <a:cs typeface="Times New Roman" panose="02020603050405020304" pitchFamily="18" charset="0"/>
              </a:rPr>
              <a:t>Display the Table</a:t>
            </a:r>
          </a:p>
          <a:p>
            <a:pPr marL="114300" indent="0">
              <a:buNone/>
            </a:pPr>
            <a:r>
              <a:rPr lang="en-US" sz="2000" dirty="0">
                <a:latin typeface="Times New Roman" panose="02020603050405020304" pitchFamily="18" charset="0"/>
                <a:cs typeface="Times New Roman" panose="02020603050405020304" pitchFamily="18" charset="0"/>
              </a:rPr>
              <a:t>&gt;DESC Student;</a:t>
            </a:r>
          </a:p>
          <a:p>
            <a:endParaRPr lang="en-IN" dirty="0"/>
          </a:p>
        </p:txBody>
      </p:sp>
    </p:spTree>
    <p:extLst>
      <p:ext uri="{BB962C8B-B14F-4D97-AF65-F5344CB8AC3E}">
        <p14:creationId xmlns:p14="http://schemas.microsoft.com/office/powerpoint/2010/main" val="3513697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3" name="TextBox 2"/>
          <p:cNvSpPr txBox="1"/>
          <p:nvPr/>
        </p:nvSpPr>
        <p:spPr>
          <a:xfrm>
            <a:off x="606392" y="1078029"/>
            <a:ext cx="8345103" cy="2862322"/>
          </a:xfrm>
          <a:prstGeom prst="rect">
            <a:avLst/>
          </a:prstGeom>
          <a:noFill/>
        </p:spPr>
        <p:txBody>
          <a:bodyPr wrap="square" rtlCol="0">
            <a:spAutoFit/>
          </a:bodyPr>
          <a:lstStyle/>
          <a:p>
            <a:r>
              <a:rPr lang="en-US" sz="2000" dirty="0" smtClean="0">
                <a:solidFill>
                  <a:srgbClr val="FF0000"/>
                </a:solidFill>
              </a:rPr>
              <a:t>Output:</a:t>
            </a:r>
            <a:endParaRPr lang="en-IN" sz="2000" dirty="0" smtClean="0">
              <a:solidFill>
                <a:srgbClr val="FF0000"/>
              </a:solidFill>
            </a:endParaRPr>
          </a:p>
          <a:p>
            <a:r>
              <a:rPr lang="en-IN" sz="2000" dirty="0" smtClean="0"/>
              <a:t>+-------------+-------------+------+-----+---------+-------+</a:t>
            </a:r>
            <a:endParaRPr lang="en-IN" sz="2000" dirty="0"/>
          </a:p>
          <a:p>
            <a:r>
              <a:rPr lang="en-IN" sz="2000" dirty="0"/>
              <a:t>| Field       | Type        | Null | Key | Default | Extra |</a:t>
            </a:r>
          </a:p>
          <a:p>
            <a:r>
              <a:rPr lang="en-IN" sz="2000" dirty="0"/>
              <a:t>+-------------+-------------+------+-----+---------+-------+</a:t>
            </a:r>
          </a:p>
          <a:p>
            <a:r>
              <a:rPr lang="en-IN" sz="2000" dirty="0"/>
              <a:t>| </a:t>
            </a:r>
            <a:r>
              <a:rPr lang="en-IN" sz="2000" dirty="0" err="1"/>
              <a:t>StudentID</a:t>
            </a:r>
            <a:r>
              <a:rPr lang="en-IN" sz="2000" dirty="0"/>
              <a:t>   | </a:t>
            </a:r>
            <a:r>
              <a:rPr lang="en-IN" sz="2000" dirty="0" err="1"/>
              <a:t>int</a:t>
            </a:r>
            <a:r>
              <a:rPr lang="en-IN" sz="2000" dirty="0"/>
              <a:t>         | NO   | PRI | NULL    |       |</a:t>
            </a:r>
          </a:p>
          <a:p>
            <a:r>
              <a:rPr lang="en-IN" sz="2000" dirty="0"/>
              <a:t>| </a:t>
            </a:r>
            <a:r>
              <a:rPr lang="en-IN" sz="2000" dirty="0" err="1"/>
              <a:t>StudentName</a:t>
            </a:r>
            <a:r>
              <a:rPr lang="en-IN" sz="2000" dirty="0"/>
              <a:t> | </a:t>
            </a:r>
            <a:r>
              <a:rPr lang="en-IN" sz="2000" dirty="0" err="1"/>
              <a:t>varchar</a:t>
            </a:r>
            <a:r>
              <a:rPr lang="en-IN" sz="2000" dirty="0"/>
              <a:t>(50) | YES  |     | NULL    |       |</a:t>
            </a:r>
          </a:p>
          <a:p>
            <a:r>
              <a:rPr lang="en-IN" sz="2000" dirty="0"/>
              <a:t>| Age         | </a:t>
            </a:r>
            <a:r>
              <a:rPr lang="en-IN" sz="2000" dirty="0" err="1"/>
              <a:t>int</a:t>
            </a:r>
            <a:r>
              <a:rPr lang="en-IN" sz="2000" dirty="0"/>
              <a:t>         | YES  |     | NULL    |       |</a:t>
            </a:r>
          </a:p>
          <a:p>
            <a:r>
              <a:rPr lang="en-IN" sz="2000" dirty="0"/>
              <a:t>| Department  | </a:t>
            </a:r>
            <a:r>
              <a:rPr lang="en-IN" sz="2000" dirty="0" err="1"/>
              <a:t>varchar</a:t>
            </a:r>
            <a:r>
              <a:rPr lang="en-IN" sz="2000" dirty="0"/>
              <a:t>(30) | YES  |     | NULL    |       |</a:t>
            </a:r>
          </a:p>
          <a:p>
            <a:r>
              <a:rPr lang="en-IN" sz="2000" dirty="0"/>
              <a:t>+-------------+-------------+------+-----+---------+-------+</a:t>
            </a:r>
          </a:p>
        </p:txBody>
      </p:sp>
    </p:spTree>
    <p:extLst>
      <p:ext uri="{BB962C8B-B14F-4D97-AF65-F5344CB8AC3E}">
        <p14:creationId xmlns:p14="http://schemas.microsoft.com/office/powerpoint/2010/main" val="749502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412" y="490255"/>
            <a:ext cx="7886700" cy="1325563"/>
          </a:xfrm>
        </p:spPr>
        <p:txBody>
          <a:bodyPr/>
          <a:lstStyle/>
          <a:p>
            <a:r>
              <a:rPr lang="en-US" dirty="0" smtClean="0">
                <a:solidFill>
                  <a:srgbClr val="FF0000"/>
                </a:solidFill>
              </a:rPr>
              <a:t>Alter:</a:t>
            </a:r>
            <a:endParaRPr lang="en-IN" dirty="0">
              <a:solidFill>
                <a:srgbClr val="FF0000"/>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Rectangle 1"/>
          <p:cNvSpPr>
            <a:spLocks noGrp="1" noChangeArrowheads="1"/>
          </p:cNvSpPr>
          <p:nvPr>
            <p:ph type="body" idx="1"/>
          </p:nvPr>
        </p:nvSpPr>
        <p:spPr bwMode="auto">
          <a:xfrm>
            <a:off x="628650" y="1339593"/>
            <a:ext cx="816222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FF0000"/>
                </a:solidFill>
                <a:effectLst/>
                <a:latin typeface="Arial" panose="020B0604020202020204" pitchFamily="34" charset="0"/>
              </a:rPr>
              <a:t>Add a </a:t>
            </a:r>
            <a:r>
              <a:rPr kumimoji="0" lang="en-US" altLang="en-US" sz="2000" b="0" i="0" u="none" strike="noStrike" cap="none" normalizeH="0" baseline="0" dirty="0" smtClean="0">
                <a:ln>
                  <a:noFill/>
                </a:ln>
                <a:solidFill>
                  <a:srgbClr val="FF0000"/>
                </a:solidFill>
                <a:effectLst/>
                <a:latin typeface="Arial Unicode MS" panose="020B0604020202020204" pitchFamily="34" charset="-128"/>
              </a:rPr>
              <a:t>Phone</a:t>
            </a:r>
            <a:r>
              <a:rPr kumimoji="0" lang="en-US" altLang="en-US" sz="2000" b="0" i="0" u="none" strike="noStrike" cap="none" normalizeH="0" baseline="0" dirty="0" smtClean="0">
                <a:ln>
                  <a:noFill/>
                </a:ln>
                <a:solidFill>
                  <a:srgbClr val="FF0000"/>
                </a:solidFill>
                <a:effectLst/>
              </a:rPr>
              <a:t> column to the </a:t>
            </a:r>
            <a:r>
              <a:rPr kumimoji="0" lang="en-US" altLang="en-US" sz="2000" b="0" i="0" u="none" strike="noStrike" cap="none" normalizeH="0" baseline="0" dirty="0" smtClean="0">
                <a:ln>
                  <a:noFill/>
                </a:ln>
                <a:solidFill>
                  <a:srgbClr val="FF0000"/>
                </a:solidFill>
                <a:effectLst/>
                <a:latin typeface="Arial Unicode MS" panose="020B0604020202020204" pitchFamily="34" charset="-128"/>
              </a:rPr>
              <a:t>Student</a:t>
            </a:r>
            <a:r>
              <a:rPr kumimoji="0" lang="en-US" altLang="en-US" sz="2000" b="0" i="0" u="none" strike="noStrike" cap="none" normalizeH="0" baseline="0" dirty="0" smtClean="0">
                <a:ln>
                  <a:noFill/>
                </a:ln>
                <a:solidFill>
                  <a:srgbClr val="FF0000"/>
                </a:solidFill>
                <a:effectLst/>
              </a:rPr>
              <a:t> table</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solidFill>
            </a:endParaRPr>
          </a:p>
          <a:p>
            <a:pPr marL="0" lvl="0" indent="0" eaLnBrk="0" fontAlgn="base" hangingPunct="0">
              <a:lnSpc>
                <a:spcPct val="100000"/>
              </a:lnSpc>
              <a:spcBef>
                <a:spcPct val="0"/>
              </a:spcBef>
              <a:spcAft>
                <a:spcPct val="0"/>
              </a:spcAft>
              <a:buClrTx/>
              <a:buSzTx/>
              <a:buNone/>
            </a:pPr>
            <a:r>
              <a:rPr lang="en-US" altLang="en-US" sz="2000" dirty="0">
                <a:solidFill>
                  <a:schemeClr val="tx1"/>
                </a:solidFill>
              </a:rPr>
              <a:t> </a:t>
            </a:r>
            <a:r>
              <a:rPr lang="en-US" altLang="en-US" sz="2000" dirty="0" smtClean="0">
                <a:solidFill>
                  <a:schemeClr val="tx1"/>
                </a:solidFill>
              </a:rPr>
              <a:t>&gt;ALTER </a:t>
            </a:r>
            <a:r>
              <a:rPr lang="en-US" altLang="en-US" sz="2000" dirty="0">
                <a:solidFill>
                  <a:schemeClr val="tx1"/>
                </a:solidFill>
              </a:rPr>
              <a:t>TABLE </a:t>
            </a:r>
            <a:r>
              <a:rPr lang="en-US" altLang="en-US" sz="2000" dirty="0">
                <a:solidFill>
                  <a:srgbClr val="FF0000"/>
                </a:solidFill>
              </a:rPr>
              <a:t>Student</a:t>
            </a:r>
          </a:p>
          <a:p>
            <a:pPr marL="0" lvl="0" indent="0" eaLnBrk="0" fontAlgn="base" hangingPunct="0">
              <a:lnSpc>
                <a:spcPct val="100000"/>
              </a:lnSpc>
              <a:spcBef>
                <a:spcPct val="0"/>
              </a:spcBef>
              <a:spcAft>
                <a:spcPct val="0"/>
              </a:spcAft>
              <a:buClrTx/>
              <a:buSzTx/>
              <a:buNone/>
            </a:pPr>
            <a:r>
              <a:rPr lang="en-US" altLang="en-US" sz="2000" dirty="0">
                <a:solidFill>
                  <a:schemeClr val="tx1"/>
                </a:solidFill>
              </a:rPr>
              <a:t>ADD </a:t>
            </a:r>
            <a:r>
              <a:rPr lang="en-US" altLang="en-US" sz="2000" dirty="0" err="1" smtClean="0">
                <a:solidFill>
                  <a:srgbClr val="FF0000"/>
                </a:solidFill>
              </a:rPr>
              <a:t>PhoneNumber</a:t>
            </a:r>
            <a:r>
              <a:rPr lang="en-US" altLang="en-US" sz="2000" dirty="0" smtClean="0">
                <a:solidFill>
                  <a:srgbClr val="FF0000"/>
                </a:solidFill>
              </a:rPr>
              <a:t> </a:t>
            </a:r>
            <a:r>
              <a:rPr lang="en-US" altLang="en-US" sz="2000" dirty="0">
                <a:solidFill>
                  <a:schemeClr val="tx1"/>
                </a:solidFill>
              </a:rPr>
              <a:t>VARCHAR(15</a:t>
            </a:r>
            <a:r>
              <a:rPr lang="en-US" altLang="en-US" sz="2000" dirty="0" smtClean="0">
                <a:solidFill>
                  <a:schemeClr val="tx1"/>
                </a:solidFill>
              </a:rPr>
              <a:t>);</a:t>
            </a:r>
          </a:p>
          <a:p>
            <a:pPr marL="0" lvl="0" indent="0" eaLnBrk="0" fontAlgn="base" hangingPunct="0">
              <a:lnSpc>
                <a:spcPct val="100000"/>
              </a:lnSpc>
              <a:spcBef>
                <a:spcPct val="0"/>
              </a:spcBef>
              <a:spcAft>
                <a:spcPct val="0"/>
              </a:spcAft>
              <a:buClrTx/>
              <a:buSzTx/>
              <a:buNone/>
            </a:pPr>
            <a:r>
              <a:rPr lang="en-IN" sz="2000" dirty="0" smtClean="0"/>
              <a:t>&gt;DESC </a:t>
            </a:r>
            <a:r>
              <a:rPr lang="en-IN" sz="2000" dirty="0"/>
              <a:t>Student</a:t>
            </a:r>
            <a:r>
              <a:rPr lang="en-IN" sz="2000" dirty="0" smtClean="0"/>
              <a:t>;</a:t>
            </a:r>
          </a:p>
          <a:p>
            <a:pPr marL="0" lvl="0" indent="0" eaLnBrk="0" fontAlgn="base"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sz="2000" dirty="0" smtClean="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Field       | Type        | Null | Key | Default | Extra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a:t>
            </a:r>
            <a:r>
              <a:rPr lang="en-US" altLang="en-US" sz="2000" dirty="0" err="1">
                <a:solidFill>
                  <a:schemeClr val="tx1"/>
                </a:solidFill>
                <a:latin typeface="Arial" panose="020B0604020202020204" pitchFamily="34" charset="0"/>
              </a:rPr>
              <a:t>StudentID</a:t>
            </a:r>
            <a:r>
              <a:rPr lang="en-US" altLang="en-US" sz="2000" dirty="0">
                <a:solidFill>
                  <a:schemeClr val="tx1"/>
                </a:solidFill>
                <a:latin typeface="Arial" panose="020B0604020202020204" pitchFamily="34" charset="0"/>
              </a:rPr>
              <a:t>   | </a:t>
            </a:r>
            <a:r>
              <a:rPr lang="en-US" altLang="en-US" sz="2000" dirty="0" err="1">
                <a:solidFill>
                  <a:schemeClr val="tx1"/>
                </a:solidFill>
                <a:latin typeface="Arial" panose="020B0604020202020204" pitchFamily="34" charset="0"/>
              </a:rPr>
              <a:t>int</a:t>
            </a:r>
            <a:r>
              <a:rPr lang="en-US" altLang="en-US" sz="2000" dirty="0">
                <a:solidFill>
                  <a:schemeClr val="tx1"/>
                </a:solidFill>
                <a:latin typeface="Arial" panose="020B0604020202020204" pitchFamily="34" charset="0"/>
              </a:rPr>
              <a:t>         | NO   | PRI | NULL    |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a:t>
            </a:r>
            <a:r>
              <a:rPr lang="en-US" altLang="en-US" sz="2000" dirty="0" err="1">
                <a:solidFill>
                  <a:schemeClr val="tx1"/>
                </a:solidFill>
                <a:latin typeface="Arial" panose="020B0604020202020204" pitchFamily="34" charset="0"/>
              </a:rPr>
              <a:t>StudentName</a:t>
            </a:r>
            <a:r>
              <a:rPr lang="en-US" altLang="en-US" sz="2000" dirty="0">
                <a:solidFill>
                  <a:schemeClr val="tx1"/>
                </a:solidFill>
                <a:latin typeface="Arial" panose="020B0604020202020204" pitchFamily="34" charset="0"/>
              </a:rPr>
              <a:t> | </a:t>
            </a:r>
            <a:r>
              <a:rPr lang="en-US" altLang="en-US" sz="2000" dirty="0" err="1">
                <a:solidFill>
                  <a:schemeClr val="tx1"/>
                </a:solidFill>
                <a:latin typeface="Arial" panose="020B0604020202020204" pitchFamily="34" charset="0"/>
              </a:rPr>
              <a:t>varchar</a:t>
            </a:r>
            <a:r>
              <a:rPr lang="en-US" altLang="en-US" sz="2000" dirty="0">
                <a:solidFill>
                  <a:schemeClr val="tx1"/>
                </a:solidFill>
                <a:latin typeface="Arial" panose="020B0604020202020204" pitchFamily="34" charset="0"/>
              </a:rPr>
              <a:t>(50) | YES  |     | NULL    |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Age         | </a:t>
            </a:r>
            <a:r>
              <a:rPr lang="en-US" altLang="en-US" sz="2000" dirty="0" err="1">
                <a:solidFill>
                  <a:schemeClr val="tx1"/>
                </a:solidFill>
                <a:latin typeface="Arial" panose="020B0604020202020204" pitchFamily="34" charset="0"/>
              </a:rPr>
              <a:t>int</a:t>
            </a:r>
            <a:r>
              <a:rPr lang="en-US" altLang="en-US" sz="2000" dirty="0">
                <a:solidFill>
                  <a:schemeClr val="tx1"/>
                </a:solidFill>
                <a:latin typeface="Arial" panose="020B0604020202020204" pitchFamily="34" charset="0"/>
              </a:rPr>
              <a:t>         | YES  |     | NULL    |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Department  | </a:t>
            </a:r>
            <a:r>
              <a:rPr lang="en-US" altLang="en-US" sz="2000" dirty="0" err="1">
                <a:solidFill>
                  <a:schemeClr val="tx1"/>
                </a:solidFill>
                <a:latin typeface="Arial" panose="020B0604020202020204" pitchFamily="34" charset="0"/>
              </a:rPr>
              <a:t>varchar</a:t>
            </a:r>
            <a:r>
              <a:rPr lang="en-US" altLang="en-US" sz="2000" dirty="0">
                <a:solidFill>
                  <a:schemeClr val="tx1"/>
                </a:solidFill>
                <a:latin typeface="Arial" panose="020B0604020202020204" pitchFamily="34" charset="0"/>
              </a:rPr>
              <a:t>(30) | YES  |     | NULL    |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 </a:t>
            </a:r>
            <a:r>
              <a:rPr lang="en-US" altLang="en-US" sz="2000" dirty="0" err="1">
                <a:solidFill>
                  <a:schemeClr val="tx1"/>
                </a:solidFill>
                <a:latin typeface="Arial" panose="020B0604020202020204" pitchFamily="34" charset="0"/>
              </a:rPr>
              <a:t>PhoneNumber</a:t>
            </a:r>
            <a:r>
              <a:rPr lang="en-US" altLang="en-US" sz="2000" dirty="0">
                <a:solidFill>
                  <a:schemeClr val="tx1"/>
                </a:solidFill>
                <a:latin typeface="Arial" panose="020B0604020202020204" pitchFamily="34" charset="0"/>
              </a:rPr>
              <a:t> | </a:t>
            </a:r>
            <a:r>
              <a:rPr lang="en-US" altLang="en-US" sz="2000" dirty="0" err="1">
                <a:solidFill>
                  <a:schemeClr val="tx1"/>
                </a:solidFill>
                <a:latin typeface="Arial" panose="020B0604020202020204" pitchFamily="34" charset="0"/>
              </a:rPr>
              <a:t>varchar</a:t>
            </a:r>
            <a:r>
              <a:rPr lang="en-US" altLang="en-US" sz="2000" dirty="0">
                <a:solidFill>
                  <a:schemeClr val="tx1"/>
                </a:solidFill>
                <a:latin typeface="Arial" panose="020B0604020202020204" pitchFamily="34" charset="0"/>
              </a:rPr>
              <a:t>(15) | YES  |     | NULL    |       |</a:t>
            </a:r>
          </a:p>
          <a:p>
            <a:pPr marL="0" lvl="0" indent="0" eaLnBrk="0" fontAlgn="base" hangingPunct="0">
              <a:lnSpc>
                <a:spcPct val="100000"/>
              </a:lnSpc>
              <a:spcBef>
                <a:spcPct val="0"/>
              </a:spcBef>
              <a:spcAft>
                <a:spcPct val="0"/>
              </a:spcAft>
              <a:buClrTx/>
              <a:buSzTx/>
              <a:buNone/>
            </a:pPr>
            <a:r>
              <a:rPr lang="en-US" altLang="en-US" sz="2000" dirty="0">
                <a:solidFill>
                  <a:schemeClr val="tx1"/>
                </a:solidFill>
                <a:latin typeface="Arial" panose="020B0604020202020204" pitchFamily="34" charset="0"/>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293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924025"/>
            <a:ext cx="7886700" cy="5252938"/>
          </a:xfrm>
        </p:spPr>
        <p:txBody>
          <a:bodyPr>
            <a:normAutofit fontScale="70000" lnSpcReduction="20000"/>
          </a:bodyPr>
          <a:lstStyle/>
          <a:p>
            <a:r>
              <a:rPr lang="en-IN" dirty="0" err="1">
                <a:solidFill>
                  <a:srgbClr val="FF0000"/>
                </a:solidFill>
              </a:rPr>
              <a:t>Mysql</a:t>
            </a:r>
            <a:r>
              <a:rPr lang="en-IN" dirty="0">
                <a:solidFill>
                  <a:srgbClr val="FF0000"/>
                </a:solidFill>
              </a:rPr>
              <a:t>&gt;ALTER TABLE </a:t>
            </a:r>
            <a:r>
              <a:rPr lang="en-IN" dirty="0" err="1">
                <a:solidFill>
                  <a:srgbClr val="FF0000"/>
                </a:solidFill>
              </a:rPr>
              <a:t>table_name</a:t>
            </a:r>
            <a:endParaRPr lang="en-IN" dirty="0">
              <a:solidFill>
                <a:srgbClr val="FF0000"/>
              </a:solidFill>
            </a:endParaRPr>
          </a:p>
          <a:p>
            <a:pPr marL="114300" indent="0">
              <a:buNone/>
            </a:pPr>
            <a:r>
              <a:rPr lang="en-IN" dirty="0">
                <a:solidFill>
                  <a:srgbClr val="FF0000"/>
                </a:solidFill>
              </a:rPr>
              <a:t> -&gt; DROP COLUMN column_name_1,</a:t>
            </a:r>
          </a:p>
          <a:p>
            <a:pPr marL="114300" indent="0">
              <a:buNone/>
            </a:pPr>
            <a:r>
              <a:rPr lang="en-IN" dirty="0">
                <a:solidFill>
                  <a:srgbClr val="FF0000"/>
                </a:solidFill>
              </a:rPr>
              <a:t> -&gt; DROP COLUMN column_name_2,</a:t>
            </a:r>
          </a:p>
          <a:p>
            <a:pPr marL="114300" indent="0">
              <a:buNone/>
            </a:pPr>
            <a:r>
              <a:rPr lang="en-IN" dirty="0">
                <a:solidFill>
                  <a:srgbClr val="FF0000"/>
                </a:solidFill>
              </a:rPr>
              <a:t> -&gt; ;</a:t>
            </a:r>
          </a:p>
          <a:p>
            <a:endParaRPr lang="en-IN" dirty="0" smtClean="0"/>
          </a:p>
          <a:p>
            <a:r>
              <a:rPr lang="en-IN" dirty="0" err="1" smtClean="0"/>
              <a:t>mysql</a:t>
            </a:r>
            <a:r>
              <a:rPr lang="en-IN" dirty="0"/>
              <a:t>&gt; alter table students </a:t>
            </a:r>
            <a:r>
              <a:rPr lang="en-IN" dirty="0">
                <a:solidFill>
                  <a:srgbClr val="FF0000"/>
                </a:solidFill>
              </a:rPr>
              <a:t>drop column </a:t>
            </a:r>
            <a:r>
              <a:rPr lang="en-IN" dirty="0" err="1" smtClean="0">
                <a:solidFill>
                  <a:srgbClr val="FF0000"/>
                </a:solidFill>
              </a:rPr>
              <a:t>phonenumber</a:t>
            </a:r>
            <a:r>
              <a:rPr lang="en-IN" dirty="0" smtClean="0"/>
              <a:t>;</a:t>
            </a:r>
            <a:endParaRPr lang="en-IN" dirty="0"/>
          </a:p>
          <a:p>
            <a:r>
              <a:rPr lang="en-IN" dirty="0" err="1" smtClean="0"/>
              <a:t>mysql</a:t>
            </a:r>
            <a:r>
              <a:rPr lang="en-IN" dirty="0"/>
              <a:t>&gt; </a:t>
            </a:r>
            <a:r>
              <a:rPr lang="en-IN" dirty="0" err="1"/>
              <a:t>desc</a:t>
            </a:r>
            <a:r>
              <a:rPr lang="en-IN" dirty="0"/>
              <a:t> students;</a:t>
            </a:r>
          </a:p>
          <a:p>
            <a:pPr marL="114300" indent="0">
              <a:buNone/>
            </a:pPr>
            <a:r>
              <a:rPr lang="en-IN" dirty="0"/>
              <a:t>+------------+-------------+------+-----+---------+-------+</a:t>
            </a:r>
          </a:p>
          <a:p>
            <a:pPr marL="114300" indent="0">
              <a:buNone/>
            </a:pPr>
            <a:r>
              <a:rPr lang="en-IN" dirty="0"/>
              <a:t>| Field      | Type        | Null | Key | Default | Extra |</a:t>
            </a:r>
          </a:p>
          <a:p>
            <a:pPr marL="114300" indent="0">
              <a:buNone/>
            </a:pPr>
            <a:r>
              <a:rPr lang="en-IN" dirty="0"/>
              <a:t>+------------+-------------+------+-----+---------+-------+</a:t>
            </a:r>
          </a:p>
          <a:p>
            <a:pPr marL="114300" indent="0">
              <a:buNone/>
            </a:pPr>
            <a:r>
              <a:rPr lang="en-IN" dirty="0"/>
              <a:t>| </a:t>
            </a:r>
            <a:r>
              <a:rPr lang="en-IN" dirty="0" err="1"/>
              <a:t>st_roll_no</a:t>
            </a:r>
            <a:r>
              <a:rPr lang="en-IN" dirty="0"/>
              <a:t> | </a:t>
            </a:r>
            <a:r>
              <a:rPr lang="en-IN" dirty="0" err="1"/>
              <a:t>int</a:t>
            </a:r>
            <a:r>
              <a:rPr lang="en-IN" dirty="0"/>
              <a:t>         | YES  |     | NULL    |       |</a:t>
            </a:r>
          </a:p>
          <a:p>
            <a:pPr marL="114300" indent="0">
              <a:buNone/>
            </a:pPr>
            <a:r>
              <a:rPr lang="en-IN" dirty="0"/>
              <a:t>| </a:t>
            </a:r>
            <a:r>
              <a:rPr lang="en-IN" dirty="0" err="1"/>
              <a:t>st_name</a:t>
            </a:r>
            <a:r>
              <a:rPr lang="en-IN" dirty="0"/>
              <a:t>    | </a:t>
            </a:r>
            <a:r>
              <a:rPr lang="en-IN" dirty="0" err="1"/>
              <a:t>varchar</a:t>
            </a:r>
            <a:r>
              <a:rPr lang="en-IN" dirty="0"/>
              <a:t>(10) | YES  |     | NULL    |       |</a:t>
            </a:r>
          </a:p>
          <a:p>
            <a:pPr marL="114300" indent="0">
              <a:buNone/>
            </a:pPr>
            <a:r>
              <a:rPr lang="en-IN" dirty="0"/>
              <a:t>| </a:t>
            </a:r>
            <a:r>
              <a:rPr lang="en-IN" dirty="0" err="1"/>
              <a:t>st_address</a:t>
            </a:r>
            <a:r>
              <a:rPr lang="en-IN" dirty="0"/>
              <a:t> | </a:t>
            </a:r>
            <a:r>
              <a:rPr lang="en-IN" dirty="0" err="1"/>
              <a:t>varchar</a:t>
            </a:r>
            <a:r>
              <a:rPr lang="en-IN" dirty="0"/>
              <a:t>(10) | YES  |     | NULL    |       |</a:t>
            </a:r>
          </a:p>
          <a:p>
            <a:pPr marL="114300" indent="0">
              <a:buNone/>
            </a:pPr>
            <a:r>
              <a:rPr lang="en-IN" dirty="0"/>
              <a:t>+------------+-------------+------+-----+---------+-------+</a:t>
            </a:r>
          </a:p>
          <a:p>
            <a:pPr marL="114300" indent="0">
              <a:buNone/>
            </a:pPr>
            <a:r>
              <a:rPr lang="en-IN" dirty="0"/>
              <a:t>3 rows in set (0.00 sec)</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383931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010653"/>
            <a:ext cx="7886700" cy="5166310"/>
          </a:xfrm>
        </p:spPr>
        <p:txBody>
          <a:bodyPr>
            <a:normAutofit fontScale="92500" lnSpcReduction="20000"/>
          </a:bodyPr>
          <a:lstStyle/>
          <a:p>
            <a:r>
              <a:rPr lang="en-IN" dirty="0" err="1"/>
              <a:t>mysql</a:t>
            </a:r>
            <a:r>
              <a:rPr lang="en-IN" dirty="0"/>
              <a:t>&gt; alter table students </a:t>
            </a:r>
            <a:r>
              <a:rPr lang="en-IN" dirty="0">
                <a:solidFill>
                  <a:srgbClr val="FF0000"/>
                </a:solidFill>
              </a:rPr>
              <a:t>rename</a:t>
            </a:r>
            <a:r>
              <a:rPr lang="en-IN" dirty="0"/>
              <a:t> to </a:t>
            </a:r>
            <a:r>
              <a:rPr lang="en-IN" dirty="0" err="1">
                <a:solidFill>
                  <a:srgbClr val="FF0000"/>
                </a:solidFill>
              </a:rPr>
              <a:t>student_info</a:t>
            </a:r>
            <a:r>
              <a:rPr lang="en-IN" dirty="0" smtClean="0"/>
              <a:t>;</a:t>
            </a:r>
            <a:endParaRPr lang="en-IN" dirty="0"/>
          </a:p>
          <a:p>
            <a:r>
              <a:rPr lang="en-IN" dirty="0" err="1"/>
              <a:t>mysql</a:t>
            </a:r>
            <a:r>
              <a:rPr lang="en-IN" dirty="0"/>
              <a:t>&gt; </a:t>
            </a:r>
            <a:r>
              <a:rPr lang="en-IN" dirty="0" err="1"/>
              <a:t>desc</a:t>
            </a:r>
            <a:r>
              <a:rPr lang="en-IN" dirty="0"/>
              <a:t> students</a:t>
            </a:r>
            <a:r>
              <a:rPr lang="en-IN" dirty="0" smtClean="0"/>
              <a:t>;</a:t>
            </a:r>
          </a:p>
          <a:p>
            <a:pPr marL="114300" indent="0">
              <a:buNone/>
            </a:pPr>
            <a:r>
              <a:rPr lang="en-IN" dirty="0" smtClean="0"/>
              <a:t>	ERROR </a:t>
            </a:r>
            <a:r>
              <a:rPr lang="en-IN" dirty="0"/>
              <a:t>1146 (42S02): Table '</a:t>
            </a:r>
            <a:r>
              <a:rPr lang="en-IN" dirty="0" err="1"/>
              <a:t>ddl.students</a:t>
            </a:r>
            <a:r>
              <a:rPr lang="en-IN" dirty="0"/>
              <a:t>' doesn't </a:t>
            </a:r>
            <a:r>
              <a:rPr lang="en-IN" dirty="0" smtClean="0"/>
              <a:t>	exist</a:t>
            </a:r>
          </a:p>
          <a:p>
            <a:r>
              <a:rPr lang="en-IN" dirty="0" err="1"/>
              <a:t>mysql</a:t>
            </a:r>
            <a:r>
              <a:rPr lang="en-IN" dirty="0"/>
              <a:t>&gt; </a:t>
            </a:r>
            <a:r>
              <a:rPr lang="en-IN" dirty="0" err="1">
                <a:solidFill>
                  <a:srgbClr val="FF0000"/>
                </a:solidFill>
              </a:rPr>
              <a:t>desc</a:t>
            </a:r>
            <a:r>
              <a:rPr lang="en-IN" dirty="0">
                <a:solidFill>
                  <a:srgbClr val="FF0000"/>
                </a:solidFill>
              </a:rPr>
              <a:t> </a:t>
            </a:r>
            <a:r>
              <a:rPr lang="en-IN" dirty="0" err="1" smtClean="0">
                <a:solidFill>
                  <a:srgbClr val="FF0000"/>
                </a:solidFill>
              </a:rPr>
              <a:t>students_info</a:t>
            </a:r>
            <a:r>
              <a:rPr lang="en-IN" dirty="0" smtClean="0"/>
              <a:t>;</a:t>
            </a:r>
          </a:p>
          <a:p>
            <a:pPr marL="114300" indent="0">
              <a:buNone/>
            </a:pPr>
            <a:r>
              <a:rPr lang="en-IN" dirty="0"/>
              <a:t>+------------+-------------+------+-----+---------+-------+</a:t>
            </a:r>
          </a:p>
          <a:p>
            <a:pPr marL="114300" indent="0">
              <a:buNone/>
            </a:pPr>
            <a:r>
              <a:rPr lang="en-IN" dirty="0"/>
              <a:t>| Field      | Type        | Null | Key | Default | Extra |</a:t>
            </a:r>
          </a:p>
          <a:p>
            <a:pPr marL="114300" indent="0">
              <a:buNone/>
            </a:pPr>
            <a:r>
              <a:rPr lang="en-IN" dirty="0"/>
              <a:t>+------------+-------------+------+-----+---------+-------+</a:t>
            </a:r>
          </a:p>
          <a:p>
            <a:pPr marL="114300" indent="0">
              <a:buNone/>
            </a:pPr>
            <a:r>
              <a:rPr lang="en-IN" dirty="0"/>
              <a:t>| </a:t>
            </a:r>
            <a:r>
              <a:rPr lang="en-IN" dirty="0" err="1"/>
              <a:t>st_roll_no</a:t>
            </a:r>
            <a:r>
              <a:rPr lang="en-IN" dirty="0"/>
              <a:t> | </a:t>
            </a:r>
            <a:r>
              <a:rPr lang="en-IN" dirty="0" err="1"/>
              <a:t>int</a:t>
            </a:r>
            <a:r>
              <a:rPr lang="en-IN" dirty="0"/>
              <a:t>         | YES  |     | NULL    |       |</a:t>
            </a:r>
          </a:p>
          <a:p>
            <a:pPr marL="114300" indent="0">
              <a:buNone/>
            </a:pPr>
            <a:r>
              <a:rPr lang="en-IN" dirty="0"/>
              <a:t>| </a:t>
            </a:r>
            <a:r>
              <a:rPr lang="en-IN" dirty="0" err="1"/>
              <a:t>st_name</a:t>
            </a:r>
            <a:r>
              <a:rPr lang="en-IN" dirty="0"/>
              <a:t>    | </a:t>
            </a:r>
            <a:r>
              <a:rPr lang="en-IN" dirty="0" err="1"/>
              <a:t>varchar</a:t>
            </a:r>
            <a:r>
              <a:rPr lang="en-IN" dirty="0"/>
              <a:t>(10) | YES  |     | NULL    |       |</a:t>
            </a:r>
          </a:p>
          <a:p>
            <a:pPr marL="114300" indent="0">
              <a:buNone/>
            </a:pPr>
            <a:r>
              <a:rPr lang="en-IN" dirty="0"/>
              <a:t>| </a:t>
            </a:r>
            <a:r>
              <a:rPr lang="en-IN" dirty="0" err="1"/>
              <a:t>st_address</a:t>
            </a:r>
            <a:r>
              <a:rPr lang="en-IN" dirty="0"/>
              <a:t> | </a:t>
            </a:r>
            <a:r>
              <a:rPr lang="en-IN" dirty="0" err="1"/>
              <a:t>varchar</a:t>
            </a:r>
            <a:r>
              <a:rPr lang="en-IN" dirty="0"/>
              <a:t>(10) | YES  |     | NULL    |       |</a:t>
            </a:r>
          </a:p>
          <a:p>
            <a:pPr marL="114300" indent="0">
              <a:buNone/>
            </a:pPr>
            <a:r>
              <a:rPr lang="en-IN" dirty="0"/>
              <a: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extLst>
      <p:ext uri="{BB962C8B-B14F-4D97-AF65-F5344CB8AC3E}">
        <p14:creationId xmlns:p14="http://schemas.microsoft.com/office/powerpoint/2010/main" val="391880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039528"/>
            <a:ext cx="7886700" cy="5137435"/>
          </a:xfrm>
        </p:spPr>
        <p:txBody>
          <a:bodyPr>
            <a:normAutofit/>
          </a:bodyPr>
          <a:lstStyle/>
          <a:p>
            <a:r>
              <a:rPr lang="en-IN" dirty="0" err="1"/>
              <a:t>mysql</a:t>
            </a:r>
            <a:r>
              <a:rPr lang="en-IN" dirty="0"/>
              <a:t>&gt; alter table </a:t>
            </a:r>
            <a:r>
              <a:rPr lang="en-IN" dirty="0" err="1"/>
              <a:t>student_info</a:t>
            </a:r>
            <a:r>
              <a:rPr lang="en-IN" dirty="0"/>
              <a:t> </a:t>
            </a:r>
            <a:r>
              <a:rPr lang="en-IN" dirty="0">
                <a:solidFill>
                  <a:srgbClr val="FF0000"/>
                </a:solidFill>
              </a:rPr>
              <a:t>rename column </a:t>
            </a:r>
            <a:r>
              <a:rPr lang="en-IN" dirty="0" err="1">
                <a:solidFill>
                  <a:srgbClr val="FF0000"/>
                </a:solidFill>
              </a:rPr>
              <a:t>st_address</a:t>
            </a:r>
            <a:r>
              <a:rPr lang="en-IN" dirty="0">
                <a:solidFill>
                  <a:srgbClr val="FF0000"/>
                </a:solidFill>
              </a:rPr>
              <a:t> to </a:t>
            </a:r>
            <a:r>
              <a:rPr lang="en-IN" dirty="0" err="1">
                <a:solidFill>
                  <a:srgbClr val="FF0000"/>
                </a:solidFill>
              </a:rPr>
              <a:t>st_pincode</a:t>
            </a:r>
            <a:r>
              <a:rPr lang="en-IN" dirty="0" smtClean="0">
                <a:solidFill>
                  <a:srgbClr val="FF0000"/>
                </a:solidFill>
              </a:rPr>
              <a:t>;</a:t>
            </a:r>
          </a:p>
          <a:p>
            <a:r>
              <a:rPr lang="en-IN" dirty="0" err="1"/>
              <a:t>mysql</a:t>
            </a:r>
            <a:r>
              <a:rPr lang="en-IN" dirty="0"/>
              <a:t>&gt; </a:t>
            </a:r>
            <a:r>
              <a:rPr lang="en-IN" dirty="0" err="1"/>
              <a:t>desc</a:t>
            </a:r>
            <a:r>
              <a:rPr lang="en-IN" dirty="0"/>
              <a:t> </a:t>
            </a:r>
            <a:r>
              <a:rPr lang="en-IN" dirty="0" err="1"/>
              <a:t>student_info</a:t>
            </a:r>
            <a:r>
              <a:rPr lang="en-IN" dirty="0"/>
              <a:t>;</a:t>
            </a:r>
          </a:p>
          <a:p>
            <a:pPr marL="114300" indent="0">
              <a:buNone/>
            </a:pPr>
            <a:r>
              <a:rPr lang="en-IN" dirty="0"/>
              <a:t>+------------+-------------+------+-----+---------+-------+</a:t>
            </a:r>
          </a:p>
          <a:p>
            <a:pPr marL="114300" indent="0">
              <a:buNone/>
            </a:pPr>
            <a:r>
              <a:rPr lang="en-IN" dirty="0"/>
              <a:t>| Field      | Type        | Null | Key | Default | Extra |</a:t>
            </a:r>
          </a:p>
          <a:p>
            <a:pPr marL="114300" indent="0">
              <a:buNone/>
            </a:pPr>
            <a:r>
              <a:rPr lang="en-IN" dirty="0"/>
              <a:t>+------------+-------------+------+-----+---------+-------+</a:t>
            </a:r>
          </a:p>
          <a:p>
            <a:pPr marL="114300" indent="0">
              <a:buNone/>
            </a:pPr>
            <a:r>
              <a:rPr lang="en-IN" dirty="0"/>
              <a:t>| </a:t>
            </a:r>
            <a:r>
              <a:rPr lang="en-IN" dirty="0" err="1"/>
              <a:t>st_roll_no</a:t>
            </a:r>
            <a:r>
              <a:rPr lang="en-IN" dirty="0"/>
              <a:t> | </a:t>
            </a:r>
            <a:r>
              <a:rPr lang="en-IN" dirty="0" err="1"/>
              <a:t>int</a:t>
            </a:r>
            <a:r>
              <a:rPr lang="en-IN" dirty="0"/>
              <a:t>         | YES  |     | NULL    |       |</a:t>
            </a:r>
          </a:p>
          <a:p>
            <a:pPr marL="114300" indent="0">
              <a:buNone/>
            </a:pPr>
            <a:r>
              <a:rPr lang="en-IN" dirty="0"/>
              <a:t>| </a:t>
            </a:r>
            <a:r>
              <a:rPr lang="en-IN" dirty="0" err="1"/>
              <a:t>st_name</a:t>
            </a:r>
            <a:r>
              <a:rPr lang="en-IN" dirty="0"/>
              <a:t>    | </a:t>
            </a:r>
            <a:r>
              <a:rPr lang="en-IN" dirty="0" err="1"/>
              <a:t>varchar</a:t>
            </a:r>
            <a:r>
              <a:rPr lang="en-IN" dirty="0"/>
              <a:t>(10) | YES  |     | NULL    |       |</a:t>
            </a:r>
          </a:p>
          <a:p>
            <a:pPr marL="114300" indent="0">
              <a:buNone/>
            </a:pPr>
            <a:r>
              <a:rPr lang="en-IN" dirty="0"/>
              <a:t>| </a:t>
            </a:r>
            <a:r>
              <a:rPr lang="en-IN" dirty="0" err="1"/>
              <a:t>st_pincode</a:t>
            </a:r>
            <a:r>
              <a:rPr lang="en-IN" dirty="0"/>
              <a:t> | </a:t>
            </a:r>
            <a:r>
              <a:rPr lang="en-IN" dirty="0" err="1"/>
              <a:t>varchar</a:t>
            </a:r>
            <a:r>
              <a:rPr lang="en-IN" dirty="0"/>
              <a:t>(10) | YES  |     | NULL    |       |</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19003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27914"/>
            <a:ext cx="7886700" cy="770654"/>
          </a:xfrm>
        </p:spPr>
        <p:txBody>
          <a:bodyPr/>
          <a:lstStyle/>
          <a:p>
            <a:r>
              <a:rPr lang="en-US" dirty="0" smtClean="0">
                <a:solidFill>
                  <a:srgbClr val="FF0000"/>
                </a:solidFill>
              </a:rPr>
              <a:t>Truncate:</a:t>
            </a:r>
            <a:endParaRPr lang="en-IN" dirty="0">
              <a:solidFill>
                <a:srgbClr val="FF0000"/>
              </a:solidFill>
            </a:endParaRPr>
          </a:p>
        </p:txBody>
      </p:sp>
      <p:sp>
        <p:nvSpPr>
          <p:cNvPr id="3" name="Text Placeholder 2"/>
          <p:cNvSpPr>
            <a:spLocks noGrp="1"/>
          </p:cNvSpPr>
          <p:nvPr>
            <p:ph type="body" idx="1"/>
          </p:nvPr>
        </p:nvSpPr>
        <p:spPr>
          <a:xfrm>
            <a:off x="532397" y="2005013"/>
            <a:ext cx="7886700" cy="4351338"/>
          </a:xfrm>
        </p:spPr>
        <p:txBody>
          <a:bodyPr>
            <a:normAutofit fontScale="92500" lnSpcReduction="10000"/>
          </a:bodyPr>
          <a:lstStyle/>
          <a:p>
            <a:r>
              <a:rPr lang="en-IN" dirty="0" err="1"/>
              <a:t>mysql</a:t>
            </a:r>
            <a:r>
              <a:rPr lang="en-IN" dirty="0"/>
              <a:t>&gt; truncate table </a:t>
            </a:r>
            <a:r>
              <a:rPr lang="en-IN" dirty="0" err="1" smtClean="0"/>
              <a:t>student_info</a:t>
            </a:r>
            <a:r>
              <a:rPr lang="en-IN" dirty="0" smtClean="0"/>
              <a:t>;</a:t>
            </a:r>
            <a:endParaRPr lang="en-IN" dirty="0"/>
          </a:p>
          <a:p>
            <a:r>
              <a:rPr lang="en-IN" dirty="0" err="1"/>
              <a:t>mysql</a:t>
            </a:r>
            <a:r>
              <a:rPr lang="en-IN" dirty="0"/>
              <a:t>&gt; </a:t>
            </a:r>
            <a:r>
              <a:rPr lang="en-IN" dirty="0" err="1"/>
              <a:t>desc</a:t>
            </a:r>
            <a:r>
              <a:rPr lang="en-IN" dirty="0"/>
              <a:t> </a:t>
            </a:r>
            <a:r>
              <a:rPr lang="en-IN" dirty="0" err="1" smtClean="0"/>
              <a:t>student_info</a:t>
            </a:r>
            <a:r>
              <a:rPr lang="en-IN" dirty="0" smtClean="0"/>
              <a:t>;</a:t>
            </a:r>
            <a:endParaRPr lang="en-IN" dirty="0"/>
          </a:p>
          <a:p>
            <a:pPr marL="114300" indent="0">
              <a:buNone/>
            </a:pPr>
            <a:r>
              <a:rPr lang="en-IN" dirty="0"/>
              <a:t>+------------+-------------+------+-----+---------+-------+</a:t>
            </a:r>
          </a:p>
          <a:p>
            <a:pPr marL="114300" indent="0">
              <a:buNone/>
            </a:pPr>
            <a:r>
              <a:rPr lang="en-IN" dirty="0"/>
              <a:t>| Field      | Type        | Null | Key | Default | Extra |</a:t>
            </a:r>
          </a:p>
          <a:p>
            <a:pPr marL="114300" indent="0">
              <a:buNone/>
            </a:pPr>
            <a:r>
              <a:rPr lang="en-IN" dirty="0"/>
              <a:t>+------------+-------------+------+-----+---------+-------+</a:t>
            </a:r>
          </a:p>
          <a:p>
            <a:pPr marL="114300" indent="0">
              <a:buNone/>
            </a:pPr>
            <a:r>
              <a:rPr lang="en-IN" dirty="0"/>
              <a:t>| </a:t>
            </a:r>
            <a:r>
              <a:rPr lang="en-IN" dirty="0" err="1"/>
              <a:t>st_roll_no</a:t>
            </a:r>
            <a:r>
              <a:rPr lang="en-IN" dirty="0"/>
              <a:t> | </a:t>
            </a:r>
            <a:r>
              <a:rPr lang="en-IN" dirty="0" err="1"/>
              <a:t>int</a:t>
            </a:r>
            <a:r>
              <a:rPr lang="en-IN" dirty="0"/>
              <a:t>         | YES  |     | NULL    |       |</a:t>
            </a:r>
          </a:p>
          <a:p>
            <a:pPr marL="114300" indent="0">
              <a:buNone/>
            </a:pPr>
            <a:r>
              <a:rPr lang="en-IN" dirty="0"/>
              <a:t>| </a:t>
            </a:r>
            <a:r>
              <a:rPr lang="en-IN" dirty="0" err="1"/>
              <a:t>st_name</a:t>
            </a:r>
            <a:r>
              <a:rPr lang="en-IN" dirty="0"/>
              <a:t>    | </a:t>
            </a:r>
            <a:r>
              <a:rPr lang="en-IN" dirty="0" err="1"/>
              <a:t>varchar</a:t>
            </a:r>
            <a:r>
              <a:rPr lang="en-IN" dirty="0"/>
              <a:t>(10) | YES  |     | NULL    |       |</a:t>
            </a:r>
          </a:p>
          <a:p>
            <a:pPr marL="114300" indent="0">
              <a:buNone/>
            </a:pPr>
            <a:r>
              <a:rPr lang="en-IN" dirty="0"/>
              <a:t>| </a:t>
            </a:r>
            <a:r>
              <a:rPr lang="en-IN" dirty="0" err="1"/>
              <a:t>st_pincode</a:t>
            </a:r>
            <a:r>
              <a:rPr lang="en-IN" dirty="0"/>
              <a:t> | </a:t>
            </a:r>
            <a:r>
              <a:rPr lang="en-IN" dirty="0" err="1"/>
              <a:t>varchar</a:t>
            </a:r>
            <a:r>
              <a:rPr lang="en-IN" dirty="0"/>
              <a:t>(10) | YES  |     | NULL    |       |</a:t>
            </a:r>
          </a:p>
          <a:p>
            <a:pPr marL="114300" indent="0">
              <a:buNone/>
            </a:pPr>
            <a:r>
              <a:rPr lang="en-IN" dirty="0"/>
              <a: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7" name="Rectangle 2"/>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
        <p:nvSpPr>
          <p:cNvPr id="8" name="TextBox 7"/>
          <p:cNvSpPr txBox="1"/>
          <p:nvPr/>
        </p:nvSpPr>
        <p:spPr>
          <a:xfrm>
            <a:off x="3407342" y="1041365"/>
            <a:ext cx="5216893" cy="1015663"/>
          </a:xfrm>
          <a:prstGeom prst="rect">
            <a:avLst/>
          </a:prstGeom>
          <a:noFill/>
        </p:spPr>
        <p:txBody>
          <a:bodyPr wrap="square" rtlCol="0">
            <a:spAutoFit/>
          </a:bodyPr>
          <a:lstStyle/>
          <a:p>
            <a:r>
              <a:rPr lang="en-US" altLang="en-US" sz="2000" dirty="0">
                <a:solidFill>
                  <a:schemeClr val="tx1"/>
                </a:solidFill>
                <a:latin typeface="Arial" panose="020B0604020202020204" pitchFamily="34" charset="0"/>
              </a:rPr>
              <a:t>The </a:t>
            </a:r>
            <a:r>
              <a:rPr lang="en-US" altLang="en-US" sz="2000" dirty="0">
                <a:solidFill>
                  <a:schemeClr val="tx1"/>
                </a:solidFill>
                <a:latin typeface="Arial Unicode MS" panose="020B0604020202020204" pitchFamily="34" charset="-128"/>
              </a:rPr>
              <a:t>TRUNCATE</a:t>
            </a:r>
            <a:r>
              <a:rPr lang="en-US" altLang="en-US" sz="2000" dirty="0">
                <a:solidFill>
                  <a:schemeClr val="tx1"/>
                </a:solidFill>
              </a:rPr>
              <a:t> command deletes </a:t>
            </a:r>
            <a:r>
              <a:rPr lang="en-US" altLang="en-US" sz="2000" b="1" dirty="0">
                <a:solidFill>
                  <a:schemeClr val="tx1"/>
                </a:solidFill>
                <a:latin typeface="Arial" panose="020B0604020202020204" pitchFamily="34" charset="0"/>
              </a:rPr>
              <a:t>all records</a:t>
            </a:r>
            <a:r>
              <a:rPr lang="en-US" altLang="en-US" sz="2000" dirty="0">
                <a:solidFill>
                  <a:schemeClr val="tx1"/>
                </a:solidFill>
                <a:latin typeface="Arial" panose="020B0604020202020204" pitchFamily="34" charset="0"/>
              </a:rPr>
              <a:t> from the table but </a:t>
            </a:r>
            <a:r>
              <a:rPr lang="en-US" altLang="en-US" sz="2000" b="1" dirty="0">
                <a:solidFill>
                  <a:schemeClr val="tx1"/>
                </a:solidFill>
                <a:latin typeface="Arial" panose="020B0604020202020204" pitchFamily="34" charset="0"/>
              </a:rPr>
              <a:t>keeps the table structure</a:t>
            </a:r>
            <a:endParaRPr lang="en-IN" sz="2000" dirty="0"/>
          </a:p>
        </p:txBody>
      </p:sp>
    </p:spTree>
    <p:extLst>
      <p:ext uri="{BB962C8B-B14F-4D97-AF65-F5344CB8AC3E}">
        <p14:creationId xmlns:p14="http://schemas.microsoft.com/office/powerpoint/2010/main" val="36706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033" y="659371"/>
            <a:ext cx="7886700" cy="1325563"/>
          </a:xfrm>
        </p:spPr>
        <p:txBody>
          <a:bodyPr/>
          <a:lstStyle/>
          <a:p>
            <a:r>
              <a:rPr lang="en-US" dirty="0" smtClean="0">
                <a:solidFill>
                  <a:srgbClr val="FF0000"/>
                </a:solidFill>
              </a:rPr>
              <a:t>Drop</a:t>
            </a:r>
            <a:r>
              <a:rPr lang="en-US" dirty="0" smtClean="0"/>
              <a:t>:</a:t>
            </a:r>
            <a:endParaRPr lang="en-IN" dirty="0"/>
          </a:p>
        </p:txBody>
      </p:sp>
      <p:sp>
        <p:nvSpPr>
          <p:cNvPr id="3" name="Text Placeholder 2"/>
          <p:cNvSpPr>
            <a:spLocks noGrp="1"/>
          </p:cNvSpPr>
          <p:nvPr>
            <p:ph type="body" idx="1"/>
          </p:nvPr>
        </p:nvSpPr>
        <p:spPr>
          <a:xfrm>
            <a:off x="628650" y="1501541"/>
            <a:ext cx="7886700" cy="4675422"/>
          </a:xfrm>
        </p:spPr>
        <p:txBody>
          <a:bodyPr/>
          <a:lstStyle/>
          <a:p>
            <a:r>
              <a:rPr lang="en-IN" dirty="0" err="1"/>
              <a:t>mysql</a:t>
            </a:r>
            <a:r>
              <a:rPr lang="en-IN" dirty="0"/>
              <a:t>&gt; drop table </a:t>
            </a:r>
            <a:r>
              <a:rPr lang="en-IN" dirty="0" err="1"/>
              <a:t>student_info</a:t>
            </a:r>
            <a:r>
              <a:rPr lang="en-IN" dirty="0"/>
              <a:t>;</a:t>
            </a:r>
          </a:p>
          <a:p>
            <a:pPr marL="114300" indent="0">
              <a:buNone/>
            </a:pPr>
            <a:r>
              <a:rPr lang="en-IN" dirty="0"/>
              <a:t>Query OK, 0 rows affected (0.02 sec</a:t>
            </a:r>
            <a:r>
              <a:rPr lang="en-IN" dirty="0" smtClean="0"/>
              <a:t>)</a:t>
            </a:r>
          </a:p>
          <a:p>
            <a:r>
              <a:rPr lang="en-IN" dirty="0" err="1"/>
              <a:t>mysql</a:t>
            </a:r>
            <a:r>
              <a:rPr lang="en-IN" dirty="0"/>
              <a:t>&gt; </a:t>
            </a:r>
            <a:r>
              <a:rPr lang="en-IN" dirty="0" err="1"/>
              <a:t>desc</a:t>
            </a:r>
            <a:r>
              <a:rPr lang="en-IN" dirty="0"/>
              <a:t> </a:t>
            </a:r>
            <a:r>
              <a:rPr lang="en-IN" dirty="0" err="1"/>
              <a:t>student_info</a:t>
            </a:r>
            <a:r>
              <a:rPr lang="en-IN" dirty="0"/>
              <a:t>;</a:t>
            </a:r>
          </a:p>
          <a:p>
            <a:pPr marL="114300" indent="0">
              <a:buNone/>
            </a:pPr>
            <a:r>
              <a:rPr lang="en-IN" dirty="0" smtClean="0"/>
              <a:t>	ERROR </a:t>
            </a:r>
            <a:r>
              <a:rPr lang="en-IN" dirty="0"/>
              <a:t>1146 (42S02): Table '</a:t>
            </a:r>
            <a:r>
              <a:rPr lang="en-IN" dirty="0" err="1"/>
              <a:t>ddl.student_info</a:t>
            </a:r>
            <a:r>
              <a:rPr lang="en-IN" dirty="0"/>
              <a:t>' </a:t>
            </a:r>
            <a:r>
              <a:rPr lang="en-IN" dirty="0" smtClean="0"/>
              <a:t>	doesn't </a:t>
            </a:r>
            <a:r>
              <a:rPr lang="en-IN" dirty="0"/>
              <a:t>exist</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1175273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2"/>
          <p:cNvSpPr txBox="1">
            <a:spLocks noGrp="1"/>
          </p:cNvSpPr>
          <p:nvPr>
            <p:ph type="title"/>
          </p:nvPr>
        </p:nvSpPr>
        <p:spPr>
          <a:xfrm>
            <a:off x="628650" y="618882"/>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600">
                <a:latin typeface="Times New Roman"/>
                <a:ea typeface="Times New Roman"/>
                <a:cs typeface="Times New Roman"/>
                <a:sym typeface="Times New Roman"/>
              </a:rPr>
              <a:t>Data-Manipulation Language</a:t>
            </a:r>
            <a:endParaRPr sz="3600"/>
          </a:p>
        </p:txBody>
      </p:sp>
      <p:sp>
        <p:nvSpPr>
          <p:cNvPr id="222" name="Google Shape;222;p22"/>
          <p:cNvSpPr txBox="1">
            <a:spLocks noGrp="1"/>
          </p:cNvSpPr>
          <p:nvPr>
            <p:ph type="body" idx="1"/>
          </p:nvPr>
        </p:nvSpPr>
        <p:spPr>
          <a:xfrm>
            <a:off x="628650" y="1461052"/>
            <a:ext cx="7886700" cy="4715911"/>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There are basically two types of data-manipulation language</a:t>
            </a:r>
            <a:endParaRPr/>
          </a:p>
          <a:p>
            <a:pPr marL="114300" lvl="0" indent="0" algn="just" rtl="0">
              <a:lnSpc>
                <a:spcPct val="90000"/>
              </a:lnSpc>
              <a:spcBef>
                <a:spcPts val="1000"/>
              </a:spcBef>
              <a:spcAft>
                <a:spcPts val="0"/>
              </a:spcAft>
              <a:buSzPts val="1800"/>
              <a:buNone/>
            </a:pPr>
            <a:r>
              <a:rPr lang="en-US" sz="1600" b="1">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Procedural DML -- </a:t>
            </a:r>
            <a:r>
              <a:rPr lang="en-US" sz="2000">
                <a:latin typeface="Times New Roman"/>
                <a:ea typeface="Times New Roman"/>
                <a:cs typeface="Times New Roman"/>
                <a:sym typeface="Times New Roman"/>
              </a:rPr>
              <a:t>require a user to specify what data are</a:t>
            </a:r>
            <a:endParaRPr/>
          </a:p>
          <a:p>
            <a:pPr marL="114300" lvl="0" indent="0" algn="just" rtl="0">
              <a:lnSpc>
                <a:spcPct val="90000"/>
              </a:lnSpc>
              <a:spcBef>
                <a:spcPts val="1000"/>
              </a:spcBef>
              <a:spcAft>
                <a:spcPts val="0"/>
              </a:spcAft>
              <a:buSzPts val="1800"/>
              <a:buNone/>
            </a:pPr>
            <a:r>
              <a:rPr lang="en-US" sz="2000">
                <a:latin typeface="Times New Roman"/>
                <a:ea typeface="Times New Roman"/>
                <a:cs typeface="Times New Roman"/>
                <a:sym typeface="Times New Roman"/>
              </a:rPr>
              <a:t>	 needed and how to get those data.</a:t>
            </a:r>
            <a:endParaRPr/>
          </a:p>
          <a:p>
            <a:pPr marL="914400" lvl="1" indent="-342900" algn="just" rtl="0">
              <a:lnSpc>
                <a:spcPct val="90000"/>
              </a:lnSpc>
              <a:spcBef>
                <a:spcPts val="500"/>
              </a:spcBef>
              <a:spcAft>
                <a:spcPts val="0"/>
              </a:spcAft>
              <a:buSzPts val="1800"/>
              <a:buChar char="•"/>
            </a:pP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Declarative DML </a:t>
            </a:r>
            <a:r>
              <a:rPr lang="en-US" sz="2000">
                <a:latin typeface="Times New Roman"/>
                <a:ea typeface="Times New Roman"/>
                <a:cs typeface="Times New Roman"/>
                <a:sym typeface="Times New Roman"/>
              </a:rPr>
              <a:t>-- require a user to specify what data are needed without specifying how to get those data.</a:t>
            </a:r>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Declarative DMLs are usually easier to learn and use than are procedural DMLs.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Declarative DMLs are also referred to as non-procedural DMLs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The portion of a DML that involves information retrieval is called a query language. </a:t>
            </a:r>
            <a:endParaRPr sz="2400">
              <a:latin typeface="Times New Roman"/>
              <a:ea typeface="Times New Roman"/>
              <a:cs typeface="Times New Roman"/>
              <a:sym typeface="Times New Roman"/>
            </a:endParaRPr>
          </a:p>
        </p:txBody>
      </p:sp>
      <p:sp>
        <p:nvSpPr>
          <p:cNvPr id="223" name="Google Shape;223;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59762"/>
            <a:ext cx="7886700" cy="1325563"/>
          </a:xfrm>
        </p:spPr>
        <p:txBody>
          <a:bodyPr>
            <a:normAutofit/>
          </a:bodyPr>
          <a:lstStyle/>
          <a:p>
            <a:pPr>
              <a:spcBef>
                <a:spcPts val="1000"/>
              </a:spcBef>
              <a:buFont typeface="Arial"/>
            </a:pPr>
            <a:r>
              <a:rPr lang="en-US" sz="4000" dirty="0">
                <a:latin typeface="Times New Roman" panose="02020603050405020304" pitchFamily="18" charset="0"/>
                <a:cs typeface="Times New Roman" panose="02020603050405020304" pitchFamily="18" charset="0"/>
              </a:rPr>
              <a:t>Procedural DML</a:t>
            </a:r>
            <a:endParaRPr lang="en-IN" sz="4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rmAutofit fontScale="92500" lnSpcReduction="10000"/>
          </a:bodyPr>
          <a:lstStyle/>
          <a:p>
            <a:pPr marL="114300" indent="0">
              <a:buFont typeface="Arial"/>
              <a:buNone/>
            </a:pPr>
            <a:r>
              <a:rPr lang="en-US" dirty="0"/>
              <a:t/>
            </a:r>
            <a:br>
              <a:rPr lang="en-US" dirty="0"/>
            </a:br>
            <a:r>
              <a:rPr lang="en-US" dirty="0">
                <a:latin typeface="Times New Roman" panose="02020603050405020304" pitchFamily="18" charset="0"/>
                <a:cs typeface="Times New Roman" panose="02020603050405020304" pitchFamily="18" charset="0"/>
              </a:rPr>
              <a:t>A language in which the user specifies both what data is required and how to retrieve it. The programmer writes the steps for data retrieval.</a:t>
            </a:r>
          </a:p>
          <a:p>
            <a:r>
              <a:rPr lang="en-US" dirty="0">
                <a:latin typeface="Times New Roman" panose="02020603050405020304" pitchFamily="18" charset="0"/>
                <a:cs typeface="Times New Roman" panose="02020603050405020304" pitchFamily="18" charset="0"/>
              </a:rPr>
              <a:t>Example</a:t>
            </a:r>
            <a:r>
              <a:rPr lang="en-US" dirty="0" smtClean="0">
                <a:latin typeface="Times New Roman" panose="02020603050405020304" pitchFamily="18" charset="0"/>
                <a:cs typeface="Times New Roman" panose="02020603050405020304" pitchFamily="18" charset="0"/>
              </a:rPr>
              <a:t>: </a:t>
            </a:r>
            <a:r>
              <a:rPr lang="en-IN" dirty="0"/>
              <a:t>PL/SQL, Embedded SQL</a:t>
            </a:r>
            <a:endParaRPr lang="en-US" dirty="0">
              <a:latin typeface="Times New Roman" panose="02020603050405020304" pitchFamily="18" charset="0"/>
              <a:cs typeface="Times New Roman" panose="02020603050405020304" pitchFamily="18" charset="0"/>
            </a:endParaRPr>
          </a:p>
          <a:p>
            <a:pPr marL="571500" lvl="1" indent="0">
              <a:buFont typeface="Arial"/>
              <a:buNone/>
            </a:pPr>
            <a:endParaRPr lang="en-US" sz="2800" dirty="0" smtClean="0">
              <a:latin typeface="Times New Roman" panose="02020603050405020304" pitchFamily="18" charset="0"/>
              <a:cs typeface="Times New Roman" panose="02020603050405020304" pitchFamily="18" charset="0"/>
            </a:endParaRPr>
          </a:p>
          <a:p>
            <a:pPr marL="571500" lvl="1" indent="0">
              <a:buFont typeface="Arial"/>
              <a:buNone/>
            </a:pPr>
            <a:r>
              <a:rPr lang="en-US" sz="2800" dirty="0" smtClean="0">
                <a:latin typeface="Times New Roman" panose="02020603050405020304" pitchFamily="18" charset="0"/>
                <a:cs typeface="Times New Roman" panose="02020603050405020304" pitchFamily="18" charset="0"/>
              </a:rPr>
              <a:t>Open </a:t>
            </a:r>
            <a:r>
              <a:rPr lang="en-US" sz="2800" dirty="0">
                <a:latin typeface="Times New Roman" panose="02020603050405020304" pitchFamily="18" charset="0"/>
                <a:cs typeface="Times New Roman" panose="02020603050405020304" pitchFamily="18" charset="0"/>
              </a:rPr>
              <a:t>Student table</a:t>
            </a:r>
          </a:p>
          <a:p>
            <a:pPr marL="571500" lvl="1" indent="0">
              <a:buFont typeface="Arial"/>
              <a:buNone/>
            </a:pPr>
            <a:r>
              <a:rPr lang="en-US" sz="2800" dirty="0">
                <a:latin typeface="Times New Roman" panose="02020603050405020304" pitchFamily="18" charset="0"/>
                <a:cs typeface="Times New Roman" panose="02020603050405020304" pitchFamily="18" charset="0"/>
              </a:rPr>
              <a:t>Read each record</a:t>
            </a:r>
          </a:p>
          <a:p>
            <a:pPr marL="571500" lvl="1" indent="0">
              <a:buFont typeface="Arial"/>
              <a:buNone/>
            </a:pPr>
            <a:r>
              <a:rPr lang="en-US" sz="2800" dirty="0">
                <a:latin typeface="Times New Roman" panose="02020603050405020304" pitchFamily="18" charset="0"/>
                <a:cs typeface="Times New Roman" panose="02020603050405020304" pitchFamily="18" charset="0"/>
              </a:rPr>
              <a:t>If Marks &gt; 80</a:t>
            </a:r>
          </a:p>
          <a:p>
            <a:pPr marL="571500" lvl="1" indent="0">
              <a:buFont typeface="Arial"/>
              <a:buNone/>
            </a:pPr>
            <a:r>
              <a:rPr lang="en-US" sz="2800" dirty="0">
                <a:latin typeface="Times New Roman" panose="02020603050405020304" pitchFamily="18" charset="0"/>
                <a:cs typeface="Times New Roman" panose="02020603050405020304" pitchFamily="18" charset="0"/>
              </a:rPr>
              <a:t>   Display Name</a:t>
            </a:r>
          </a:p>
          <a:p>
            <a:pPr marL="571500" lvl="1" indent="0">
              <a:buFont typeface="Arial"/>
              <a:buNone/>
            </a:pPr>
            <a:r>
              <a:rPr lang="en-US" sz="2800" dirty="0">
                <a:latin typeface="Times New Roman" panose="02020603050405020304" pitchFamily="18" charset="0"/>
                <a:cs typeface="Times New Roman" panose="02020603050405020304" pitchFamily="18" charset="0"/>
              </a:rPr>
              <a:t>End</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2537194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83455"/>
            <a:ext cx="7886700" cy="1325563"/>
          </a:xfrm>
        </p:spPr>
        <p:txBody>
          <a:bodyPr/>
          <a:lstStyle/>
          <a:p>
            <a:r>
              <a:rPr lang="en-IN" sz="3600" dirty="0">
                <a:latin typeface="Times New Roman" panose="02020603050405020304" pitchFamily="18" charset="0"/>
                <a:cs typeface="Times New Roman" panose="02020603050405020304" pitchFamily="18" charset="0"/>
              </a:rPr>
              <a:t>Non-Procedural</a:t>
            </a:r>
            <a:r>
              <a:rPr lang="en-IN" sz="3600" dirty="0"/>
              <a:t> DML:</a:t>
            </a:r>
            <a:r>
              <a:rPr lang="en-IN" dirty="0"/>
              <a:t/>
            </a:r>
            <a:br>
              <a:rPr lang="en-IN" dirty="0"/>
            </a:br>
            <a:endParaRPr lang="en-IN" dirty="0"/>
          </a:p>
        </p:txBody>
      </p:sp>
      <p:sp>
        <p:nvSpPr>
          <p:cNvPr id="3" name="Text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A language in which the user specifies </a:t>
            </a:r>
            <a:r>
              <a:rPr lang="en-US" b="1" dirty="0">
                <a:latin typeface="Times New Roman" panose="02020603050405020304" pitchFamily="18" charset="0"/>
                <a:cs typeface="Times New Roman" panose="02020603050405020304" pitchFamily="18" charset="0"/>
              </a:rPr>
              <a:t>only what data is required</a:t>
            </a:r>
            <a:r>
              <a:rPr lang="en-US" dirty="0">
                <a:latin typeface="Times New Roman" panose="02020603050405020304" pitchFamily="18" charset="0"/>
                <a:cs typeface="Times New Roman" panose="02020603050405020304" pitchFamily="18" charset="0"/>
              </a:rPr>
              <a:t>, while the DBMS determines how to retrieve it</a:t>
            </a:r>
            <a:r>
              <a:rPr lang="en-US" dirty="0" smtClean="0">
                <a:latin typeface="Times New Roman" panose="02020603050405020304" pitchFamily="18" charset="0"/>
                <a:cs typeface="Times New Roman" panose="02020603050405020304" pitchFamily="18" charset="0"/>
              </a:rPr>
              <a:t>.</a:t>
            </a:r>
          </a:p>
          <a:p>
            <a:r>
              <a:rPr lang="en-IN" dirty="0" err="1" smtClean="0">
                <a:latin typeface="Times New Roman" panose="02020603050405020304" pitchFamily="18" charset="0"/>
                <a:cs typeface="Times New Roman" panose="02020603050405020304" pitchFamily="18" charset="0"/>
              </a:rPr>
              <a:t>Example:SQL</a:t>
            </a:r>
            <a:r>
              <a:rPr lang="en-IN" dirty="0" smtClean="0">
                <a:latin typeface="Times New Roman" panose="02020603050405020304" pitchFamily="18" charset="0"/>
                <a:cs typeface="Times New Roman" panose="02020603050405020304" pitchFamily="18" charset="0"/>
              </a:rPr>
              <a:t>(Select, </a:t>
            </a:r>
            <a:r>
              <a:rPr lang="en-IN" dirty="0" err="1" smtClean="0">
                <a:latin typeface="Times New Roman" panose="02020603050405020304" pitchFamily="18" charset="0"/>
                <a:cs typeface="Times New Roman" panose="02020603050405020304" pitchFamily="18" charset="0"/>
              </a:rPr>
              <a:t>Update,Insert</a:t>
            </a:r>
            <a:r>
              <a:rPr lang="en-IN" dirty="0" smtClean="0">
                <a:latin typeface="Times New Roman" panose="02020603050405020304" pitchFamily="18" charset="0"/>
                <a:cs typeface="Times New Roman" panose="02020603050405020304" pitchFamily="18" charset="0"/>
              </a:rPr>
              <a:t>, Delete)</a:t>
            </a:r>
            <a:endParaRPr lang="en-US" dirty="0" smtClean="0">
              <a:latin typeface="Times New Roman" panose="02020603050405020304" pitchFamily="18" charset="0"/>
              <a:cs typeface="Times New Roman" panose="02020603050405020304" pitchFamily="18" charset="0"/>
            </a:endParaRPr>
          </a:p>
          <a:p>
            <a:pPr marL="571500" lvl="1" indent="0">
              <a:buNone/>
            </a:pPr>
            <a:endParaRPr lang="en-US" dirty="0" smtClean="0">
              <a:latin typeface="Times New Roman" panose="02020603050405020304" pitchFamily="18" charset="0"/>
              <a:cs typeface="Times New Roman" panose="02020603050405020304" pitchFamily="18" charset="0"/>
            </a:endParaRPr>
          </a:p>
          <a:p>
            <a:pPr marL="571500" lvl="1" indent="0">
              <a:buNone/>
            </a:pPr>
            <a:r>
              <a:rPr lang="en-US" dirty="0" smtClean="0">
                <a:latin typeface="Times New Roman" panose="02020603050405020304" pitchFamily="18" charset="0"/>
                <a:cs typeface="Times New Roman" panose="02020603050405020304" pitchFamily="18" charset="0"/>
              </a:rPr>
              <a:t>SELECT </a:t>
            </a:r>
            <a:r>
              <a:rPr lang="en-US" dirty="0">
                <a:latin typeface="Times New Roman" panose="02020603050405020304" pitchFamily="18" charset="0"/>
                <a:cs typeface="Times New Roman" panose="02020603050405020304" pitchFamily="18" charset="0"/>
              </a:rPr>
              <a:t>Name</a:t>
            </a:r>
          </a:p>
          <a:p>
            <a:pPr marL="571500" lvl="1" indent="0">
              <a:buNone/>
            </a:pPr>
            <a:r>
              <a:rPr lang="en-US" dirty="0">
                <a:latin typeface="Times New Roman" panose="02020603050405020304" pitchFamily="18" charset="0"/>
                <a:cs typeface="Times New Roman" panose="02020603050405020304" pitchFamily="18" charset="0"/>
              </a:rPr>
              <a:t>FROM Student</a:t>
            </a:r>
          </a:p>
          <a:p>
            <a:pPr marL="571500" lvl="1" indent="0">
              <a:buNone/>
            </a:pPr>
            <a:r>
              <a:rPr lang="en-US" dirty="0">
                <a:latin typeface="Times New Roman" panose="02020603050405020304" pitchFamily="18" charset="0"/>
                <a:cs typeface="Times New Roman" panose="02020603050405020304" pitchFamily="18" charset="0"/>
              </a:rPr>
              <a:t>WHERE Marks &gt; 80;</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4226140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7"/>
          <p:cNvSpPr txBox="1">
            <a:spLocks noGrp="1"/>
          </p:cNvSpPr>
          <p:nvPr>
            <p:ph type="title"/>
          </p:nvPr>
        </p:nvSpPr>
        <p:spPr>
          <a:xfrm>
            <a:off x="628650" y="681037"/>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dirty="0">
                <a:solidFill>
                  <a:srgbClr val="FF0000"/>
                </a:solidFill>
                <a:latin typeface="Times New Roman"/>
                <a:ea typeface="Times New Roman"/>
                <a:cs typeface="Times New Roman"/>
                <a:sym typeface="Times New Roman"/>
              </a:rPr>
              <a:t>DML</a:t>
            </a:r>
            <a:endParaRPr dirty="0"/>
          </a:p>
        </p:txBody>
      </p:sp>
      <p:sp>
        <p:nvSpPr>
          <p:cNvPr id="343" name="Google Shape;343;p3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DML is short name of </a:t>
            </a:r>
            <a:r>
              <a:rPr lang="en-US" sz="2400" b="1" dirty="0">
                <a:latin typeface="Times New Roman"/>
                <a:ea typeface="Times New Roman"/>
                <a:cs typeface="Times New Roman"/>
                <a:sym typeface="Times New Roman"/>
              </a:rPr>
              <a:t>Data Manipulation Language</a:t>
            </a:r>
            <a:r>
              <a:rPr lang="en-US" sz="2400" dirty="0">
                <a:latin typeface="Times New Roman"/>
                <a:ea typeface="Times New Roman"/>
                <a:cs typeface="Times New Roman"/>
                <a:sym typeface="Times New Roman"/>
              </a:rPr>
              <a:t> which deals with data manipulation.</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SELECT - retrieve data from a database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INSERT - insert data into a table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UPDATE - updates existing data within a table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DELETE - Delete all records from a database table</a:t>
            </a:r>
            <a:endParaRPr dirty="0"/>
          </a:p>
        </p:txBody>
      </p:sp>
    </p:spTree>
    <p:extLst>
      <p:ext uri="{BB962C8B-B14F-4D97-AF65-F5344CB8AC3E}">
        <p14:creationId xmlns:p14="http://schemas.microsoft.com/office/powerpoint/2010/main" val="28879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9892" y="1953928"/>
            <a:ext cx="7886700" cy="4506896"/>
          </a:xfrm>
        </p:spPr>
        <p:txBody>
          <a:bodyPr/>
          <a:lstStyle/>
          <a:p>
            <a:pPr marL="114300" indent="0">
              <a:buNone/>
            </a:pPr>
            <a:r>
              <a:rPr lang="en-US" dirty="0" smtClean="0">
                <a:solidFill>
                  <a:srgbClr val="FF0000"/>
                </a:solidFill>
              </a:rPr>
              <a:t>  INSERT</a:t>
            </a:r>
            <a:r>
              <a:rPr lang="en-US" dirty="0" smtClean="0"/>
              <a:t>:</a:t>
            </a:r>
          </a:p>
          <a:p>
            <a:pPr marL="114300" indent="0">
              <a:buNone/>
            </a:pPr>
            <a:r>
              <a:rPr lang="en-US" dirty="0"/>
              <a:t> </a:t>
            </a:r>
            <a:r>
              <a:rPr lang="en-US" dirty="0" smtClean="0"/>
              <a:t>   Examples:</a:t>
            </a:r>
          </a:p>
          <a:p>
            <a:pPr marL="114300" indent="0">
              <a:buNone/>
            </a:pPr>
            <a:endParaRPr lang="en-US" dirty="0" smtClean="0"/>
          </a:p>
          <a:p>
            <a:pPr marL="114300" indent="0">
              <a:buNone/>
            </a:pPr>
            <a:endParaRPr lang="en-US" dirty="0"/>
          </a:p>
          <a:p>
            <a:pPr marL="114300" indent="0">
              <a:buNone/>
            </a:pPr>
            <a:r>
              <a:rPr lang="en-IN" dirty="0" smtClean="0">
                <a:solidFill>
                  <a:srgbClr val="FF0000"/>
                </a:solidFill>
              </a:rPr>
              <a:t>SELECT</a:t>
            </a:r>
            <a:r>
              <a:rPr lang="en-IN" dirty="0" smtClean="0"/>
              <a:t>: </a:t>
            </a:r>
          </a:p>
          <a:p>
            <a:endParaRPr lang="en-IN" dirty="0" smtClean="0"/>
          </a:p>
          <a:p>
            <a:pPr marL="114300" indent="0">
              <a:buNone/>
            </a:pPr>
            <a:r>
              <a:rPr lang="en-US" dirty="0"/>
              <a:t> </a:t>
            </a:r>
            <a:r>
              <a:rPr lang="en-US" dirty="0" smtClean="0"/>
              <a:t>   Example:</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
        <p:nvSpPr>
          <p:cNvPr id="6" name="Rectangle 2"/>
          <p:cNvSpPr>
            <a:spLocks noChangeArrowheads="1"/>
          </p:cNvSpPr>
          <p:nvPr/>
        </p:nvSpPr>
        <p:spPr bwMode="auto">
          <a:xfrm>
            <a:off x="2021305" y="2152330"/>
            <a:ext cx="6795436"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Insert into &lt;</a:t>
            </a:r>
            <a:r>
              <a:rPr kumimoji="0" lang="en-US" altLang="en-US" sz="1800" b="0" i="0" u="none" strike="noStrike" cap="none" normalizeH="0" baseline="0" dirty="0" err="1" smtClean="0">
                <a:ln>
                  <a:noFill/>
                </a:ln>
                <a:solidFill>
                  <a:srgbClr val="000000"/>
                </a:solidFill>
                <a:effectLst/>
                <a:latin typeface="var(--bs-font-monospace)"/>
              </a:rPr>
              <a:t>table_name</a:t>
            </a:r>
            <a:r>
              <a:rPr kumimoji="0" lang="en-US" altLang="en-US" sz="1800" b="0" i="0" u="none" strike="noStrike" cap="none" normalizeH="0" baseline="0" dirty="0" smtClean="0">
                <a:ln>
                  <a:noFill/>
                </a:ln>
                <a:solidFill>
                  <a:srgbClr val="000000"/>
                </a:solidFill>
                <a:effectLst/>
                <a:latin typeface="var(--bs-font-monospace)"/>
              </a:rPr>
              <a:t>&gt; (column list) values (column values);</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946585" y="3150380"/>
            <a:ext cx="7998593" cy="99124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Insert into Employee(</a:t>
            </a:r>
            <a:r>
              <a:rPr kumimoji="0" lang="en-US" altLang="en-US" sz="1800" b="0" i="0" u="none" strike="noStrike" cap="none" normalizeH="0" baseline="0" dirty="0" err="1" smtClean="0">
                <a:ln>
                  <a:noFill/>
                </a:ln>
                <a:solidFill>
                  <a:srgbClr val="000000"/>
                </a:solidFill>
                <a:effectLst/>
                <a:latin typeface="var(--bs-font-monospace)"/>
              </a:rPr>
              <a:t>Emp_id</a:t>
            </a:r>
            <a:r>
              <a:rPr kumimoji="0" lang="en-US" altLang="en-US" sz="1800" b="0" i="0" u="none" strike="noStrike" cap="none" normalizeH="0" baseline="0" dirty="0" smtClean="0">
                <a:ln>
                  <a:noFill/>
                </a:ln>
                <a:solidFill>
                  <a:srgbClr val="000000"/>
                </a:solidFill>
                <a:effectLst/>
                <a:latin typeface="var(--bs-font-monospace)"/>
              </a:rPr>
              <a:t>, </a:t>
            </a:r>
            <a:r>
              <a:rPr kumimoji="0" lang="en-US" altLang="en-US" sz="1800" b="0" i="0" u="none" strike="noStrike" cap="none" normalizeH="0" baseline="0" dirty="0" err="1" smtClean="0">
                <a:ln>
                  <a:noFill/>
                </a:ln>
                <a:solidFill>
                  <a:srgbClr val="000000"/>
                </a:solidFill>
                <a:effectLst/>
                <a:latin typeface="var(--bs-font-monospace)"/>
              </a:rPr>
              <a:t>Emp_name</a:t>
            </a:r>
            <a:r>
              <a:rPr kumimoji="0" lang="en-US" altLang="en-US" sz="1800" b="0" i="0" u="none" strike="noStrike" cap="none" normalizeH="0" baseline="0" dirty="0" smtClean="0">
                <a:ln>
                  <a:noFill/>
                </a:ln>
                <a:solidFill>
                  <a:srgbClr val="000000"/>
                </a:solidFill>
                <a:effectLst/>
                <a:latin typeface="var(--bs-font-monospace)"/>
              </a:rPr>
              <a:t>) values (001, “ </a:t>
            </a:r>
            <a:r>
              <a:rPr kumimoji="0" lang="en-US" altLang="en-US" sz="1800" b="0" i="0" u="none" strike="noStrike" cap="none" normalizeH="0" baseline="0" dirty="0" err="1" smtClean="0">
                <a:ln>
                  <a:noFill/>
                </a:ln>
                <a:solidFill>
                  <a:srgbClr val="000000"/>
                </a:solidFill>
                <a:effectLst/>
                <a:latin typeface="var(--bs-font-monospace)"/>
              </a:rPr>
              <a:t>bhanu</a:t>
            </a:r>
            <a:r>
              <a:rPr kumimoji="0" lang="en-US" altLang="en-US" sz="18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Insert into Employee(</a:t>
            </a:r>
            <a:r>
              <a:rPr kumimoji="0" lang="en-US" altLang="en-US" sz="1800" b="0" i="0" u="none" strike="noStrike" cap="none" normalizeH="0" baseline="0" dirty="0" err="1" smtClean="0">
                <a:ln>
                  <a:noFill/>
                </a:ln>
                <a:solidFill>
                  <a:srgbClr val="000000"/>
                </a:solidFill>
                <a:effectLst/>
                <a:latin typeface="var(--bs-font-monospace)"/>
              </a:rPr>
              <a:t>Emp_id</a:t>
            </a:r>
            <a:r>
              <a:rPr kumimoji="0" lang="en-US" altLang="en-US" sz="1800" b="0" i="0" u="none" strike="noStrike" cap="none" normalizeH="0" baseline="0" dirty="0" smtClean="0">
                <a:ln>
                  <a:noFill/>
                </a:ln>
                <a:solidFill>
                  <a:srgbClr val="000000"/>
                </a:solidFill>
                <a:effectLst/>
                <a:latin typeface="var(--bs-font-monospace)"/>
              </a:rPr>
              <a:t>, </a:t>
            </a:r>
            <a:r>
              <a:rPr kumimoji="0" lang="en-US" altLang="en-US" sz="1800" b="0" i="0" u="none" strike="noStrike" cap="none" normalizeH="0" baseline="0" dirty="0" err="1" smtClean="0">
                <a:ln>
                  <a:noFill/>
                </a:ln>
                <a:solidFill>
                  <a:srgbClr val="000000"/>
                </a:solidFill>
                <a:effectLst/>
                <a:latin typeface="var(--bs-font-monospace)"/>
              </a:rPr>
              <a:t>Emp_name</a:t>
            </a:r>
            <a:r>
              <a:rPr kumimoji="0" lang="en-US" altLang="en-US" sz="1800" b="0" i="0" u="none" strike="noStrike" cap="none" normalizeH="0" baseline="0" dirty="0" smtClean="0">
                <a:ln>
                  <a:noFill/>
                </a:ln>
                <a:solidFill>
                  <a:srgbClr val="000000"/>
                </a:solidFill>
                <a:effectLst/>
                <a:latin typeface="var(--bs-font-monospace)"/>
              </a:rPr>
              <a:t>) values (002, “ </a:t>
            </a:r>
            <a:r>
              <a:rPr kumimoji="0" lang="en-US" altLang="en-US" sz="1800" b="0" i="0" u="none" strike="noStrike" cap="none" normalizeH="0" baseline="0" dirty="0" err="1" smtClean="0">
                <a:ln>
                  <a:noFill/>
                </a:ln>
                <a:solidFill>
                  <a:srgbClr val="000000"/>
                </a:solidFill>
                <a:effectLst/>
                <a:latin typeface="var(--bs-font-monospace)"/>
              </a:rPr>
              <a:t>hari</a:t>
            </a:r>
            <a:r>
              <a:rPr kumimoji="0" lang="en-US" altLang="en-US" sz="1800" b="0" i="0" u="none" strike="noStrike" cap="none" normalizeH="0" baseline="0" dirty="0" smtClean="0">
                <a:ln>
                  <a:noFill/>
                </a:ln>
                <a:solidFill>
                  <a:srgbClr val="000000"/>
                </a:solidFill>
                <a:effectLst/>
                <a:latin typeface="var(--bs-font-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Insert into Employee(</a:t>
            </a:r>
            <a:r>
              <a:rPr kumimoji="0" lang="en-US" altLang="en-US" sz="1800" b="0" i="0" u="none" strike="noStrike" cap="none" normalizeH="0" baseline="0" dirty="0" err="1" smtClean="0">
                <a:ln>
                  <a:noFill/>
                </a:ln>
                <a:solidFill>
                  <a:srgbClr val="000000"/>
                </a:solidFill>
                <a:effectLst/>
                <a:latin typeface="var(--bs-font-monospace)"/>
              </a:rPr>
              <a:t>Emp_id</a:t>
            </a:r>
            <a:r>
              <a:rPr kumimoji="0" lang="en-US" altLang="en-US" sz="1800" b="0" i="0" u="none" strike="noStrike" cap="none" normalizeH="0" baseline="0" dirty="0" smtClean="0">
                <a:ln>
                  <a:noFill/>
                </a:ln>
                <a:solidFill>
                  <a:srgbClr val="000000"/>
                </a:solidFill>
                <a:effectLst/>
                <a:latin typeface="var(--bs-font-monospace)"/>
              </a:rPr>
              <a:t>, </a:t>
            </a:r>
            <a:r>
              <a:rPr kumimoji="0" lang="en-US" altLang="en-US" sz="1800" b="0" i="0" u="none" strike="noStrike" cap="none" normalizeH="0" baseline="0" dirty="0" err="1" smtClean="0">
                <a:ln>
                  <a:noFill/>
                </a:ln>
                <a:solidFill>
                  <a:srgbClr val="000000"/>
                </a:solidFill>
                <a:effectLst/>
                <a:latin typeface="var(--bs-font-monospace)"/>
              </a:rPr>
              <a:t>Emp_name</a:t>
            </a:r>
            <a:r>
              <a:rPr kumimoji="0" lang="en-US" altLang="en-US" sz="1800" b="0" i="0" u="none" strike="noStrike" cap="none" normalizeH="0" baseline="0" dirty="0" smtClean="0">
                <a:ln>
                  <a:noFill/>
                </a:ln>
                <a:solidFill>
                  <a:srgbClr val="000000"/>
                </a:solidFill>
                <a:effectLst/>
                <a:latin typeface="var(--bs-font-monospace)"/>
              </a:rPr>
              <a:t>) values (003, “ bob”);</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6"/>
          <p:cNvSpPr>
            <a:spLocks noChangeArrowheads="1"/>
          </p:cNvSpPr>
          <p:nvPr/>
        </p:nvSpPr>
        <p:spPr bwMode="auto">
          <a:xfrm>
            <a:off x="1273461" y="4645352"/>
            <a:ext cx="3672420"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SELECT * from &lt;</a:t>
            </a:r>
            <a:r>
              <a:rPr kumimoji="0" lang="en-US" altLang="en-US" sz="1800" b="0" i="0" u="none" strike="noStrike" cap="none" normalizeH="0" baseline="0" dirty="0" err="1" smtClean="0">
                <a:ln>
                  <a:noFill/>
                </a:ln>
                <a:solidFill>
                  <a:srgbClr val="000000"/>
                </a:solidFill>
                <a:effectLst/>
                <a:latin typeface="var(--bs-font-monospace)"/>
              </a:rPr>
              <a:t>table_name</a:t>
            </a:r>
            <a:r>
              <a:rPr kumimoji="0" lang="en-US" altLang="en-US" sz="1800" b="0" i="0" u="none" strike="noStrike" cap="none" normalizeH="0" baseline="0" dirty="0" smtClean="0">
                <a:ln>
                  <a:noFill/>
                </a:ln>
                <a:solidFill>
                  <a:srgbClr val="000000"/>
                </a:solidFill>
                <a:effectLst/>
                <a:latin typeface="var(--bs-font-monospace)"/>
              </a:rPr>
              <a:t>&gt;;</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7"/>
          <p:cNvSpPr>
            <a:spLocks noChangeArrowheads="1"/>
          </p:cNvSpPr>
          <p:nvPr/>
        </p:nvSpPr>
        <p:spPr bwMode="auto">
          <a:xfrm>
            <a:off x="1071714" y="5919102"/>
            <a:ext cx="2839453"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SELECT * from Employee;</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TextBox 11"/>
          <p:cNvSpPr txBox="1"/>
          <p:nvPr/>
        </p:nvSpPr>
        <p:spPr>
          <a:xfrm>
            <a:off x="667452" y="1231611"/>
            <a:ext cx="4616817" cy="461665"/>
          </a:xfrm>
          <a:prstGeom prst="rect">
            <a:avLst/>
          </a:prstGeom>
          <a:noFill/>
        </p:spPr>
        <p:txBody>
          <a:bodyPr wrap="square" rtlCol="0">
            <a:spAutoFit/>
          </a:bodyPr>
          <a:lstStyle/>
          <a:p>
            <a:r>
              <a:rPr lang="en-US" sz="2400" b="1" dirty="0" smtClean="0">
                <a:solidFill>
                  <a:srgbClr val="FF0000"/>
                </a:solidFill>
                <a:latin typeface="Times New Roman"/>
                <a:ea typeface="Times New Roman"/>
                <a:cs typeface="Times New Roman"/>
              </a:rPr>
              <a:t>DML</a:t>
            </a:r>
            <a:r>
              <a:rPr lang="en-US" sz="2400" dirty="0" smtClean="0"/>
              <a:t> </a:t>
            </a:r>
            <a:r>
              <a:rPr lang="en-US" sz="2400" b="1" dirty="0">
                <a:solidFill>
                  <a:srgbClr val="FF0000"/>
                </a:solidFill>
                <a:latin typeface="Times New Roman"/>
                <a:ea typeface="Times New Roman"/>
                <a:cs typeface="Times New Roman"/>
              </a:rPr>
              <a:t>Command</a:t>
            </a:r>
            <a:endParaRPr lang="en-IN" sz="2400" dirty="0"/>
          </a:p>
        </p:txBody>
      </p:sp>
    </p:spTree>
    <p:extLst>
      <p:ext uri="{BB962C8B-B14F-4D97-AF65-F5344CB8AC3E}">
        <p14:creationId xmlns:p14="http://schemas.microsoft.com/office/powerpoint/2010/main" val="777061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
        <p:nvSpPr>
          <p:cNvPr id="4" name="TextBox 3"/>
          <p:cNvSpPr txBox="1"/>
          <p:nvPr/>
        </p:nvSpPr>
        <p:spPr>
          <a:xfrm>
            <a:off x="725839" y="937412"/>
            <a:ext cx="8373979" cy="6709529"/>
          </a:xfrm>
          <a:prstGeom prst="rect">
            <a:avLst/>
          </a:prstGeom>
          <a:noFill/>
        </p:spPr>
        <p:txBody>
          <a:bodyPr wrap="square" rtlCol="0">
            <a:spAutoFit/>
          </a:bodyPr>
          <a:lstStyle/>
          <a:p>
            <a:r>
              <a:rPr lang="en-IN" sz="2400" dirty="0" smtClean="0">
                <a:solidFill>
                  <a:srgbClr val="FF0000"/>
                </a:solidFill>
              </a:rPr>
              <a:t>DELETE: </a:t>
            </a:r>
            <a:endParaRPr lang="en-IN" sz="2400" dirty="0">
              <a:solidFill>
                <a:srgbClr val="FF0000"/>
              </a:solidFill>
            </a:endParaRPr>
          </a:p>
          <a:p>
            <a:endParaRPr lang="en-US" dirty="0" smtClean="0"/>
          </a:p>
          <a:p>
            <a:endParaRPr lang="en-US" sz="1600" dirty="0" smtClean="0"/>
          </a:p>
          <a:p>
            <a:r>
              <a:rPr lang="en-US" sz="1600" dirty="0" smtClean="0"/>
              <a:t>Examples</a:t>
            </a:r>
            <a:r>
              <a:rPr lang="en-US" dirty="0" smtClean="0"/>
              <a:t>:</a:t>
            </a:r>
            <a:endParaRPr lang="en-US" dirty="0"/>
          </a:p>
          <a:p>
            <a:endParaRPr lang="en-US" dirty="0" smtClean="0"/>
          </a:p>
          <a:p>
            <a:endParaRPr lang="en-US" dirty="0"/>
          </a:p>
          <a:p>
            <a:endParaRPr lang="en-US" dirty="0" smtClean="0"/>
          </a:p>
          <a:p>
            <a:endParaRPr lang="en-IN" sz="2400" dirty="0" smtClean="0">
              <a:solidFill>
                <a:srgbClr val="FF0000"/>
              </a:solidFill>
            </a:endParaRPr>
          </a:p>
          <a:p>
            <a:r>
              <a:rPr lang="en-IN" sz="2400" dirty="0" smtClean="0">
                <a:solidFill>
                  <a:srgbClr val="FF0000"/>
                </a:solidFill>
              </a:rPr>
              <a:t>UPDATE:</a:t>
            </a:r>
          </a:p>
          <a:p>
            <a:endParaRPr lang="en-US" sz="2400" dirty="0">
              <a:solidFill>
                <a:srgbClr val="FF0000"/>
              </a:solidFill>
            </a:endParaRPr>
          </a:p>
          <a:p>
            <a:endParaRPr lang="en-US" sz="2400" dirty="0" smtClean="0">
              <a:solidFill>
                <a:srgbClr val="FF0000"/>
              </a:solidFill>
            </a:endParaRPr>
          </a:p>
          <a:p>
            <a:endParaRPr lang="en-US" sz="2400" dirty="0" smtClean="0">
              <a:solidFill>
                <a:srgbClr val="FF0000"/>
              </a:solidFill>
            </a:endParaRPr>
          </a:p>
          <a:p>
            <a:endParaRPr lang="en-US" sz="2400" dirty="0">
              <a:solidFill>
                <a:srgbClr val="FF0000"/>
              </a:solidFill>
            </a:endParaRPr>
          </a:p>
          <a:p>
            <a:r>
              <a:rPr lang="en-US" sz="1600" dirty="0" smtClean="0"/>
              <a:t>Examples</a:t>
            </a:r>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IN" sz="2400" dirty="0">
              <a:solidFill>
                <a:srgbClr val="FF0000"/>
              </a:solidFill>
            </a:endParaRPr>
          </a:p>
          <a:p>
            <a:endParaRPr lang="en-IN" dirty="0"/>
          </a:p>
        </p:txBody>
      </p:sp>
      <p:sp>
        <p:nvSpPr>
          <p:cNvPr id="5" name="Rectangle 1"/>
          <p:cNvSpPr>
            <a:spLocks noChangeArrowheads="1"/>
          </p:cNvSpPr>
          <p:nvPr/>
        </p:nvSpPr>
        <p:spPr bwMode="auto">
          <a:xfrm>
            <a:off x="2348565" y="1086470"/>
            <a:ext cx="4706417"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Delete from &lt;</a:t>
            </a:r>
            <a:r>
              <a:rPr kumimoji="0" lang="en-US" altLang="en-US" sz="1800" b="0" i="0" u="none" strike="noStrike" cap="none" normalizeH="0" baseline="0" dirty="0" err="1" smtClean="0">
                <a:ln>
                  <a:noFill/>
                </a:ln>
                <a:solidFill>
                  <a:srgbClr val="000000"/>
                </a:solidFill>
                <a:effectLst/>
                <a:latin typeface="var(--bs-font-monospace)"/>
              </a:rPr>
              <a:t>table_name</a:t>
            </a:r>
            <a:r>
              <a:rPr kumimoji="0" lang="en-US" altLang="en-US" sz="1800" b="0" i="0" u="none" strike="noStrike" cap="none" normalizeH="0" baseline="0" dirty="0" smtClean="0">
                <a:ln>
                  <a:noFill/>
                </a:ln>
                <a:solidFill>
                  <a:srgbClr val="000000"/>
                </a:solidFill>
                <a:effectLst/>
                <a:latin typeface="var(--bs-font-monospace)"/>
              </a:rPr>
              <a:t>&gt;WHERE condition;</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2030931" y="1981685"/>
            <a:ext cx="4930837"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DELETE from Employee WHERE </a:t>
            </a:r>
            <a:r>
              <a:rPr kumimoji="0" lang="en-US" altLang="en-US" sz="1800" b="0" i="0" u="none" strike="noStrike" cap="none" normalizeH="0" baseline="0" dirty="0" err="1" smtClean="0">
                <a:ln>
                  <a:noFill/>
                </a:ln>
                <a:solidFill>
                  <a:srgbClr val="000000"/>
                </a:solidFill>
                <a:effectLst/>
                <a:latin typeface="var(--bs-font-monospace)"/>
              </a:rPr>
              <a:t>Emp_id</a:t>
            </a:r>
            <a:r>
              <a:rPr kumimoji="0" lang="en-US" altLang="en-US" sz="1800" b="0" i="0" u="none" strike="noStrike" cap="none" normalizeH="0" baseline="0" dirty="0" smtClean="0">
                <a:ln>
                  <a:noFill/>
                </a:ln>
                <a:solidFill>
                  <a:srgbClr val="000000"/>
                </a:solidFill>
                <a:effectLst/>
                <a:latin typeface="var(--bs-font-monospace)"/>
              </a:rPr>
              <a:t>=002;</a:t>
            </a:r>
            <a:r>
              <a:rPr kumimoji="0" lang="en-US" altLang="en-US" sz="1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725839" y="3633918"/>
            <a:ext cx="8342027"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UPDATE &lt;</a:t>
            </a:r>
            <a:r>
              <a:rPr kumimoji="0" lang="en-US" altLang="en-US" sz="1800" b="0" i="0" u="none" strike="noStrike" cap="none" normalizeH="0" baseline="0" dirty="0" err="1" smtClean="0">
                <a:ln>
                  <a:noFill/>
                </a:ln>
                <a:solidFill>
                  <a:srgbClr val="000000"/>
                </a:solidFill>
                <a:effectLst/>
                <a:latin typeface="var(--bs-font-monospace)"/>
              </a:rPr>
              <a:t>table_name</a:t>
            </a:r>
            <a:r>
              <a:rPr kumimoji="0" lang="en-US" altLang="en-US" sz="1800" b="0" i="0" u="none" strike="noStrike" cap="none" normalizeH="0" baseline="0" dirty="0" smtClean="0">
                <a:ln>
                  <a:noFill/>
                </a:ln>
                <a:solidFill>
                  <a:srgbClr val="000000"/>
                </a:solidFill>
                <a:effectLst/>
                <a:latin typeface="var(--bs-font-monospace)"/>
              </a:rPr>
              <a:t>&gt; SET </a:t>
            </a:r>
            <a:r>
              <a:rPr kumimoji="0" lang="en-US" altLang="en-US" sz="1800" b="0" i="0" u="none" strike="noStrike" cap="none" normalizeH="0" baseline="0" dirty="0" err="1" smtClean="0">
                <a:ln>
                  <a:noFill/>
                </a:ln>
                <a:solidFill>
                  <a:srgbClr val="000000"/>
                </a:solidFill>
                <a:effectLst/>
                <a:latin typeface="var(--bs-font-monospace)"/>
              </a:rPr>
              <a:t>column_number</a:t>
            </a:r>
            <a:r>
              <a:rPr kumimoji="0" lang="en-US" altLang="en-US" sz="1800" b="0" i="0" u="none" strike="noStrike" cap="none" normalizeH="0" baseline="0" dirty="0" smtClean="0">
                <a:ln>
                  <a:noFill/>
                </a:ln>
                <a:solidFill>
                  <a:srgbClr val="000000"/>
                </a:solidFill>
                <a:effectLst/>
                <a:latin typeface="var(--bs-font-monospace)"/>
              </a:rPr>
              <a:t> =</a:t>
            </a:r>
            <a:r>
              <a:rPr kumimoji="0" lang="en-US" altLang="en-US" sz="1800" b="0" i="0" u="none" strike="noStrike" cap="none" normalizeH="0" baseline="0" dirty="0" err="1" smtClean="0">
                <a:ln>
                  <a:noFill/>
                </a:ln>
                <a:solidFill>
                  <a:srgbClr val="000000"/>
                </a:solidFill>
                <a:effectLst/>
                <a:latin typeface="var(--bs-font-monospace)"/>
              </a:rPr>
              <a:t>value_number</a:t>
            </a:r>
            <a:r>
              <a:rPr kumimoji="0" lang="en-US" altLang="en-US" sz="1800" b="0" i="0" u="none" strike="noStrike" cap="none" normalizeH="0" baseline="0" dirty="0" smtClean="0">
                <a:ln>
                  <a:noFill/>
                </a:ln>
                <a:solidFill>
                  <a:srgbClr val="000000"/>
                </a:solidFill>
                <a:effectLst/>
                <a:latin typeface="var(--bs-font-monospace)"/>
              </a:rPr>
              <a:t> WHERE condition;</a:t>
            </a:r>
            <a:endParaRPr kumimoji="0" lang="en-US" altLang="en-US" sz="1800" b="0" i="0" u="none" strike="noStrike" cap="none" normalizeH="0" baseline="0" dirty="0" smtClean="0">
              <a:ln>
                <a:noFill/>
              </a:ln>
              <a:solidFill>
                <a:schemeClr val="tx1"/>
              </a:solidFill>
              <a:effectLst/>
            </a:endParaRPr>
          </a:p>
        </p:txBody>
      </p:sp>
      <p:sp>
        <p:nvSpPr>
          <p:cNvPr id="8" name="Rectangle 4"/>
          <p:cNvSpPr>
            <a:spLocks noChangeArrowheads="1"/>
          </p:cNvSpPr>
          <p:nvPr/>
        </p:nvSpPr>
        <p:spPr bwMode="auto">
          <a:xfrm>
            <a:off x="725839" y="5242511"/>
            <a:ext cx="6886501" cy="4372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000000"/>
                </a:solidFill>
                <a:effectLst/>
                <a:latin typeface="var(--bs-font-monospace)"/>
              </a:rPr>
              <a:t>UPDATE Employee SET </a:t>
            </a:r>
            <a:r>
              <a:rPr kumimoji="0" lang="en-US" altLang="en-US" sz="1800" b="0" i="0" u="none" strike="noStrike" cap="none" normalizeH="0" baseline="0" dirty="0" err="1" smtClean="0">
                <a:ln>
                  <a:noFill/>
                </a:ln>
                <a:solidFill>
                  <a:srgbClr val="000000"/>
                </a:solidFill>
                <a:effectLst/>
                <a:latin typeface="var(--bs-font-monospace)"/>
              </a:rPr>
              <a:t>Emp_name</a:t>
            </a:r>
            <a:r>
              <a:rPr kumimoji="0" lang="en-US" altLang="en-US" sz="1800" b="0" i="0" u="none" strike="noStrike" cap="none" normalizeH="0" baseline="0" dirty="0" smtClean="0">
                <a:ln>
                  <a:noFill/>
                </a:ln>
                <a:solidFill>
                  <a:srgbClr val="000000"/>
                </a:solidFill>
                <a:effectLst/>
                <a:latin typeface="var(--bs-font-monospace)"/>
              </a:rPr>
              <a:t>= Ram WHERE </a:t>
            </a:r>
            <a:r>
              <a:rPr kumimoji="0" lang="en-US" altLang="en-US" sz="1800" b="0" i="0" u="none" strike="noStrike" cap="none" normalizeH="0" baseline="0" dirty="0" err="1" smtClean="0">
                <a:ln>
                  <a:noFill/>
                </a:ln>
                <a:solidFill>
                  <a:srgbClr val="000000"/>
                </a:solidFill>
                <a:effectLst/>
                <a:latin typeface="var(--bs-font-monospace)"/>
              </a:rPr>
              <a:t>Emp_id</a:t>
            </a:r>
            <a:r>
              <a:rPr kumimoji="0" lang="en-US" altLang="en-US" sz="1800" b="0" i="0" u="none" strike="noStrike" cap="none" normalizeH="0" baseline="0" dirty="0" smtClean="0">
                <a:ln>
                  <a:noFill/>
                </a:ln>
                <a:solidFill>
                  <a:srgbClr val="000000"/>
                </a:solidFill>
                <a:effectLst/>
                <a:latin typeface="var(--bs-font-monospace)"/>
              </a:rPr>
              <a:t>= 001;</a:t>
            </a:r>
            <a:endParaRPr kumimoji="0" lang="en-US" altLang="en-US" sz="18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226769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3"/>
          <p:cNvSpPr txBox="1">
            <a:spLocks noGrp="1"/>
          </p:cNvSpPr>
          <p:nvPr>
            <p:ph type="title"/>
          </p:nvPr>
        </p:nvSpPr>
        <p:spPr>
          <a:xfrm>
            <a:off x="628650" y="5937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Database Architecture</a:t>
            </a:r>
            <a:endParaRPr/>
          </a:p>
        </p:txBody>
      </p:sp>
      <p:sp>
        <p:nvSpPr>
          <p:cNvPr id="229" name="Google Shape;229;p23"/>
          <p:cNvSpPr txBox="1">
            <a:spLocks noGrp="1"/>
          </p:cNvSpPr>
          <p:nvPr>
            <p:ph type="body" idx="1"/>
          </p:nvPr>
        </p:nvSpPr>
        <p:spPr>
          <a:xfrm>
            <a:off x="182880" y="1825625"/>
            <a:ext cx="8789670" cy="4351338"/>
          </a:xfrm>
          <a:prstGeom prst="rect">
            <a:avLst/>
          </a:prstGeom>
          <a:noFill/>
          <a:ln>
            <a:noFill/>
          </a:ln>
        </p:spPr>
        <p:txBody>
          <a:bodyPr spcFirstLastPara="1" wrap="square" lIns="91425" tIns="45700" rIns="91425" bIns="45700" anchor="t" anchorCtr="0">
            <a:normAutofit lnSpcReduction="10000"/>
          </a:bodyPr>
          <a:lstStyle/>
          <a:p>
            <a:pPr marL="457200" lvl="0" indent="-342899" algn="just" rtl="0">
              <a:lnSpc>
                <a:spcPct val="90000"/>
              </a:lnSpc>
              <a:spcBef>
                <a:spcPts val="1000"/>
              </a:spcBef>
              <a:spcAft>
                <a:spcPts val="0"/>
              </a:spcAft>
              <a:buSzPts val="1946"/>
              <a:buChar char="•"/>
            </a:pPr>
            <a:r>
              <a:rPr lang="en-US" sz="2400"/>
              <a:t>Centralized databases </a:t>
            </a:r>
            <a:endParaRPr sz="2400"/>
          </a:p>
          <a:p>
            <a:pPr marL="914400" lvl="1" indent="-342900" algn="just" rtl="0">
              <a:lnSpc>
                <a:spcPct val="90000"/>
              </a:lnSpc>
              <a:spcBef>
                <a:spcPts val="500"/>
              </a:spcBef>
              <a:spcAft>
                <a:spcPts val="0"/>
              </a:spcAft>
              <a:buSzPts val="1946"/>
              <a:buChar char="•"/>
            </a:pPr>
            <a:r>
              <a:rPr lang="en-US" sz="2000"/>
              <a:t> One to a few cores, shared memory </a:t>
            </a:r>
            <a:endParaRPr sz="2000"/>
          </a:p>
          <a:p>
            <a:pPr marL="457200" lvl="0" indent="-342899" algn="just" rtl="0">
              <a:lnSpc>
                <a:spcPct val="90000"/>
              </a:lnSpc>
              <a:spcBef>
                <a:spcPts val="1000"/>
              </a:spcBef>
              <a:spcAft>
                <a:spcPts val="0"/>
              </a:spcAft>
              <a:buSzPts val="1946"/>
              <a:buChar char="•"/>
            </a:pPr>
            <a:r>
              <a:rPr lang="en-US" sz="2400"/>
              <a:t>Client-server, </a:t>
            </a:r>
            <a:endParaRPr sz="2400"/>
          </a:p>
          <a:p>
            <a:pPr marL="914400" lvl="1" indent="-342900" algn="just" rtl="0">
              <a:lnSpc>
                <a:spcPct val="90000"/>
              </a:lnSpc>
              <a:spcBef>
                <a:spcPts val="500"/>
              </a:spcBef>
              <a:spcAft>
                <a:spcPts val="0"/>
              </a:spcAft>
              <a:buSzPts val="1946"/>
              <a:buChar char="•"/>
            </a:pPr>
            <a:r>
              <a:rPr lang="en-US" sz="2000"/>
              <a:t> One server machine executes work on behalf of multiple client machines.</a:t>
            </a:r>
            <a:endParaRPr/>
          </a:p>
          <a:p>
            <a:pPr marL="457200" lvl="0" indent="-342899" algn="just" rtl="0">
              <a:lnSpc>
                <a:spcPct val="90000"/>
              </a:lnSpc>
              <a:spcBef>
                <a:spcPts val="1000"/>
              </a:spcBef>
              <a:spcAft>
                <a:spcPts val="0"/>
              </a:spcAft>
              <a:buSzPts val="1946"/>
              <a:buChar char="•"/>
            </a:pPr>
            <a:r>
              <a:rPr lang="en-US" sz="2400"/>
              <a:t> Parallel databases </a:t>
            </a:r>
            <a:endParaRPr sz="2400"/>
          </a:p>
          <a:p>
            <a:pPr marL="914400" lvl="1" indent="-342900" algn="just" rtl="0">
              <a:lnSpc>
                <a:spcPct val="90000"/>
              </a:lnSpc>
              <a:spcBef>
                <a:spcPts val="500"/>
              </a:spcBef>
              <a:spcAft>
                <a:spcPts val="0"/>
              </a:spcAft>
              <a:buSzPts val="1946"/>
              <a:buChar char="•"/>
            </a:pPr>
            <a:r>
              <a:rPr lang="en-US" sz="2000"/>
              <a:t>Many core shared memory </a:t>
            </a:r>
            <a:endParaRPr sz="2000"/>
          </a:p>
          <a:p>
            <a:pPr marL="914400" lvl="1" indent="-342900" algn="just" rtl="0">
              <a:lnSpc>
                <a:spcPct val="90000"/>
              </a:lnSpc>
              <a:spcBef>
                <a:spcPts val="500"/>
              </a:spcBef>
              <a:spcAft>
                <a:spcPts val="0"/>
              </a:spcAft>
              <a:buSzPts val="1946"/>
              <a:buChar char="•"/>
            </a:pPr>
            <a:r>
              <a:rPr lang="en-US" sz="2000"/>
              <a:t> Shared disk </a:t>
            </a:r>
            <a:endParaRPr sz="2000"/>
          </a:p>
          <a:p>
            <a:pPr marL="914400" lvl="1" indent="-342900" algn="just" rtl="0">
              <a:lnSpc>
                <a:spcPct val="90000"/>
              </a:lnSpc>
              <a:spcBef>
                <a:spcPts val="500"/>
              </a:spcBef>
              <a:spcAft>
                <a:spcPts val="0"/>
              </a:spcAft>
              <a:buSzPts val="1946"/>
              <a:buChar char="•"/>
            </a:pPr>
            <a:r>
              <a:rPr lang="en-US" sz="2000"/>
              <a:t>Shared nothing </a:t>
            </a:r>
            <a:endParaRPr sz="2000"/>
          </a:p>
          <a:p>
            <a:pPr marL="457200" lvl="0" indent="-342899" algn="just" rtl="0">
              <a:lnSpc>
                <a:spcPct val="90000"/>
              </a:lnSpc>
              <a:spcBef>
                <a:spcPts val="1000"/>
              </a:spcBef>
              <a:spcAft>
                <a:spcPts val="0"/>
              </a:spcAft>
              <a:buSzPts val="1946"/>
              <a:buChar char="•"/>
            </a:pPr>
            <a:r>
              <a:rPr lang="en-US" sz="2400"/>
              <a:t>Distributed databases </a:t>
            </a:r>
            <a:endParaRPr sz="2400"/>
          </a:p>
          <a:p>
            <a:pPr marL="457200" lvl="0" indent="-342899" algn="just" rtl="0">
              <a:lnSpc>
                <a:spcPct val="90000"/>
              </a:lnSpc>
              <a:spcBef>
                <a:spcPts val="1000"/>
              </a:spcBef>
              <a:spcAft>
                <a:spcPts val="0"/>
              </a:spcAft>
              <a:buSzPts val="1946"/>
              <a:buChar char="•"/>
            </a:pPr>
            <a:r>
              <a:rPr lang="en-US" sz="2400"/>
              <a:t>Geographical distribution </a:t>
            </a:r>
            <a:endParaRPr sz="2400"/>
          </a:p>
          <a:p>
            <a:pPr marL="457200" lvl="0" indent="-342899" algn="just" rtl="0">
              <a:lnSpc>
                <a:spcPct val="90000"/>
              </a:lnSpc>
              <a:spcBef>
                <a:spcPts val="1000"/>
              </a:spcBef>
              <a:spcAft>
                <a:spcPts val="0"/>
              </a:spcAft>
              <a:buSzPts val="1946"/>
              <a:buChar char="•"/>
            </a:pPr>
            <a:r>
              <a:rPr lang="en-US" sz="2400"/>
              <a:t>Schema/data heterogeneity</a:t>
            </a:r>
            <a:endParaRPr/>
          </a:p>
        </p:txBody>
      </p:sp>
      <p:sp>
        <p:nvSpPr>
          <p:cNvPr id="230" name="Google Shape;230;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628650" y="593725"/>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Database Architecture</a:t>
            </a:r>
            <a:endParaRPr/>
          </a:p>
        </p:txBody>
      </p:sp>
      <p:sp>
        <p:nvSpPr>
          <p:cNvPr id="236" name="Google Shape;236;p2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fontScale="92500" lnSpcReduction="10000"/>
          </a:bodyPr>
          <a:lstStyle/>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The architecture of a database system is greatly influenced by the underlying computer system on which the database system runs.</a:t>
            </a:r>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 Database systems can be centralized, or client-server, where one server machine executes work on behalf of multiple client machines. </a:t>
            </a:r>
            <a:endParaRPr sz="2400">
              <a:latin typeface="Times New Roman"/>
              <a:ea typeface="Times New Roman"/>
              <a:cs typeface="Times New Roman"/>
              <a:sym typeface="Times New Roman"/>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A database system is partitioned into modules that deal with each of the responsibilities of the overall system.</a:t>
            </a:r>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The functional components of a database system can be divided into </a:t>
            </a:r>
            <a:endParaRPr sz="2400">
              <a:latin typeface="Times New Roman"/>
              <a:ea typeface="Times New Roman"/>
              <a:cs typeface="Times New Roman"/>
              <a:sym typeface="Times New Roman"/>
            </a:endParaRPr>
          </a:p>
          <a:p>
            <a:pPr marL="914400" lvl="1" indent="-342900" algn="just" rtl="0">
              <a:lnSpc>
                <a:spcPct val="90000"/>
              </a:lnSpc>
              <a:spcBef>
                <a:spcPts val="500"/>
              </a:spcBef>
              <a:spcAft>
                <a:spcPts val="0"/>
              </a:spcAft>
              <a:buSzPct val="97297"/>
              <a:buChar char="•"/>
            </a:pPr>
            <a:r>
              <a:rPr lang="en-US" sz="2000">
                <a:latin typeface="Times New Roman"/>
                <a:ea typeface="Times New Roman"/>
                <a:cs typeface="Times New Roman"/>
                <a:sym typeface="Times New Roman"/>
              </a:rPr>
              <a:t>The storage manager, </a:t>
            </a:r>
            <a:endParaRPr sz="2000">
              <a:latin typeface="Times New Roman"/>
              <a:ea typeface="Times New Roman"/>
              <a:cs typeface="Times New Roman"/>
              <a:sym typeface="Times New Roman"/>
            </a:endParaRPr>
          </a:p>
          <a:p>
            <a:pPr marL="914400" lvl="1" indent="-342900" algn="just" rtl="0">
              <a:lnSpc>
                <a:spcPct val="90000"/>
              </a:lnSpc>
              <a:spcBef>
                <a:spcPts val="500"/>
              </a:spcBef>
              <a:spcAft>
                <a:spcPts val="0"/>
              </a:spcAft>
              <a:buSzPct val="97297"/>
              <a:buChar char="•"/>
            </a:pPr>
            <a:r>
              <a:rPr lang="en-US" sz="2000">
                <a:latin typeface="Times New Roman"/>
                <a:ea typeface="Times New Roman"/>
                <a:cs typeface="Times New Roman"/>
                <a:sym typeface="Times New Roman"/>
              </a:rPr>
              <a:t>The query processor component, </a:t>
            </a:r>
            <a:endParaRPr sz="2000">
              <a:latin typeface="Times New Roman"/>
              <a:ea typeface="Times New Roman"/>
              <a:cs typeface="Times New Roman"/>
              <a:sym typeface="Times New Roman"/>
            </a:endParaRPr>
          </a:p>
          <a:p>
            <a:pPr marL="914400" lvl="1" indent="-342900" algn="just" rtl="0">
              <a:lnSpc>
                <a:spcPct val="90000"/>
              </a:lnSpc>
              <a:spcBef>
                <a:spcPts val="500"/>
              </a:spcBef>
              <a:spcAft>
                <a:spcPts val="0"/>
              </a:spcAft>
              <a:buSzPct val="97297"/>
              <a:buChar char="•"/>
            </a:pPr>
            <a:r>
              <a:rPr lang="en-US" sz="2000">
                <a:latin typeface="Times New Roman"/>
                <a:ea typeface="Times New Roman"/>
                <a:cs typeface="Times New Roman"/>
                <a:sym typeface="Times New Roman"/>
              </a:rPr>
              <a:t>The transaction management component</a:t>
            </a:r>
            <a:endParaRPr sz="2000">
              <a:latin typeface="Times New Roman"/>
              <a:ea typeface="Times New Roman"/>
              <a:cs typeface="Times New Roman"/>
              <a:sym typeface="Times New Roman"/>
            </a:endParaRPr>
          </a:p>
        </p:txBody>
      </p:sp>
      <p:sp>
        <p:nvSpPr>
          <p:cNvPr id="237" name="Google Shape;237;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f38cd95dfb_1_0"/>
          <p:cNvSpPr txBox="1">
            <a:spLocks noGrp="1"/>
          </p:cNvSpPr>
          <p:nvPr>
            <p:ph type="title"/>
          </p:nvPr>
        </p:nvSpPr>
        <p:spPr>
          <a:xfrm>
            <a:off x="614875" y="689623"/>
            <a:ext cx="7886700" cy="103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Database Architecture</a:t>
            </a:r>
            <a:endParaRPr/>
          </a:p>
        </p:txBody>
      </p:sp>
      <p:sp>
        <p:nvSpPr>
          <p:cNvPr id="243" name="Google Shape;243;g3f38cd95dfb_1_0"/>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
        <p:nvSpPr>
          <p:cNvPr id="244" name="Google Shape;244;g3f38cd95dfb_1_0"/>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grpSp>
        <p:nvGrpSpPr>
          <p:cNvPr id="245" name="Google Shape;245;g3f38cd95dfb_1_0"/>
          <p:cNvGrpSpPr/>
          <p:nvPr/>
        </p:nvGrpSpPr>
        <p:grpSpPr>
          <a:xfrm>
            <a:off x="358281" y="1577975"/>
            <a:ext cx="8399895" cy="5301450"/>
            <a:chOff x="2034918" y="-157950"/>
            <a:chExt cx="7083737" cy="5301450"/>
          </a:xfrm>
        </p:grpSpPr>
        <p:sp>
          <p:nvSpPr>
            <p:cNvPr id="246" name="Google Shape;246;g3f38cd95dfb_1_0"/>
            <p:cNvSpPr/>
            <p:nvPr/>
          </p:nvSpPr>
          <p:spPr>
            <a:xfrm>
              <a:off x="2058155" y="-157950"/>
              <a:ext cx="7060500" cy="5143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3f38cd95dfb_1_0"/>
            <p:cNvSpPr/>
            <p:nvPr/>
          </p:nvSpPr>
          <p:spPr>
            <a:xfrm>
              <a:off x="2034918" y="0"/>
              <a:ext cx="0" cy="5143500"/>
            </a:xfrm>
            <a:custGeom>
              <a:avLst/>
              <a:gdLst/>
              <a:ahLst/>
              <a:cxnLst/>
              <a:rect l="l" t="t" r="r" b="b"/>
              <a:pathLst>
                <a:path w="120000" h="5143500" extrusionOk="0">
                  <a:moveTo>
                    <a:pt x="0" y="5143489"/>
                  </a:moveTo>
                  <a:lnTo>
                    <a:pt x="0" y="0"/>
                  </a:lnTo>
                </a:path>
              </a:pathLst>
            </a:custGeom>
            <a:noFill/>
            <a:ln w="76175" cap="flat" cmpd="sng">
              <a:solidFill>
                <a:srgbClr val="14895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6"/>
          <p:cNvSpPr txBox="1">
            <a:spLocks noGrp="1"/>
          </p:cNvSpPr>
          <p:nvPr>
            <p:ph type="title"/>
          </p:nvPr>
        </p:nvSpPr>
        <p:spPr>
          <a:xfrm>
            <a:off x="2690972" y="896384"/>
            <a:ext cx="4776629" cy="55141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sz="3600">
                <a:latin typeface="Times New Roman"/>
                <a:ea typeface="Times New Roman"/>
                <a:cs typeface="Times New Roman"/>
                <a:sym typeface="Times New Roman"/>
              </a:rPr>
              <a:t>The Query Processor</a:t>
            </a:r>
            <a:endParaRPr/>
          </a:p>
        </p:txBody>
      </p:sp>
      <p:sp>
        <p:nvSpPr>
          <p:cNvPr id="253" name="Google Shape;253;p26"/>
          <p:cNvSpPr txBox="1">
            <a:spLocks noGrp="1"/>
          </p:cNvSpPr>
          <p:nvPr>
            <p:ph type="body" idx="1"/>
          </p:nvPr>
        </p:nvSpPr>
        <p:spPr>
          <a:xfrm>
            <a:off x="381001" y="1421316"/>
            <a:ext cx="8566785" cy="4801314"/>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The query processor components include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DDL interpreter</a:t>
            </a:r>
            <a:r>
              <a:rPr lang="en-US" sz="2400">
                <a:latin typeface="Times New Roman"/>
                <a:ea typeface="Times New Roman"/>
                <a:cs typeface="Times New Roman"/>
                <a:sym typeface="Times New Roman"/>
              </a:rPr>
              <a:t>, which interprets DDL statements and records the definitions in the data dictionary.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DML compiler, </a:t>
            </a:r>
            <a:r>
              <a:rPr lang="en-US" sz="2400">
                <a:latin typeface="Times New Roman"/>
                <a:ea typeface="Times New Roman"/>
                <a:cs typeface="Times New Roman"/>
                <a:sym typeface="Times New Roman"/>
              </a:rPr>
              <a:t>which translates DML statements in a query language into an evaluation plan consisting of low-level instructions that the query evaluation engine understands.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	A query can usually be translated into any of a number of alternative evaluation plans that all give the same result. The DML compiler also performs query optimization, that is, it picks the lowest cost evaluation plan from among the alternatives.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a:t>
            </a:r>
            <a:r>
              <a:rPr lang="en-US" sz="2400" b="1">
                <a:latin typeface="Times New Roman"/>
                <a:ea typeface="Times New Roman"/>
                <a:cs typeface="Times New Roman"/>
                <a:sym typeface="Times New Roman"/>
              </a:rPr>
              <a:t> Query evaluation engine</a:t>
            </a:r>
            <a:r>
              <a:rPr lang="en-US" sz="2400">
                <a:latin typeface="Times New Roman"/>
                <a:ea typeface="Times New Roman"/>
                <a:cs typeface="Times New Roman"/>
                <a:sym typeface="Times New Roman"/>
              </a:rPr>
              <a:t>, which executes low-level instructions generated by the DML compiler.</a:t>
            </a: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p:nvPr>
        </p:nvSpPr>
        <p:spPr>
          <a:xfrm>
            <a:off x="2690972" y="896383"/>
            <a:ext cx="3762057" cy="55399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sz="3600">
                <a:latin typeface="Times New Roman"/>
                <a:ea typeface="Times New Roman"/>
                <a:cs typeface="Times New Roman"/>
                <a:sym typeface="Times New Roman"/>
              </a:rPr>
              <a:t>Storage Manager</a:t>
            </a:r>
            <a:endParaRPr/>
          </a:p>
        </p:txBody>
      </p:sp>
      <p:sp>
        <p:nvSpPr>
          <p:cNvPr id="259" name="Google Shape;259;p27"/>
          <p:cNvSpPr txBox="1">
            <a:spLocks noGrp="1"/>
          </p:cNvSpPr>
          <p:nvPr>
            <p:ph type="body" idx="1"/>
          </p:nvPr>
        </p:nvSpPr>
        <p:spPr>
          <a:xfrm>
            <a:off x="288607" y="1524001"/>
            <a:ext cx="8566785" cy="443198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1000"/>
              </a:spcBef>
              <a:spcAft>
                <a:spcPts val="0"/>
              </a:spcAft>
              <a:buSzPts val="1800"/>
              <a:buFont typeface="Arial"/>
              <a:buChar char="•"/>
            </a:pPr>
            <a:r>
              <a:rPr lang="en-US" sz="2400">
                <a:latin typeface="Times New Roman"/>
                <a:ea typeface="Times New Roman"/>
                <a:cs typeface="Times New Roman"/>
                <a:sym typeface="Times New Roman"/>
              </a:rPr>
              <a:t>A storage manager is a program module that provides the interface between the low level data stored in the database and the application programs and queries submitted to the system. </a:t>
            </a:r>
            <a:endParaRPr sz="2400">
              <a:latin typeface="Times New Roman"/>
              <a:ea typeface="Times New Roman"/>
              <a:cs typeface="Times New Roman"/>
              <a:sym typeface="Times New Roman"/>
            </a:endParaRPr>
          </a:p>
          <a:p>
            <a:pPr marL="342900" lvl="0" indent="-342900" algn="just" rtl="0">
              <a:lnSpc>
                <a:spcPct val="90000"/>
              </a:lnSpc>
              <a:spcBef>
                <a:spcPts val="1000"/>
              </a:spcBef>
              <a:spcAft>
                <a:spcPts val="0"/>
              </a:spcAft>
              <a:buSzPts val="1800"/>
              <a:buFont typeface="Arial"/>
              <a:buChar char="•"/>
            </a:pPr>
            <a:r>
              <a:rPr lang="en-US" sz="2400">
                <a:latin typeface="Times New Roman"/>
                <a:ea typeface="Times New Roman"/>
                <a:cs typeface="Times New Roman"/>
                <a:sym typeface="Times New Roman"/>
              </a:rPr>
              <a:t>The storage manager is responsible for the interaction with the file manager. </a:t>
            </a:r>
            <a:endParaRPr sz="2400">
              <a:latin typeface="Times New Roman"/>
              <a:ea typeface="Times New Roman"/>
              <a:cs typeface="Times New Roman"/>
              <a:sym typeface="Times New Roman"/>
            </a:endParaRPr>
          </a:p>
          <a:p>
            <a:pPr marL="342900" lvl="0" indent="-342900" algn="just" rtl="0">
              <a:lnSpc>
                <a:spcPct val="90000"/>
              </a:lnSpc>
              <a:spcBef>
                <a:spcPts val="1000"/>
              </a:spcBef>
              <a:spcAft>
                <a:spcPts val="0"/>
              </a:spcAft>
              <a:buSzPts val="1800"/>
              <a:buFont typeface="Arial"/>
              <a:buChar char="•"/>
            </a:pPr>
            <a:r>
              <a:rPr lang="en-US" sz="2400">
                <a:latin typeface="Times New Roman"/>
                <a:ea typeface="Times New Roman"/>
                <a:cs typeface="Times New Roman"/>
                <a:sym typeface="Times New Roman"/>
              </a:rPr>
              <a:t>The raw data are stored on the disk using the file system, which is usually provided by a conventional operating system. The storage manager translates the various DML statements into low-level file-system commands.</a:t>
            </a:r>
            <a:endParaRPr/>
          </a:p>
          <a:p>
            <a:pPr marL="342900" lvl="0" indent="-342900" algn="just" rtl="0">
              <a:lnSpc>
                <a:spcPct val="90000"/>
              </a:lnSpc>
              <a:spcBef>
                <a:spcPts val="1000"/>
              </a:spcBef>
              <a:spcAft>
                <a:spcPts val="0"/>
              </a:spcAft>
              <a:buSzPts val="1800"/>
              <a:buFont typeface="Arial"/>
              <a:buChar char="•"/>
            </a:pPr>
            <a:r>
              <a:rPr lang="en-US" sz="2400">
                <a:latin typeface="Times New Roman"/>
                <a:ea typeface="Times New Roman"/>
                <a:cs typeface="Times New Roman"/>
                <a:sym typeface="Times New Roman"/>
              </a:rPr>
              <a:t> Thus, the storage manager is responsible for storing, retrieving, and updating data in the database.</a:t>
            </a: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473393" y="826809"/>
            <a:ext cx="8229600" cy="73866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50000"/>
              <a:buNone/>
            </a:pPr>
            <a:r>
              <a:rPr lang="en-US" sz="4000">
                <a:latin typeface="Times New Roman"/>
                <a:ea typeface="Times New Roman"/>
                <a:cs typeface="Times New Roman"/>
                <a:sym typeface="Times New Roman"/>
              </a:rPr>
              <a:t>The storage manager components include</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265" name="Google Shape;265;p28"/>
          <p:cNvSpPr txBox="1">
            <a:spLocks noGrp="1"/>
          </p:cNvSpPr>
          <p:nvPr>
            <p:ph type="body" idx="1"/>
          </p:nvPr>
        </p:nvSpPr>
        <p:spPr>
          <a:xfrm>
            <a:off x="304801" y="1432002"/>
            <a:ext cx="8566785" cy="5286849"/>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sz="2400" b="1">
                <a:latin typeface="Times New Roman"/>
                <a:ea typeface="Times New Roman"/>
                <a:cs typeface="Times New Roman"/>
                <a:sym typeface="Times New Roman"/>
              </a:rPr>
              <a:t>Authorization and integrity manager</a:t>
            </a:r>
            <a:r>
              <a:rPr lang="en-US" sz="2400">
                <a:latin typeface="Times New Roman"/>
                <a:ea typeface="Times New Roman"/>
                <a:cs typeface="Times New Roman"/>
                <a:sym typeface="Times New Roman"/>
              </a:rPr>
              <a:t>, which tests for the satisfaction of integrity constraints and checks the authority of users to access data.</a:t>
            </a:r>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Transaction manager</a:t>
            </a:r>
            <a:r>
              <a:rPr lang="en-US" sz="2400">
                <a:latin typeface="Times New Roman"/>
                <a:ea typeface="Times New Roman"/>
                <a:cs typeface="Times New Roman"/>
                <a:sym typeface="Times New Roman"/>
              </a:rPr>
              <a:t>, which ensures that the database remains in a consistent (correct) state despite system failures, and that concurrent transaction executions proceed without conflicting.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b="1">
                <a:latin typeface="Times New Roman"/>
                <a:ea typeface="Times New Roman"/>
                <a:cs typeface="Times New Roman"/>
                <a:sym typeface="Times New Roman"/>
              </a:rPr>
              <a:t>File manager</a:t>
            </a:r>
            <a:r>
              <a:rPr lang="en-US" sz="2400">
                <a:latin typeface="Times New Roman"/>
                <a:ea typeface="Times New Roman"/>
                <a:cs typeface="Times New Roman"/>
                <a:sym typeface="Times New Roman"/>
              </a:rPr>
              <a:t>, which manages the allocation of space on disk storage and the data structures used to represent information stored on disk. </a:t>
            </a:r>
            <a:endParaRPr sz="24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b="1">
                <a:latin typeface="Times New Roman"/>
                <a:ea typeface="Times New Roman"/>
                <a:cs typeface="Times New Roman"/>
                <a:sym typeface="Times New Roman"/>
              </a:rPr>
              <a:t>Buffer manager, </a:t>
            </a:r>
            <a:r>
              <a:rPr lang="en-US" sz="2400">
                <a:latin typeface="Times New Roman"/>
                <a:ea typeface="Times New Roman"/>
                <a:cs typeface="Times New Roman"/>
                <a:sym typeface="Times New Roman"/>
              </a:rPr>
              <a:t>which is responsible for fetching data from disk storage into main memory, and deciding what data to cache in main memory. </a:t>
            </a: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9"/>
          <p:cNvSpPr txBox="1">
            <a:spLocks noGrp="1"/>
          </p:cNvSpPr>
          <p:nvPr>
            <p:ph type="body" idx="1"/>
          </p:nvPr>
        </p:nvSpPr>
        <p:spPr>
          <a:xfrm>
            <a:off x="342775" y="1447801"/>
            <a:ext cx="8566785" cy="3693319"/>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just" rtl="0">
              <a:lnSpc>
                <a:spcPct val="90000"/>
              </a:lnSpc>
              <a:spcBef>
                <a:spcPts val="1000"/>
              </a:spcBef>
              <a:spcAft>
                <a:spcPts val="0"/>
              </a:spcAft>
              <a:buSzPct val="75630"/>
              <a:buChar char="•"/>
            </a:pPr>
            <a:r>
              <a:rPr lang="en-US">
                <a:latin typeface="Times New Roman"/>
                <a:ea typeface="Times New Roman"/>
                <a:cs typeface="Times New Roman"/>
                <a:sym typeface="Times New Roman"/>
              </a:rPr>
              <a:t>The storage manager implements several data structures as part of the physical system implementation:</a:t>
            </a:r>
            <a:endParaRPr/>
          </a:p>
          <a:p>
            <a:pPr marL="457200" lvl="0" indent="-228600" algn="just" rtl="0">
              <a:lnSpc>
                <a:spcPct val="90000"/>
              </a:lnSpc>
              <a:spcBef>
                <a:spcPts val="1000"/>
              </a:spcBef>
              <a:spcAft>
                <a:spcPts val="0"/>
              </a:spcAft>
              <a:buSzPct val="75630"/>
              <a:buNone/>
            </a:pPr>
            <a:endParaRPr>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ct val="75630"/>
              <a:buChar char="•"/>
            </a:pPr>
            <a:r>
              <a:rPr lang="en-US" b="1">
                <a:latin typeface="Times New Roman"/>
                <a:ea typeface="Times New Roman"/>
                <a:cs typeface="Times New Roman"/>
                <a:sym typeface="Times New Roman"/>
              </a:rPr>
              <a:t>Data files</a:t>
            </a:r>
            <a:r>
              <a:rPr lang="en-US">
                <a:latin typeface="Times New Roman"/>
                <a:ea typeface="Times New Roman"/>
                <a:cs typeface="Times New Roman"/>
                <a:sym typeface="Times New Roman"/>
              </a:rPr>
              <a:t>, which store the database itself. </a:t>
            </a:r>
            <a:endParaRPr>
              <a:latin typeface="Times New Roman"/>
              <a:ea typeface="Times New Roman"/>
              <a:cs typeface="Times New Roman"/>
              <a:sym typeface="Times New Roman"/>
            </a:endParaRPr>
          </a:p>
          <a:p>
            <a:pPr marL="457200" lvl="0" indent="-228600" algn="just" rtl="0">
              <a:lnSpc>
                <a:spcPct val="90000"/>
              </a:lnSpc>
              <a:spcBef>
                <a:spcPts val="1000"/>
              </a:spcBef>
              <a:spcAft>
                <a:spcPts val="0"/>
              </a:spcAft>
              <a:buSzPct val="75630"/>
              <a:buNone/>
            </a:pPr>
            <a:endParaRPr>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ct val="75630"/>
              <a:buChar char="•"/>
            </a:pPr>
            <a:r>
              <a:rPr lang="en-US" b="1">
                <a:latin typeface="Times New Roman"/>
                <a:ea typeface="Times New Roman"/>
                <a:cs typeface="Times New Roman"/>
                <a:sym typeface="Times New Roman"/>
              </a:rPr>
              <a:t>Data dictionary, </a:t>
            </a:r>
            <a:r>
              <a:rPr lang="en-US">
                <a:latin typeface="Times New Roman"/>
                <a:ea typeface="Times New Roman"/>
                <a:cs typeface="Times New Roman"/>
                <a:sym typeface="Times New Roman"/>
              </a:rPr>
              <a:t>which stores metadata about the structure of the database, in particular the schema of the database.</a:t>
            </a:r>
            <a:endParaRPr/>
          </a:p>
          <a:p>
            <a:pPr marL="457200" lvl="0" indent="-228600" algn="just" rtl="0">
              <a:lnSpc>
                <a:spcPct val="90000"/>
              </a:lnSpc>
              <a:spcBef>
                <a:spcPts val="1000"/>
              </a:spcBef>
              <a:spcAft>
                <a:spcPts val="0"/>
              </a:spcAft>
              <a:buSzPct val="75630"/>
              <a:buNone/>
            </a:pPr>
            <a:endParaRPr>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ct val="75630"/>
              <a:buChar char="•"/>
            </a:pPr>
            <a:r>
              <a:rPr lang="en-US" b="1">
                <a:latin typeface="Times New Roman"/>
                <a:ea typeface="Times New Roman"/>
                <a:cs typeface="Times New Roman"/>
                <a:sym typeface="Times New Roman"/>
              </a:rPr>
              <a:t>Indices, </a:t>
            </a:r>
            <a:r>
              <a:rPr lang="en-US">
                <a:latin typeface="Times New Roman"/>
                <a:ea typeface="Times New Roman"/>
                <a:cs typeface="Times New Roman"/>
                <a:sym typeface="Times New Roman"/>
              </a:rPr>
              <a:t>which provide fast access to data items that hold particular values</a:t>
            </a: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a:spLocks noGrp="1"/>
          </p:cNvSpPr>
          <p:nvPr>
            <p:ph type="title"/>
          </p:nvPr>
        </p:nvSpPr>
        <p:spPr>
          <a:xfrm>
            <a:off x="457200" y="805206"/>
            <a:ext cx="8066069" cy="1066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45454"/>
              <a:buNone/>
            </a:pPr>
            <a:r>
              <a:rPr lang="en-US" b="1">
                <a:solidFill>
                  <a:schemeClr val="dk1"/>
                </a:solidFill>
              </a:rPr>
              <a:t/>
            </a:r>
            <a:br>
              <a:rPr lang="en-US" b="1">
                <a:solidFill>
                  <a:schemeClr val="dk1"/>
                </a:solidFill>
              </a:rPr>
            </a:br>
            <a:r>
              <a:rPr lang="en-US" sz="2700" b="1">
                <a:solidFill>
                  <a:schemeClr val="dk1"/>
                </a:solidFill>
                <a:latin typeface="Times New Roman"/>
                <a:ea typeface="Times New Roman"/>
                <a:cs typeface="Times New Roman"/>
                <a:sym typeface="Times New Roman"/>
              </a:rPr>
              <a:t>DBMS Three Level Architecture</a:t>
            </a:r>
            <a:r>
              <a:rPr lang="en-US" b="1">
                <a:solidFill>
                  <a:schemeClr val="dk1"/>
                </a:solidFill>
              </a:rPr>
              <a:t/>
            </a:r>
            <a:br>
              <a:rPr lang="en-US" b="1">
                <a:solidFill>
                  <a:schemeClr val="dk1"/>
                </a:solidFill>
              </a:rPr>
            </a:br>
            <a:endParaRPr>
              <a:solidFill>
                <a:schemeClr val="dk1"/>
              </a:solidFill>
            </a:endParaRPr>
          </a:p>
        </p:txBody>
      </p:sp>
      <p:sp>
        <p:nvSpPr>
          <p:cNvPr id="276" name="Google Shape;276;p30"/>
          <p:cNvSpPr txBox="1">
            <a:spLocks noGrp="1"/>
          </p:cNvSpPr>
          <p:nvPr>
            <p:ph type="body" idx="1"/>
          </p:nvPr>
        </p:nvSpPr>
        <p:spPr>
          <a:xfrm>
            <a:off x="332510" y="1447800"/>
            <a:ext cx="8354290" cy="494357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This architecture has three levels:</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1. External level</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2. Conceptual level</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3. Internal level</a:t>
            </a:r>
            <a:endParaRPr/>
          </a:p>
          <a:p>
            <a:pPr marL="457200" lvl="0" indent="-228600" algn="l" rtl="0">
              <a:lnSpc>
                <a:spcPct val="90000"/>
              </a:lnSpc>
              <a:spcBef>
                <a:spcPts val="1000"/>
              </a:spcBef>
              <a:spcAft>
                <a:spcPts val="0"/>
              </a:spcAft>
              <a:buClr>
                <a:schemeClr val="dk1"/>
              </a:buClr>
              <a:buSzPts val="1800"/>
              <a:buNone/>
            </a:pPr>
            <a:endParaRPr/>
          </a:p>
          <a:p>
            <a:pPr marL="457200" lvl="0" indent="-228600" algn="l" rtl="0">
              <a:lnSpc>
                <a:spcPct val="90000"/>
              </a:lnSpc>
              <a:spcBef>
                <a:spcPts val="1000"/>
              </a:spcBef>
              <a:spcAft>
                <a:spcPts val="0"/>
              </a:spcAft>
              <a:buClr>
                <a:schemeClr val="dk1"/>
              </a:buClr>
              <a:buSzPts val="1800"/>
              <a:buNone/>
            </a:pPr>
            <a:endParaRPr/>
          </a:p>
        </p:txBody>
      </p:sp>
      <p:pic>
        <p:nvPicPr>
          <p:cNvPr id="277" name="Google Shape;277;p30"/>
          <p:cNvPicPr preferRelativeResize="0"/>
          <p:nvPr/>
        </p:nvPicPr>
        <p:blipFill rotWithShape="1">
          <a:blip r:embed="rId3">
            <a:alphaModFix/>
          </a:blip>
          <a:srcRect/>
          <a:stretch/>
        </p:blipFill>
        <p:spPr>
          <a:xfrm>
            <a:off x="2900425" y="1872006"/>
            <a:ext cx="4762500" cy="4762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1"/>
          <p:cNvSpPr txBox="1">
            <a:spLocks noGrp="1"/>
          </p:cNvSpPr>
          <p:nvPr>
            <p:ph type="body" idx="1"/>
          </p:nvPr>
        </p:nvSpPr>
        <p:spPr>
          <a:xfrm>
            <a:off x="429491" y="858982"/>
            <a:ext cx="8257309" cy="5597236"/>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1000"/>
              </a:spcBef>
              <a:spcAft>
                <a:spcPts val="0"/>
              </a:spcAft>
              <a:buSzPts val="1800"/>
              <a:buNone/>
            </a:pPr>
            <a:r>
              <a:rPr lang="en-US" sz="2400" b="1">
                <a:latin typeface="Times New Roman"/>
                <a:ea typeface="Times New Roman"/>
                <a:cs typeface="Times New Roman"/>
                <a:sym typeface="Times New Roman"/>
              </a:rPr>
              <a:t>1. External level</a:t>
            </a:r>
            <a:endParaRPr/>
          </a:p>
          <a:p>
            <a:pPr marL="366713" lvl="1" indent="0" algn="just" rtl="0">
              <a:lnSpc>
                <a:spcPct val="110000"/>
              </a:lnSpc>
              <a:spcBef>
                <a:spcPts val="0"/>
              </a:spcBef>
              <a:spcAft>
                <a:spcPts val="0"/>
              </a:spcAft>
              <a:buClr>
                <a:srgbClr val="000000"/>
              </a:buClr>
              <a:buSzPts val="1800"/>
              <a:buNone/>
            </a:pPr>
            <a:r>
              <a:rPr lang="en-US">
                <a:latin typeface="Times New Roman"/>
                <a:ea typeface="Times New Roman"/>
                <a:cs typeface="Times New Roman"/>
                <a:sym typeface="Times New Roman"/>
              </a:rPr>
              <a:t>It is also called view level. The reason this level is called “view” is because several users can view their desired data from this level which is internally fetched from database with the help of conceptual and internal level mapping.</a:t>
            </a:r>
            <a:endParaRPr/>
          </a:p>
          <a:p>
            <a:pPr marL="0" lvl="0" indent="0" algn="l" rtl="0">
              <a:lnSpc>
                <a:spcPct val="90000"/>
              </a:lnSpc>
              <a:spcBef>
                <a:spcPts val="1000"/>
              </a:spcBef>
              <a:spcAft>
                <a:spcPts val="0"/>
              </a:spcAft>
              <a:buSzPts val="1800"/>
              <a:buNone/>
            </a:pPr>
            <a:r>
              <a:rPr lang="en-US" sz="2400" b="1">
                <a:latin typeface="Times New Roman"/>
                <a:ea typeface="Times New Roman"/>
                <a:cs typeface="Times New Roman"/>
                <a:sym typeface="Times New Roman"/>
              </a:rPr>
              <a:t>2. Conceptual level</a:t>
            </a:r>
            <a:endParaRPr/>
          </a:p>
          <a:p>
            <a:pPr marL="114300" lvl="0" indent="0" algn="just" rtl="0">
              <a:lnSpc>
                <a:spcPct val="90000"/>
              </a:lnSpc>
              <a:spcBef>
                <a:spcPts val="1000"/>
              </a:spcBef>
              <a:spcAft>
                <a:spcPts val="0"/>
              </a:spcAft>
              <a:buSzPts val="1800"/>
              <a:buNone/>
            </a:pPr>
            <a:r>
              <a:rPr lang="en-US" sz="2400">
                <a:latin typeface="Times New Roman"/>
                <a:ea typeface="Times New Roman"/>
                <a:cs typeface="Times New Roman"/>
                <a:sym typeface="Times New Roman"/>
              </a:rPr>
              <a:t>	It is also called </a:t>
            </a:r>
            <a:r>
              <a:rPr lang="en-US" sz="2400" b="1">
                <a:latin typeface="Times New Roman"/>
                <a:ea typeface="Times New Roman"/>
                <a:cs typeface="Times New Roman"/>
                <a:sym typeface="Times New Roman"/>
              </a:rPr>
              <a:t>logical level</a:t>
            </a:r>
            <a:r>
              <a:rPr lang="en-US" sz="2400">
                <a:latin typeface="Times New Roman"/>
                <a:ea typeface="Times New Roman"/>
                <a:cs typeface="Times New Roman"/>
                <a:sym typeface="Times New Roman"/>
              </a:rPr>
              <a:t>. The whole design of the     database such as relationship among data, schema of data etc. are described in this level.</a:t>
            </a: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SzPts val="1800"/>
              <a:buNone/>
            </a:pPr>
            <a:r>
              <a:rPr lang="en-US" sz="2400" b="1">
                <a:latin typeface="Times New Roman"/>
                <a:ea typeface="Times New Roman"/>
                <a:cs typeface="Times New Roman"/>
                <a:sym typeface="Times New Roman"/>
              </a:rPr>
              <a:t>3. Internal level</a:t>
            </a:r>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This level is also known as physical level. This level describes how the data is actually stored in the storage devices. This level is also responsible for allocating space to the data. This is the lowest level of the architecture.</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a:spLocks noGrp="1"/>
          </p:cNvSpPr>
          <p:nvPr>
            <p:ph type="title"/>
          </p:nvPr>
        </p:nvSpPr>
        <p:spPr>
          <a:xfrm>
            <a:off x="685800" y="980698"/>
            <a:ext cx="7772400" cy="6556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chemeClr val="dk1"/>
                </a:solidFill>
                <a:latin typeface="Times New Roman"/>
                <a:ea typeface="Times New Roman"/>
                <a:cs typeface="Times New Roman"/>
                <a:sym typeface="Times New Roman"/>
              </a:rPr>
              <a:t>Data Models</a:t>
            </a:r>
            <a:endParaRPr sz="2400" b="1">
              <a:solidFill>
                <a:schemeClr val="dk1"/>
              </a:solidFill>
              <a:latin typeface="Times New Roman"/>
              <a:ea typeface="Times New Roman"/>
              <a:cs typeface="Times New Roman"/>
              <a:sym typeface="Times New Roman"/>
            </a:endParaRPr>
          </a:p>
        </p:txBody>
      </p:sp>
      <p:sp>
        <p:nvSpPr>
          <p:cNvPr id="288" name="Google Shape;288;p32"/>
          <p:cNvSpPr txBox="1">
            <a:spLocks noGrp="1"/>
          </p:cNvSpPr>
          <p:nvPr>
            <p:ph type="body" idx="1"/>
          </p:nvPr>
        </p:nvSpPr>
        <p:spPr>
          <a:xfrm>
            <a:off x="609600" y="1447800"/>
            <a:ext cx="8077200" cy="4800600"/>
          </a:xfrm>
          <a:prstGeom prst="rect">
            <a:avLst/>
          </a:prstGeom>
          <a:noFill/>
          <a:ln>
            <a:noFill/>
          </a:ln>
        </p:spPr>
        <p:txBody>
          <a:bodyPr spcFirstLastPara="1" wrap="square" lIns="91425" tIns="45700" rIns="91425" bIns="45700" anchor="t" anchorCtr="0">
            <a:normAutofit fontScale="92500"/>
          </a:bodyPr>
          <a:lstStyle/>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data model: a collection of conceptual tools for describing data, data relationships, data semantics, and consistency constraints</a:t>
            </a:r>
            <a:endParaRPr sz="2400">
              <a:latin typeface="Times New Roman"/>
              <a:ea typeface="Times New Roman"/>
              <a:cs typeface="Times New Roman"/>
              <a:sym typeface="Times New Roman"/>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Data Model gives us an idea that how the final system will look like after its complete implementation.</a:t>
            </a:r>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Data Models are used to show how data is stored, connected, accessed and updated in the database management system.</a:t>
            </a:r>
            <a:endParaRPr/>
          </a:p>
          <a:p>
            <a:pPr marL="457200" lvl="0" indent="-342899" algn="just" rtl="0">
              <a:lnSpc>
                <a:spcPct val="90000"/>
              </a:lnSpc>
              <a:spcBef>
                <a:spcPts val="1000"/>
              </a:spcBef>
              <a:spcAft>
                <a:spcPts val="0"/>
              </a:spcAft>
              <a:buSzPct val="81081"/>
              <a:buChar char="•"/>
            </a:pPr>
            <a:r>
              <a:rPr lang="en-US" sz="2400">
                <a:latin typeface="Times New Roman"/>
                <a:ea typeface="Times New Roman"/>
                <a:cs typeface="Times New Roman"/>
                <a:sym typeface="Times New Roman"/>
              </a:rPr>
              <a:t>Data models define how the logical structure of a database is modeled.</a:t>
            </a:r>
            <a:endParaRPr/>
          </a:p>
          <a:p>
            <a:pPr marL="457200" lvl="0" indent="-342899" algn="l" rtl="0">
              <a:lnSpc>
                <a:spcPct val="90000"/>
              </a:lnSpc>
              <a:spcBef>
                <a:spcPts val="1000"/>
              </a:spcBef>
              <a:spcAft>
                <a:spcPts val="0"/>
              </a:spcAft>
              <a:buClr>
                <a:schemeClr val="dk1"/>
              </a:buClr>
              <a:buSzPct val="81081"/>
              <a:buChar char="•"/>
            </a:pPr>
            <a:r>
              <a:rPr lang="en-US" sz="2400">
                <a:latin typeface="Times New Roman"/>
                <a:ea typeface="Times New Roman"/>
                <a:cs typeface="Times New Roman"/>
                <a:sym typeface="Times New Roman"/>
              </a:rPr>
              <a:t>It is classified into 3 types:</a:t>
            </a:r>
            <a:endParaRPr/>
          </a:p>
          <a:p>
            <a:pPr marL="514350" lvl="0" indent="-514350" algn="l" rtl="0">
              <a:lnSpc>
                <a:spcPct val="90000"/>
              </a:lnSpc>
              <a:spcBef>
                <a:spcPts val="1000"/>
              </a:spcBef>
              <a:spcAft>
                <a:spcPts val="0"/>
              </a:spcAft>
              <a:buSzPct val="81081"/>
              <a:buAutoNum type="arabicPeriod"/>
            </a:pPr>
            <a:r>
              <a:rPr lang="en-US" sz="2400">
                <a:latin typeface="Times New Roman"/>
                <a:ea typeface="Times New Roman"/>
                <a:cs typeface="Times New Roman"/>
                <a:sym typeface="Times New Roman"/>
              </a:rPr>
              <a:t>Conceptual  Data Models --  ER Model</a:t>
            </a:r>
            <a:endParaRPr/>
          </a:p>
          <a:p>
            <a:pPr marL="514350" lvl="0" indent="-514350" algn="l" rtl="0">
              <a:lnSpc>
                <a:spcPct val="90000"/>
              </a:lnSpc>
              <a:spcBef>
                <a:spcPts val="1000"/>
              </a:spcBef>
              <a:spcAft>
                <a:spcPts val="0"/>
              </a:spcAft>
              <a:buSzPct val="81081"/>
              <a:buAutoNum type="arabicPeriod"/>
            </a:pPr>
            <a:r>
              <a:rPr lang="en-US" sz="2400">
                <a:latin typeface="Times New Roman"/>
                <a:ea typeface="Times New Roman"/>
                <a:cs typeface="Times New Roman"/>
                <a:sym typeface="Times New Roman"/>
              </a:rPr>
              <a:t>Representational Data Models – Relational Model</a:t>
            </a:r>
            <a:endParaRPr/>
          </a:p>
          <a:p>
            <a:pPr marL="514350" lvl="0" indent="-514350" algn="l" rtl="0">
              <a:lnSpc>
                <a:spcPct val="90000"/>
              </a:lnSpc>
              <a:spcBef>
                <a:spcPts val="1000"/>
              </a:spcBef>
              <a:spcAft>
                <a:spcPts val="0"/>
              </a:spcAft>
              <a:buSzPct val="81081"/>
              <a:buAutoNum type="arabicPeriod"/>
            </a:pPr>
            <a:r>
              <a:rPr lang="en-US" sz="2400">
                <a:latin typeface="Times New Roman"/>
                <a:ea typeface="Times New Roman"/>
                <a:cs typeface="Times New Roman"/>
                <a:sym typeface="Times New Roman"/>
              </a:rPr>
              <a:t>Physical Data Models</a:t>
            </a:r>
            <a:endParaRPr/>
          </a:p>
          <a:p>
            <a:pPr marL="457200" lvl="0" indent="-228600" algn="l" rtl="0">
              <a:lnSpc>
                <a:spcPct val="90000"/>
              </a:lnSpc>
              <a:spcBef>
                <a:spcPts val="1000"/>
              </a:spcBef>
              <a:spcAft>
                <a:spcPts val="0"/>
              </a:spcAft>
              <a:buClr>
                <a:schemeClr val="dk1"/>
              </a:buClr>
              <a:buSzPct val="81081"/>
              <a:buNone/>
            </a:pP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p:nvPr>
        </p:nvSpPr>
        <p:spPr>
          <a:xfrm>
            <a:off x="526723" y="1062710"/>
            <a:ext cx="7886700" cy="58698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chemeClr val="dk1"/>
                </a:solidFill>
                <a:latin typeface="Times New Roman"/>
                <a:ea typeface="Times New Roman"/>
                <a:cs typeface="Times New Roman"/>
                <a:sym typeface="Times New Roman"/>
              </a:rPr>
              <a:t>Entity-Relationship Model</a:t>
            </a:r>
            <a:endParaRPr>
              <a:solidFill>
                <a:schemeClr val="dk1"/>
              </a:solidFill>
            </a:endParaRPr>
          </a:p>
        </p:txBody>
      </p:sp>
      <p:sp>
        <p:nvSpPr>
          <p:cNvPr id="294" name="Google Shape;294;p33"/>
          <p:cNvSpPr txBox="1">
            <a:spLocks noGrp="1"/>
          </p:cNvSpPr>
          <p:nvPr>
            <p:ph type="body" idx="1"/>
          </p:nvPr>
        </p:nvSpPr>
        <p:spPr>
          <a:xfrm>
            <a:off x="336223" y="1916355"/>
            <a:ext cx="8077200" cy="4493872"/>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sz="1800">
                <a:latin typeface="Times New Roman"/>
                <a:ea typeface="Times New Roman"/>
                <a:cs typeface="Times New Roman"/>
                <a:sym typeface="Times New Roman"/>
              </a:rPr>
              <a:t>ER model stands for an Entity-Relationship model. It is a high-level data model. This model is used to define the data elements and relationship for a specified system.</a:t>
            </a:r>
            <a:endParaRPr/>
          </a:p>
          <a:p>
            <a:pPr marL="457200" lvl="0" indent="-342900" algn="just" rtl="0">
              <a:lnSpc>
                <a:spcPct val="90000"/>
              </a:lnSpc>
              <a:spcBef>
                <a:spcPts val="1000"/>
              </a:spcBef>
              <a:spcAft>
                <a:spcPts val="0"/>
              </a:spcAft>
              <a:buSzPts val="1800"/>
              <a:buChar char="•"/>
            </a:pPr>
            <a:r>
              <a:rPr lang="en-US" sz="1800">
                <a:latin typeface="Times New Roman"/>
                <a:ea typeface="Times New Roman"/>
                <a:cs typeface="Times New Roman"/>
                <a:sym typeface="Times New Roman"/>
              </a:rPr>
              <a:t>It develops a conceptual design for the database.</a:t>
            </a:r>
            <a:endParaRPr/>
          </a:p>
          <a:p>
            <a:pPr marL="457200" lvl="0" indent="-342900" algn="just" rtl="0">
              <a:lnSpc>
                <a:spcPct val="90000"/>
              </a:lnSpc>
              <a:spcBef>
                <a:spcPts val="1000"/>
              </a:spcBef>
              <a:spcAft>
                <a:spcPts val="0"/>
              </a:spcAft>
              <a:buSzPts val="1800"/>
              <a:buChar char="•"/>
            </a:pPr>
            <a:r>
              <a:rPr lang="en-US" sz="1800">
                <a:latin typeface="Times New Roman"/>
                <a:ea typeface="Times New Roman"/>
                <a:cs typeface="Times New Roman"/>
                <a:sym typeface="Times New Roman"/>
              </a:rPr>
              <a:t>We use the ER diagram as a visual tool to represent an ER Model. ER diagram has the following three components:</a:t>
            </a:r>
            <a:endParaRPr/>
          </a:p>
          <a:p>
            <a:pPr marL="457200" lvl="0" indent="-342900" algn="just" rtl="0">
              <a:lnSpc>
                <a:spcPct val="90000"/>
              </a:lnSpc>
              <a:spcBef>
                <a:spcPts val="1000"/>
              </a:spcBef>
              <a:spcAft>
                <a:spcPts val="0"/>
              </a:spcAft>
              <a:buSzPts val="1800"/>
              <a:buChar char="•"/>
            </a:pPr>
            <a:r>
              <a:rPr lang="en-US" sz="1800" b="1" i="1">
                <a:latin typeface="Times New Roman"/>
                <a:ea typeface="Times New Roman"/>
                <a:cs typeface="Times New Roman"/>
                <a:sym typeface="Times New Roman"/>
              </a:rPr>
              <a:t>Entities:</a:t>
            </a:r>
            <a:r>
              <a:rPr lang="en-US" sz="1800">
                <a:latin typeface="Times New Roman"/>
                <a:ea typeface="Times New Roman"/>
                <a:cs typeface="Times New Roman"/>
                <a:sym typeface="Times New Roman"/>
              </a:rPr>
              <a:t> Entity is a real-world thing. It can be a person, place, or even a concept. </a:t>
            </a:r>
            <a:r>
              <a:rPr lang="en-US" sz="1800" i="1">
                <a:latin typeface="Times New Roman"/>
                <a:ea typeface="Times New Roman"/>
                <a:cs typeface="Times New Roman"/>
                <a:sym typeface="Times New Roman"/>
              </a:rPr>
              <a:t>Example:</a:t>
            </a:r>
            <a:r>
              <a:rPr lang="en-US" sz="1800">
                <a:latin typeface="Times New Roman"/>
                <a:ea typeface="Times New Roman"/>
                <a:cs typeface="Times New Roman"/>
                <a:sym typeface="Times New Roman"/>
              </a:rPr>
              <a:t> Teachers, Students, Course, Building, Department, etc. are some of the entities of a School Management System.</a:t>
            </a:r>
            <a:endParaRPr/>
          </a:p>
          <a:p>
            <a:pPr marL="457200" lvl="0" indent="-342900" algn="just" rtl="0">
              <a:lnSpc>
                <a:spcPct val="90000"/>
              </a:lnSpc>
              <a:spcBef>
                <a:spcPts val="1000"/>
              </a:spcBef>
              <a:spcAft>
                <a:spcPts val="0"/>
              </a:spcAft>
              <a:buSzPts val="1800"/>
              <a:buChar char="•"/>
            </a:pPr>
            <a:r>
              <a:rPr lang="en-US" sz="1800" b="1" i="1">
                <a:latin typeface="Times New Roman"/>
                <a:ea typeface="Times New Roman"/>
                <a:cs typeface="Times New Roman"/>
                <a:sym typeface="Times New Roman"/>
              </a:rPr>
              <a:t>Attributes:</a:t>
            </a:r>
            <a:r>
              <a:rPr lang="en-US" sz="1800">
                <a:latin typeface="Times New Roman"/>
                <a:ea typeface="Times New Roman"/>
                <a:cs typeface="Times New Roman"/>
                <a:sym typeface="Times New Roman"/>
              </a:rPr>
              <a:t> An entity contains a real-world property called attribute. This is the characteristics of that attribute. </a:t>
            </a:r>
            <a:r>
              <a:rPr lang="en-US" sz="1800" i="1">
                <a:latin typeface="Times New Roman"/>
                <a:ea typeface="Times New Roman"/>
                <a:cs typeface="Times New Roman"/>
                <a:sym typeface="Times New Roman"/>
              </a:rPr>
              <a:t>Example:</a:t>
            </a:r>
            <a:r>
              <a:rPr lang="en-US" sz="1800">
                <a:latin typeface="Times New Roman"/>
                <a:ea typeface="Times New Roman"/>
                <a:cs typeface="Times New Roman"/>
                <a:sym typeface="Times New Roman"/>
              </a:rPr>
              <a:t> The entity teacher has the property like teacher id, salary, age, etc.</a:t>
            </a:r>
            <a:endParaRPr/>
          </a:p>
          <a:p>
            <a:pPr marL="457200" lvl="0" indent="-342900" algn="just" rtl="0">
              <a:lnSpc>
                <a:spcPct val="90000"/>
              </a:lnSpc>
              <a:spcBef>
                <a:spcPts val="1000"/>
              </a:spcBef>
              <a:spcAft>
                <a:spcPts val="0"/>
              </a:spcAft>
              <a:buSzPts val="1800"/>
              <a:buChar char="•"/>
            </a:pPr>
            <a:r>
              <a:rPr lang="en-US" sz="1800" b="1" i="1">
                <a:latin typeface="Times New Roman"/>
                <a:ea typeface="Times New Roman"/>
                <a:cs typeface="Times New Roman"/>
                <a:sym typeface="Times New Roman"/>
              </a:rPr>
              <a:t>Relationship:</a:t>
            </a:r>
            <a:r>
              <a:rPr lang="en-US" sz="1800">
                <a:latin typeface="Times New Roman"/>
                <a:ea typeface="Times New Roman"/>
                <a:cs typeface="Times New Roman"/>
                <a:sym typeface="Times New Roman"/>
              </a:rPr>
              <a:t> Relationship tells how two entities are related. </a:t>
            </a:r>
            <a:r>
              <a:rPr lang="en-US" sz="1800" i="1">
                <a:latin typeface="Times New Roman"/>
                <a:ea typeface="Times New Roman"/>
                <a:cs typeface="Times New Roman"/>
                <a:sym typeface="Times New Roman"/>
              </a:rPr>
              <a:t>Example:</a:t>
            </a:r>
            <a:r>
              <a:rPr lang="en-US" sz="1800">
                <a:latin typeface="Times New Roman"/>
                <a:ea typeface="Times New Roman"/>
                <a:cs typeface="Times New Roman"/>
                <a:sym typeface="Times New Roman"/>
              </a:rPr>
              <a:t> Teacher works for a department.</a:t>
            </a:r>
            <a:endParaRPr/>
          </a:p>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9"/>
          <p:cNvSpPr txBox="1">
            <a:spLocks noGrp="1"/>
          </p:cNvSpPr>
          <p:nvPr>
            <p:ph type="body" idx="1"/>
          </p:nvPr>
        </p:nvSpPr>
        <p:spPr>
          <a:xfrm>
            <a:off x="380998" y="1646848"/>
            <a:ext cx="8610600" cy="4713402"/>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000" b="1">
                <a:highlight>
                  <a:srgbClr val="FFFF00"/>
                </a:highlight>
                <a:latin typeface="Times New Roman"/>
                <a:ea typeface="Times New Roman"/>
                <a:cs typeface="Times New Roman"/>
                <a:sym typeface="Times New Roman"/>
              </a:rPr>
              <a:t>Entity-</a:t>
            </a:r>
            <a:r>
              <a:rPr lang="en-US" sz="2000">
                <a:highlight>
                  <a:srgbClr val="FFFF00"/>
                </a:highlight>
                <a:latin typeface="Times New Roman"/>
                <a:ea typeface="Times New Roman"/>
                <a:cs typeface="Times New Roman"/>
                <a:sym typeface="Times New Roman"/>
              </a:rPr>
              <a:t>Simple rectangular box represents an Entity.</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000">
              <a:highlight>
                <a:srgbClr val="FFFF00"/>
              </a:highlight>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b="1">
                <a:highlight>
                  <a:srgbClr val="FFFF00"/>
                </a:highlight>
                <a:latin typeface="Times New Roman"/>
                <a:ea typeface="Times New Roman"/>
                <a:cs typeface="Times New Roman"/>
                <a:sym typeface="Times New Roman"/>
              </a:rPr>
              <a:t>Relationships between Entities - Weak and Strong</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000">
              <a:highlight>
                <a:srgbClr val="FFFF00"/>
              </a:highlight>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000">
              <a:highlight>
                <a:srgbClr val="FFFF00"/>
              </a:highlight>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b="1">
                <a:highlight>
                  <a:srgbClr val="FFFF00"/>
                </a:highlight>
                <a:latin typeface="Times New Roman"/>
                <a:ea typeface="Times New Roman"/>
                <a:cs typeface="Times New Roman"/>
                <a:sym typeface="Times New Roman"/>
              </a:rPr>
              <a:t>Weak Entity-</a:t>
            </a:r>
            <a:r>
              <a:rPr lang="en-US" sz="2000">
                <a:highlight>
                  <a:srgbClr val="FFFF00"/>
                </a:highlight>
                <a:latin typeface="Times New Roman"/>
                <a:ea typeface="Times New Roman"/>
                <a:cs typeface="Times New Roman"/>
                <a:sym typeface="Times New Roman"/>
              </a:rPr>
              <a:t>A weak Entity is represented using double rectangular boxes</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000">
              <a:highlight>
                <a:srgbClr val="FFFF00"/>
              </a:highlight>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b="1">
                <a:highlight>
                  <a:srgbClr val="FFFF00"/>
                </a:highlight>
                <a:latin typeface="Times New Roman"/>
                <a:ea typeface="Times New Roman"/>
                <a:cs typeface="Times New Roman"/>
                <a:sym typeface="Times New Roman"/>
              </a:rPr>
              <a:t>Derived Attribute for any Entity</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000" b="1">
              <a:highlight>
                <a:srgbClr val="FFFF00"/>
              </a:highlight>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b="1">
                <a:highlight>
                  <a:srgbClr val="FFFF00"/>
                </a:highlight>
                <a:latin typeface="Times New Roman"/>
                <a:ea typeface="Times New Roman"/>
                <a:cs typeface="Times New Roman"/>
                <a:sym typeface="Times New Roman"/>
              </a:rPr>
              <a:t>Multivalued Attribute for any Entity</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000" b="1">
              <a:latin typeface="Times New Roman"/>
              <a:ea typeface="Times New Roman"/>
              <a:cs typeface="Times New Roman"/>
              <a:sym typeface="Times New Roman"/>
            </a:endParaRPr>
          </a:p>
        </p:txBody>
      </p:sp>
      <p:pic>
        <p:nvPicPr>
          <p:cNvPr id="300" name="Google Shape;300;p59" descr="Entity in ER diagram"/>
          <p:cNvPicPr preferRelativeResize="0"/>
          <p:nvPr/>
        </p:nvPicPr>
        <p:blipFill rotWithShape="1">
          <a:blip r:embed="rId3">
            <a:alphaModFix/>
          </a:blip>
          <a:srcRect/>
          <a:stretch/>
        </p:blipFill>
        <p:spPr>
          <a:xfrm>
            <a:off x="5457755" y="2026724"/>
            <a:ext cx="2781300" cy="400050"/>
          </a:xfrm>
          <a:prstGeom prst="rect">
            <a:avLst/>
          </a:prstGeom>
          <a:noFill/>
          <a:ln>
            <a:noFill/>
          </a:ln>
        </p:spPr>
      </p:pic>
      <p:pic>
        <p:nvPicPr>
          <p:cNvPr id="301" name="Google Shape;301;p59"/>
          <p:cNvPicPr preferRelativeResize="0"/>
          <p:nvPr/>
        </p:nvPicPr>
        <p:blipFill rotWithShape="1">
          <a:blip r:embed="rId4">
            <a:alphaModFix/>
          </a:blip>
          <a:srcRect/>
          <a:stretch/>
        </p:blipFill>
        <p:spPr>
          <a:xfrm>
            <a:off x="2758422" y="2848476"/>
            <a:ext cx="2036175" cy="624725"/>
          </a:xfrm>
          <a:prstGeom prst="rect">
            <a:avLst/>
          </a:prstGeom>
          <a:noFill/>
          <a:ln>
            <a:noFill/>
          </a:ln>
        </p:spPr>
      </p:pic>
      <p:pic>
        <p:nvPicPr>
          <p:cNvPr id="302" name="Google Shape;302;p59" descr="Weak Entity in ER diagram"/>
          <p:cNvPicPr preferRelativeResize="0"/>
          <p:nvPr/>
        </p:nvPicPr>
        <p:blipFill rotWithShape="1">
          <a:blip r:embed="rId5">
            <a:alphaModFix/>
          </a:blip>
          <a:srcRect/>
          <a:stretch/>
        </p:blipFill>
        <p:spPr>
          <a:xfrm>
            <a:off x="2676439" y="4003549"/>
            <a:ext cx="2781300" cy="400050"/>
          </a:xfrm>
          <a:prstGeom prst="rect">
            <a:avLst/>
          </a:prstGeom>
          <a:noFill/>
          <a:ln>
            <a:noFill/>
          </a:ln>
        </p:spPr>
      </p:pic>
      <p:pic>
        <p:nvPicPr>
          <p:cNvPr id="303" name="Google Shape;303;p59"/>
          <p:cNvPicPr preferRelativeResize="0"/>
          <p:nvPr/>
        </p:nvPicPr>
        <p:blipFill rotWithShape="1">
          <a:blip r:embed="rId6">
            <a:alphaModFix/>
          </a:blip>
          <a:srcRect/>
          <a:stretch/>
        </p:blipFill>
        <p:spPr>
          <a:xfrm>
            <a:off x="4571998" y="4701088"/>
            <a:ext cx="1128971" cy="525998"/>
          </a:xfrm>
          <a:prstGeom prst="rect">
            <a:avLst/>
          </a:prstGeom>
          <a:noFill/>
          <a:ln>
            <a:noFill/>
          </a:ln>
        </p:spPr>
      </p:pic>
      <p:pic>
        <p:nvPicPr>
          <p:cNvPr id="304" name="Google Shape;304;p59"/>
          <p:cNvPicPr preferRelativeResize="0"/>
          <p:nvPr/>
        </p:nvPicPr>
        <p:blipFill rotWithShape="1">
          <a:blip r:embed="rId7">
            <a:alphaModFix/>
          </a:blip>
          <a:srcRect/>
          <a:stretch/>
        </p:blipFill>
        <p:spPr>
          <a:xfrm>
            <a:off x="5039982" y="5524585"/>
            <a:ext cx="1128973" cy="5259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60"/>
          <p:cNvSpPr txBox="1">
            <a:spLocks noGrp="1"/>
          </p:cNvSpPr>
          <p:nvPr>
            <p:ph type="body" idx="1"/>
          </p:nvPr>
        </p:nvSpPr>
        <p:spPr>
          <a:xfrm>
            <a:off x="495300" y="1081725"/>
            <a:ext cx="8153400" cy="53340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b="1">
                <a:highlight>
                  <a:srgbClr val="FFFF00"/>
                </a:highlight>
                <a:latin typeface="Times New Roman"/>
                <a:ea typeface="Times New Roman"/>
                <a:cs typeface="Times New Roman"/>
                <a:sym typeface="Times New Roman"/>
              </a:rPr>
              <a:t>Attributes for any Entity</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400">
              <a:highlight>
                <a:srgbClr val="FFFF00"/>
              </a:highlight>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a:highlight>
                <a:srgbClr val="FFFF00"/>
              </a:highlight>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a:highlight>
                <a:srgbClr val="FFFF00"/>
              </a:highlight>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400" b="1">
                <a:highlight>
                  <a:srgbClr val="FFFF00"/>
                </a:highlight>
                <a:latin typeface="Times New Roman"/>
                <a:ea typeface="Times New Roman"/>
                <a:cs typeface="Times New Roman"/>
                <a:sym typeface="Times New Roman"/>
              </a:rPr>
              <a:t>Composite Attribute for any Entity</a:t>
            </a:r>
            <a:endParaRPr>
              <a:highlight>
                <a:srgbClr val="FFFF00"/>
              </a:highlight>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pic>
        <p:nvPicPr>
          <p:cNvPr id="310" name="Google Shape;310;p60"/>
          <p:cNvPicPr preferRelativeResize="0"/>
          <p:nvPr/>
        </p:nvPicPr>
        <p:blipFill rotWithShape="1">
          <a:blip r:embed="rId3">
            <a:alphaModFix/>
          </a:blip>
          <a:srcRect/>
          <a:stretch/>
        </p:blipFill>
        <p:spPr>
          <a:xfrm>
            <a:off x="4925291" y="1318182"/>
            <a:ext cx="2628900" cy="1066800"/>
          </a:xfrm>
          <a:prstGeom prst="rect">
            <a:avLst/>
          </a:prstGeom>
          <a:noFill/>
          <a:ln>
            <a:noFill/>
          </a:ln>
        </p:spPr>
      </p:pic>
      <p:pic>
        <p:nvPicPr>
          <p:cNvPr id="311" name="Google Shape;311;p60" descr="Introduction of ER Model - GeeksforGeeks"/>
          <p:cNvPicPr preferRelativeResize="0"/>
          <p:nvPr/>
        </p:nvPicPr>
        <p:blipFill rotWithShape="1">
          <a:blip r:embed="rId4">
            <a:alphaModFix/>
          </a:blip>
          <a:srcRect/>
          <a:stretch/>
        </p:blipFill>
        <p:spPr>
          <a:xfrm>
            <a:off x="2780907" y="4235193"/>
            <a:ext cx="3760492" cy="202813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34" descr="https://s3.ap-south-1.amazonaws.com/afteracademy-server-uploads/what-is-data-model-in-dbms-and-what-are-its-types-entity-relationship-model-9aaf8481a5644632.jpg"/>
          <p:cNvPicPr preferRelativeResize="0"/>
          <p:nvPr/>
        </p:nvPicPr>
        <p:blipFill rotWithShape="1">
          <a:blip r:embed="rId3">
            <a:alphaModFix/>
          </a:blip>
          <a:srcRect/>
          <a:stretch/>
        </p:blipFill>
        <p:spPr>
          <a:xfrm>
            <a:off x="895546" y="1520416"/>
            <a:ext cx="6365449" cy="43878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5"/>
          <p:cNvSpPr txBox="1">
            <a:spLocks noGrp="1"/>
          </p:cNvSpPr>
          <p:nvPr>
            <p:ph type="title"/>
          </p:nvPr>
        </p:nvSpPr>
        <p:spPr>
          <a:xfrm>
            <a:off x="571500" y="761051"/>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chemeClr val="dk1"/>
                </a:solidFill>
                <a:latin typeface="Times New Roman"/>
                <a:ea typeface="Times New Roman"/>
                <a:cs typeface="Times New Roman"/>
                <a:sym typeface="Times New Roman"/>
              </a:rPr>
              <a:t>Advantages of ER Model</a:t>
            </a:r>
            <a:endParaRPr/>
          </a:p>
        </p:txBody>
      </p:sp>
      <p:sp>
        <p:nvSpPr>
          <p:cNvPr id="322" name="Google Shape;322;p35"/>
          <p:cNvSpPr txBox="1">
            <a:spLocks noGrp="1"/>
          </p:cNvSpPr>
          <p:nvPr>
            <p:ph type="body" idx="1"/>
          </p:nvPr>
        </p:nvSpPr>
        <p:spPr>
          <a:xfrm>
            <a:off x="685800" y="1752600"/>
            <a:ext cx="8001000" cy="4572000"/>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sz="2400" b="1" i="1">
                <a:latin typeface="Times New Roman"/>
                <a:ea typeface="Times New Roman"/>
                <a:cs typeface="Times New Roman"/>
                <a:sym typeface="Times New Roman"/>
              </a:rPr>
              <a:t>Simple:</a:t>
            </a:r>
            <a:r>
              <a:rPr lang="en-US" sz="2400">
                <a:latin typeface="Times New Roman"/>
                <a:ea typeface="Times New Roman"/>
                <a:cs typeface="Times New Roman"/>
                <a:sym typeface="Times New Roman"/>
              </a:rPr>
              <a:t> Conceptually ER Model is very easy to build. If we know the relationship between the attributes and the entities we can easily build the ER Diagram for the model.</a:t>
            </a:r>
            <a:endParaRPr/>
          </a:p>
          <a:p>
            <a:pPr marL="457200" lvl="0" indent="-342900" algn="just" rtl="0">
              <a:lnSpc>
                <a:spcPct val="90000"/>
              </a:lnSpc>
              <a:spcBef>
                <a:spcPts val="1000"/>
              </a:spcBef>
              <a:spcAft>
                <a:spcPts val="0"/>
              </a:spcAft>
              <a:buSzPts val="1800"/>
              <a:buChar char="•"/>
            </a:pPr>
            <a:r>
              <a:rPr lang="en-US" sz="2400" b="1" i="1">
                <a:latin typeface="Times New Roman"/>
                <a:ea typeface="Times New Roman"/>
                <a:cs typeface="Times New Roman"/>
                <a:sym typeface="Times New Roman"/>
              </a:rPr>
              <a:t>Effective Communication Tool</a:t>
            </a:r>
            <a:r>
              <a:rPr lang="en-US" sz="2400">
                <a:latin typeface="Times New Roman"/>
                <a:ea typeface="Times New Roman"/>
                <a:cs typeface="Times New Roman"/>
                <a:sym typeface="Times New Roman"/>
              </a:rPr>
              <a:t>: This model is used widely by the database designers for communicating their ideas.</a:t>
            </a:r>
            <a:endParaRPr/>
          </a:p>
          <a:p>
            <a:pPr marL="457200" lvl="0" indent="-342900" algn="just" rtl="0">
              <a:lnSpc>
                <a:spcPct val="90000"/>
              </a:lnSpc>
              <a:spcBef>
                <a:spcPts val="1000"/>
              </a:spcBef>
              <a:spcAft>
                <a:spcPts val="0"/>
              </a:spcAft>
              <a:buSzPts val="1800"/>
              <a:buChar char="•"/>
            </a:pPr>
            <a:r>
              <a:rPr lang="en-US" sz="2400" b="1" i="1">
                <a:latin typeface="Times New Roman"/>
                <a:ea typeface="Times New Roman"/>
                <a:cs typeface="Times New Roman"/>
                <a:sym typeface="Times New Roman"/>
              </a:rPr>
              <a:t>Easy Conversion to any Model</a:t>
            </a:r>
            <a:r>
              <a:rPr lang="en-US" sz="2400">
                <a:latin typeface="Times New Roman"/>
                <a:ea typeface="Times New Roman"/>
                <a:cs typeface="Times New Roman"/>
                <a:sym typeface="Times New Roman"/>
              </a:rPr>
              <a:t>: This model maps well to the relational model and can be easily converted relational model by converting the ER model to the table. This model can also be converted to any other model like network model, hierarchical model etc.</a:t>
            </a:r>
            <a:endParaRPr/>
          </a:p>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6"/>
          <p:cNvSpPr txBox="1">
            <a:spLocks noGrp="1"/>
          </p:cNvSpPr>
          <p:nvPr>
            <p:ph type="title"/>
          </p:nvPr>
        </p:nvSpPr>
        <p:spPr>
          <a:xfrm>
            <a:off x="628650" y="610223"/>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chemeClr val="dk1"/>
                </a:solidFill>
                <a:latin typeface="Times New Roman"/>
                <a:ea typeface="Times New Roman"/>
                <a:cs typeface="Times New Roman"/>
                <a:sym typeface="Times New Roman"/>
              </a:rPr>
              <a:t>Types of Entity type</a:t>
            </a:r>
            <a:endParaRPr/>
          </a:p>
        </p:txBody>
      </p:sp>
      <p:sp>
        <p:nvSpPr>
          <p:cNvPr id="328" name="Google Shape;328;p3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Strong Entity Type</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Weak Entity Type</a:t>
            </a:r>
            <a:endParaRPr/>
          </a:p>
          <a:p>
            <a:pPr marL="457200" lvl="0" indent="-228600" algn="l" rtl="0">
              <a:lnSpc>
                <a:spcPct val="90000"/>
              </a:lnSpc>
              <a:spcBef>
                <a:spcPts val="1000"/>
              </a:spcBef>
              <a:spcAft>
                <a:spcPts val="0"/>
              </a:spcAft>
              <a:buClr>
                <a:schemeClr val="dk1"/>
              </a:buClr>
              <a:buSzPts val="1800"/>
              <a:buNone/>
            </a:pPr>
            <a:endParaRPr sz="2400" b="1" i="1">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400" b="1" i="1">
                <a:latin typeface="Times New Roman"/>
                <a:ea typeface="Times New Roman"/>
                <a:cs typeface="Times New Roman"/>
                <a:sym typeface="Times New Roman"/>
              </a:rPr>
              <a:t>Strong Entity Type:</a:t>
            </a:r>
            <a:r>
              <a:rPr lang="en-US" sz="2400">
                <a:latin typeface="Times New Roman"/>
                <a:ea typeface="Times New Roman"/>
                <a:cs typeface="Times New Roman"/>
                <a:sym typeface="Times New Roman"/>
              </a:rPr>
              <a:t> Strong entity are those entity types which has a key attribute. The primary key helps in identifying each entity uniquely</a:t>
            </a:r>
            <a:endParaRPr/>
          </a:p>
          <a:p>
            <a:pPr marL="457200" lvl="0" indent="-342900" algn="l" rtl="0">
              <a:lnSpc>
                <a:spcPct val="90000"/>
              </a:lnSpc>
              <a:spcBef>
                <a:spcPts val="1000"/>
              </a:spcBef>
              <a:spcAft>
                <a:spcPts val="0"/>
              </a:spcAft>
              <a:buClr>
                <a:schemeClr val="dk1"/>
              </a:buClr>
              <a:buSzPts val="1800"/>
              <a:buChar char="•"/>
            </a:pPr>
            <a:r>
              <a:rPr lang="en-US" sz="2400" b="1" i="1">
                <a:latin typeface="Times New Roman"/>
                <a:ea typeface="Times New Roman"/>
                <a:cs typeface="Times New Roman"/>
                <a:sym typeface="Times New Roman"/>
              </a:rPr>
              <a:t>Weak Entity Type</a:t>
            </a:r>
            <a:r>
              <a:rPr lang="en-US" sz="2400">
                <a:latin typeface="Times New Roman"/>
                <a:ea typeface="Times New Roman"/>
                <a:cs typeface="Times New Roman"/>
                <a:sym typeface="Times New Roman"/>
              </a:rPr>
              <a:t>: Weak entity type doesn't have a key attribute. Weak entity type can't be identified on its own. It depends upon some other strong entity for its distinct identity. </a:t>
            </a:r>
            <a:endParaRPr/>
          </a:p>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7"/>
          <p:cNvSpPr txBox="1">
            <a:spLocks noGrp="1"/>
          </p:cNvSpPr>
          <p:nvPr>
            <p:ph type="body" idx="1"/>
          </p:nvPr>
        </p:nvSpPr>
        <p:spPr>
          <a:xfrm>
            <a:off x="315013" y="1163424"/>
            <a:ext cx="8305800" cy="2767553"/>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If we have two tables of Customer and Address.</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 Here we cannot identify the address uniquely as there can be many customers from the same locality. </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So, for this, we need an attribute of Strong Entity Type i.e ‘Customer’ here to uniquely identify entities of 'Address' Entity Type.</a:t>
            </a:r>
            <a:endParaRPr/>
          </a:p>
        </p:txBody>
      </p:sp>
      <p:pic>
        <p:nvPicPr>
          <p:cNvPr id="334" name="Google Shape;334;p37" descr="https://s3.ap-south-1.amazonaws.com/afteracademy-server-uploads/what-is-an-entity-entity-type-and-entity-set-weak-entity-example-d5677f16eb8d6f9b.jpg"/>
          <p:cNvPicPr preferRelativeResize="0"/>
          <p:nvPr/>
        </p:nvPicPr>
        <p:blipFill rotWithShape="1">
          <a:blip r:embed="rId3">
            <a:alphaModFix/>
          </a:blip>
          <a:srcRect/>
          <a:stretch/>
        </p:blipFill>
        <p:spPr>
          <a:xfrm>
            <a:off x="1826836" y="3805330"/>
            <a:ext cx="5490328" cy="244532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a:spLocks noGrp="1"/>
          </p:cNvSpPr>
          <p:nvPr>
            <p:ph type="title"/>
          </p:nvPr>
        </p:nvSpPr>
        <p:spPr>
          <a:xfrm>
            <a:off x="419100" y="1030461"/>
            <a:ext cx="7886700" cy="52099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chemeClr val="dk1"/>
                </a:solidFill>
                <a:latin typeface="Times New Roman"/>
                <a:ea typeface="Times New Roman"/>
                <a:cs typeface="Times New Roman"/>
                <a:sym typeface="Times New Roman"/>
              </a:rPr>
              <a:t>Relationship in DBMS</a:t>
            </a:r>
            <a:endParaRPr sz="2400">
              <a:solidFill>
                <a:schemeClr val="dk1"/>
              </a:solidFill>
              <a:latin typeface="Times New Roman"/>
              <a:ea typeface="Times New Roman"/>
              <a:cs typeface="Times New Roman"/>
              <a:sym typeface="Times New Roman"/>
            </a:endParaRPr>
          </a:p>
        </p:txBody>
      </p:sp>
      <p:sp>
        <p:nvSpPr>
          <p:cNvPr id="340" name="Google Shape;340;p38"/>
          <p:cNvSpPr txBox="1">
            <a:spLocks noGrp="1"/>
          </p:cNvSpPr>
          <p:nvPr>
            <p:ph type="body" idx="1"/>
          </p:nvPr>
        </p:nvSpPr>
        <p:spPr>
          <a:xfrm>
            <a:off x="419100" y="1551455"/>
            <a:ext cx="8305800" cy="3600254"/>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Any association between two entity types is called a relationship.</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One-to-One Relationship</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One-to-Many or Many-to-One Relationship</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Many-to-Many Relationship</a:t>
            </a:r>
            <a:endParaRPr/>
          </a:p>
          <a:p>
            <a:pPr marL="457200" lvl="0" indent="-342900" algn="l" rtl="0">
              <a:lnSpc>
                <a:spcPct val="90000"/>
              </a:lnSpc>
              <a:spcBef>
                <a:spcPts val="1000"/>
              </a:spcBef>
              <a:spcAft>
                <a:spcPts val="0"/>
              </a:spcAft>
              <a:buClr>
                <a:schemeClr val="dk1"/>
              </a:buClr>
              <a:buSzPts val="1800"/>
              <a:buChar char="•"/>
            </a:pPr>
            <a:r>
              <a:rPr lang="en-US" sz="2400" b="1">
                <a:latin typeface="Times New Roman"/>
                <a:ea typeface="Times New Roman"/>
                <a:cs typeface="Times New Roman"/>
                <a:sym typeface="Times New Roman"/>
              </a:rPr>
              <a:t>One-to-One Relationship</a:t>
            </a:r>
            <a:endParaRPr/>
          </a:p>
          <a:p>
            <a:pPr marL="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Such a relationship exists when each record of one table is related to only one record of the other table.</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SzPts val="1800"/>
              <a:buNone/>
            </a:pPr>
            <a:endParaRPr sz="2400">
              <a:latin typeface="Times New Roman"/>
              <a:ea typeface="Times New Roman"/>
              <a:cs typeface="Times New Roman"/>
              <a:sym typeface="Times New Roman"/>
            </a:endParaRPr>
          </a:p>
        </p:txBody>
      </p:sp>
      <p:pic>
        <p:nvPicPr>
          <p:cNvPr id="341" name="Google Shape;341;p38"/>
          <p:cNvPicPr preferRelativeResize="0"/>
          <p:nvPr/>
        </p:nvPicPr>
        <p:blipFill rotWithShape="1">
          <a:blip r:embed="rId3">
            <a:alphaModFix/>
          </a:blip>
          <a:srcRect/>
          <a:stretch/>
        </p:blipFill>
        <p:spPr>
          <a:xfrm>
            <a:off x="1661657" y="5012474"/>
            <a:ext cx="5059655" cy="11781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txBox="1">
            <a:spLocks noGrp="1"/>
          </p:cNvSpPr>
          <p:nvPr>
            <p:ph type="body" idx="1"/>
          </p:nvPr>
        </p:nvSpPr>
        <p:spPr>
          <a:xfrm>
            <a:off x="305586" y="1494934"/>
            <a:ext cx="8305800" cy="1672472"/>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b="1">
                <a:solidFill>
                  <a:srgbClr val="FF0000"/>
                </a:solidFill>
                <a:latin typeface="Times New Roman"/>
                <a:ea typeface="Times New Roman"/>
                <a:cs typeface="Times New Roman"/>
                <a:sym typeface="Times New Roman"/>
              </a:rPr>
              <a:t>One-to-Many or Many-to-One Relationship</a:t>
            </a:r>
            <a:endParaRPr/>
          </a:p>
          <a:p>
            <a:pPr marL="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Such a relationship exists when each record of one table can be related to one or more than one record of the other table</a:t>
            </a:r>
            <a:endParaRPr/>
          </a:p>
          <a:p>
            <a:pPr marL="0" lvl="0" indent="0" algn="l" rtl="0">
              <a:lnSpc>
                <a:spcPct val="90000"/>
              </a:lnSpc>
              <a:spcBef>
                <a:spcPts val="1000"/>
              </a:spcBef>
              <a:spcAft>
                <a:spcPts val="0"/>
              </a:spcAft>
              <a:buSzPts val="1800"/>
              <a:buNone/>
            </a:pPr>
            <a:endParaRPr sz="240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pic>
        <p:nvPicPr>
          <p:cNvPr id="347" name="Google Shape;347;p39"/>
          <p:cNvPicPr preferRelativeResize="0"/>
          <p:nvPr/>
        </p:nvPicPr>
        <p:blipFill rotWithShape="1">
          <a:blip r:embed="rId3">
            <a:alphaModFix/>
          </a:blip>
          <a:srcRect/>
          <a:stretch/>
        </p:blipFill>
        <p:spPr>
          <a:xfrm>
            <a:off x="1536568" y="3011447"/>
            <a:ext cx="5286277" cy="1069361"/>
          </a:xfrm>
          <a:prstGeom prst="rect">
            <a:avLst/>
          </a:prstGeom>
          <a:noFill/>
          <a:ln>
            <a:noFill/>
          </a:ln>
        </p:spPr>
      </p:pic>
      <p:sp>
        <p:nvSpPr>
          <p:cNvPr id="348" name="Google Shape;348;p39"/>
          <p:cNvSpPr/>
          <p:nvPr/>
        </p:nvSpPr>
        <p:spPr>
          <a:xfrm>
            <a:off x="419100" y="4220974"/>
            <a:ext cx="8305800" cy="193899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If there are two entity type ‘Customer’ and ‘Account’ then each ‘Customer’ can have more than one ‘Account’ but each ‘Account’ is held by only one ‘Customer’. In this example, we can say that each Customer is associated with many Account. So, it is a one-to-many relationship. But, if we see it the other way i.e many Account is associated with one Customer then we can say that it is a many-to-one relationship.</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0"/>
          <p:cNvSpPr txBox="1">
            <a:spLocks noGrp="1"/>
          </p:cNvSpPr>
          <p:nvPr>
            <p:ph type="title"/>
          </p:nvPr>
        </p:nvSpPr>
        <p:spPr>
          <a:xfrm>
            <a:off x="430687" y="1439782"/>
            <a:ext cx="7886700" cy="51156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83333"/>
              <a:buNone/>
            </a:pPr>
            <a:r>
              <a:rPr lang="en-US" sz="2400" b="1">
                <a:solidFill>
                  <a:srgbClr val="FF0000"/>
                </a:solidFill>
                <a:latin typeface="Times New Roman"/>
                <a:ea typeface="Times New Roman"/>
                <a:cs typeface="Times New Roman"/>
                <a:sym typeface="Times New Roman"/>
              </a:rPr>
              <a:t>Many-to-Many Relationship </a:t>
            </a:r>
            <a:r>
              <a:rPr lang="en-US" b="1"/>
              <a:t/>
            </a:r>
            <a:br>
              <a:rPr lang="en-US" b="1"/>
            </a:br>
            <a:endParaRPr/>
          </a:p>
        </p:txBody>
      </p:sp>
      <p:sp>
        <p:nvSpPr>
          <p:cNvPr id="354" name="Google Shape;354;p40"/>
          <p:cNvSpPr txBox="1">
            <a:spLocks noGrp="1"/>
          </p:cNvSpPr>
          <p:nvPr>
            <p:ph type="body" idx="1"/>
          </p:nvPr>
        </p:nvSpPr>
        <p:spPr>
          <a:xfrm>
            <a:off x="506102" y="2170112"/>
            <a:ext cx="7886700" cy="1908175"/>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If there are two entity type ‘Customer’ and ‘Product’ then each customer can buy more than one product and a product can be bought by many different customers. </a:t>
            </a:r>
            <a:endParaRPr/>
          </a:p>
        </p:txBody>
      </p:sp>
      <p:pic>
        <p:nvPicPr>
          <p:cNvPr id="355" name="Google Shape;355;p40"/>
          <p:cNvPicPr preferRelativeResize="0"/>
          <p:nvPr/>
        </p:nvPicPr>
        <p:blipFill rotWithShape="1">
          <a:blip r:embed="rId3">
            <a:alphaModFix/>
          </a:blip>
          <a:srcRect/>
          <a:stretch/>
        </p:blipFill>
        <p:spPr>
          <a:xfrm>
            <a:off x="628650" y="4459664"/>
            <a:ext cx="7343775" cy="16954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1"/>
          <p:cNvSpPr txBox="1">
            <a:spLocks noGrp="1"/>
          </p:cNvSpPr>
          <p:nvPr>
            <p:ph type="title"/>
          </p:nvPr>
        </p:nvSpPr>
        <p:spPr>
          <a:xfrm>
            <a:off x="448755" y="968441"/>
            <a:ext cx="7886700" cy="6812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Types of Participation Constraints-</a:t>
            </a:r>
            <a:endParaRPr sz="2400">
              <a:latin typeface="Times New Roman"/>
              <a:ea typeface="Times New Roman"/>
              <a:cs typeface="Times New Roman"/>
              <a:sym typeface="Times New Roman"/>
            </a:endParaRPr>
          </a:p>
        </p:txBody>
      </p:sp>
      <p:sp>
        <p:nvSpPr>
          <p:cNvPr id="361" name="Google Shape;361;p41"/>
          <p:cNvSpPr txBox="1">
            <a:spLocks noGrp="1"/>
          </p:cNvSpPr>
          <p:nvPr>
            <p:ph type="body" idx="1"/>
          </p:nvPr>
        </p:nvSpPr>
        <p:spPr>
          <a:xfrm>
            <a:off x="201105" y="1467602"/>
            <a:ext cx="8382000" cy="5025272"/>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Total participation</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Partial participation</a:t>
            </a:r>
            <a:endParaRPr/>
          </a:p>
          <a:p>
            <a:pPr marL="457200" lvl="0" indent="-342900" algn="l" rtl="0">
              <a:lnSpc>
                <a:spcPct val="90000"/>
              </a:lnSpc>
              <a:spcBef>
                <a:spcPts val="1000"/>
              </a:spcBef>
              <a:spcAft>
                <a:spcPts val="0"/>
              </a:spcAft>
              <a:buClr>
                <a:schemeClr val="dk1"/>
              </a:buClr>
              <a:buSzPts val="1800"/>
              <a:buChar char="•"/>
            </a:pPr>
            <a:r>
              <a:rPr lang="en-US" sz="2000" b="1">
                <a:latin typeface="Times New Roman"/>
                <a:ea typeface="Times New Roman"/>
                <a:cs typeface="Times New Roman"/>
                <a:sym typeface="Times New Roman"/>
              </a:rPr>
              <a:t>1. Total Participation-</a:t>
            </a:r>
            <a:endParaRPr sz="20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It specifies that each entity in the entity set must compulsorily participate in at least one relationship instance in that relationship set.</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That is why, it is also called as </a:t>
            </a:r>
            <a:r>
              <a:rPr lang="en-US" sz="2000" b="1">
                <a:latin typeface="Times New Roman"/>
                <a:ea typeface="Times New Roman"/>
                <a:cs typeface="Times New Roman"/>
                <a:sym typeface="Times New Roman"/>
              </a:rPr>
              <a:t>mandatory participation.</a:t>
            </a:r>
            <a:endParaRPr sz="20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Total participation is represented using a double line between the entity set and relationship set.</a:t>
            </a:r>
            <a:endParaRPr/>
          </a:p>
          <a:p>
            <a:pPr marL="457200" lvl="0" indent="-228600" algn="l" rtl="0">
              <a:lnSpc>
                <a:spcPct val="90000"/>
              </a:lnSpc>
              <a:spcBef>
                <a:spcPts val="1000"/>
              </a:spcBef>
              <a:spcAft>
                <a:spcPts val="0"/>
              </a:spcAft>
              <a:buClr>
                <a:schemeClr val="dk1"/>
              </a:buClr>
              <a:buSzPts val="1800"/>
              <a:buNone/>
            </a:pPr>
            <a:endParaRPr sz="2000">
              <a:latin typeface="Times New Roman"/>
              <a:ea typeface="Times New Roman"/>
              <a:cs typeface="Times New Roman"/>
              <a:sym typeface="Times New Roman"/>
            </a:endParaRPr>
          </a:p>
          <a:p>
            <a:pPr marL="0" lvl="0" indent="0" algn="l" rtl="0">
              <a:lnSpc>
                <a:spcPct val="90000"/>
              </a:lnSpc>
              <a:spcBef>
                <a:spcPts val="1000"/>
              </a:spcBef>
              <a:spcAft>
                <a:spcPts val="0"/>
              </a:spcAft>
              <a:buSzPts val="1800"/>
              <a:buNone/>
            </a:pPr>
            <a:r>
              <a:rPr lang="en-US" sz="2000">
                <a:latin typeface="Times New Roman"/>
                <a:ea typeface="Times New Roman"/>
                <a:cs typeface="Times New Roman"/>
                <a:sym typeface="Times New Roman"/>
              </a:rPr>
              <a:t> </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Double line between the entity set “Student” and relationship set “Enrolled in” signifies total participation.</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It specifies that each student must be enrolled in at least one course.</a:t>
            </a:r>
            <a:endParaRPr/>
          </a:p>
          <a:p>
            <a:pPr marL="0" lvl="0" indent="0" algn="l" rtl="0">
              <a:lnSpc>
                <a:spcPct val="90000"/>
              </a:lnSpc>
              <a:spcBef>
                <a:spcPts val="1000"/>
              </a:spcBef>
              <a:spcAft>
                <a:spcPts val="0"/>
              </a:spcAft>
              <a:buSzPts val="1800"/>
              <a:buNone/>
            </a:pPr>
            <a:endParaRPr sz="240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pic>
        <p:nvPicPr>
          <p:cNvPr id="362" name="Google Shape;362;p41"/>
          <p:cNvPicPr preferRelativeResize="0"/>
          <p:nvPr/>
        </p:nvPicPr>
        <p:blipFill rotWithShape="1">
          <a:blip r:embed="rId3">
            <a:alphaModFix/>
          </a:blip>
          <a:srcRect/>
          <a:stretch/>
        </p:blipFill>
        <p:spPr>
          <a:xfrm>
            <a:off x="963891" y="4539792"/>
            <a:ext cx="6115050" cy="7810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2"/>
          <p:cNvSpPr txBox="1">
            <a:spLocks noGrp="1"/>
          </p:cNvSpPr>
          <p:nvPr>
            <p:ph type="body" idx="1"/>
          </p:nvPr>
        </p:nvSpPr>
        <p:spPr>
          <a:xfrm>
            <a:off x="381000" y="1197204"/>
            <a:ext cx="8305800" cy="5051196"/>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b="1">
                <a:latin typeface="Times New Roman"/>
                <a:ea typeface="Times New Roman"/>
                <a:cs typeface="Times New Roman"/>
                <a:sym typeface="Times New Roman"/>
              </a:rPr>
              <a:t>2. Partial Participation-</a:t>
            </a:r>
            <a:r>
              <a:rPr lang="en-US" sz="2400">
                <a:latin typeface="Times New Roman"/>
                <a:ea typeface="Times New Roman"/>
                <a:cs typeface="Times New Roman"/>
                <a:sym typeface="Times New Roman"/>
              </a:rPr>
              <a:t> </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It specifies that each entity in the entity set may or may not participate in the relationship instance in that relationship set.</a:t>
            </a:r>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That is why, it is also called as </a:t>
            </a:r>
            <a:r>
              <a:rPr lang="en-US" sz="2000" b="1">
                <a:latin typeface="Times New Roman"/>
                <a:ea typeface="Times New Roman"/>
                <a:cs typeface="Times New Roman"/>
                <a:sym typeface="Times New Roman"/>
              </a:rPr>
              <a:t>optional participation.</a:t>
            </a:r>
            <a:endParaRPr sz="20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Partial participation is represented using a single line between the entity set and relationship set.</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pic>
        <p:nvPicPr>
          <p:cNvPr id="368" name="Google Shape;368;p42"/>
          <p:cNvPicPr preferRelativeResize="0"/>
          <p:nvPr/>
        </p:nvPicPr>
        <p:blipFill rotWithShape="1">
          <a:blip r:embed="rId3">
            <a:alphaModFix/>
          </a:blip>
          <a:srcRect/>
          <a:stretch/>
        </p:blipFill>
        <p:spPr>
          <a:xfrm>
            <a:off x="1116290" y="3722802"/>
            <a:ext cx="6115050" cy="781050"/>
          </a:xfrm>
          <a:prstGeom prst="rect">
            <a:avLst/>
          </a:prstGeom>
          <a:noFill/>
          <a:ln>
            <a:noFill/>
          </a:ln>
        </p:spPr>
      </p:pic>
      <p:sp>
        <p:nvSpPr>
          <p:cNvPr id="369" name="Google Shape;369;p42"/>
          <p:cNvSpPr/>
          <p:nvPr/>
        </p:nvSpPr>
        <p:spPr>
          <a:xfrm>
            <a:off x="457200" y="4724400"/>
            <a:ext cx="7848600" cy="1200329"/>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Single line between the entity set “Course” and relationship set “Enrolled in” signifies partial participation.</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It specifies that there might exist some courses for which no enrollments are made.</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3"/>
          <p:cNvSpPr txBox="1">
            <a:spLocks noGrp="1"/>
          </p:cNvSpPr>
          <p:nvPr>
            <p:ph type="title"/>
          </p:nvPr>
        </p:nvSpPr>
        <p:spPr>
          <a:xfrm>
            <a:off x="317566" y="1175832"/>
            <a:ext cx="7886700" cy="51156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Types of Attributes-</a:t>
            </a:r>
            <a:endParaRPr/>
          </a:p>
        </p:txBody>
      </p:sp>
      <p:sp>
        <p:nvSpPr>
          <p:cNvPr id="375" name="Google Shape;375;p4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Simple attributes </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Composite attributes</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Single valued attributes</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Multi valued attributes</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Derived attributes</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Key attributes</a:t>
            </a:r>
            <a:endParaRPr/>
          </a:p>
          <a:p>
            <a:pPr marL="0" lvl="0" indent="0" algn="l" rtl="0">
              <a:lnSpc>
                <a:spcPct val="90000"/>
              </a:lnSpc>
              <a:spcBef>
                <a:spcPts val="1000"/>
              </a:spcBef>
              <a:spcAft>
                <a:spcPts val="0"/>
              </a:spcAft>
              <a:buSzPts val="18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SzPts val="1800"/>
              <a:buNone/>
            </a:pPr>
            <a:r>
              <a:rPr lang="en-US" sz="2400">
                <a:latin typeface="Times New Roman"/>
                <a:ea typeface="Times New Roman"/>
                <a:cs typeface="Times New Roman"/>
                <a:sym typeface="Times New Roman"/>
              </a:rPr>
              <a:t>                 </a:t>
            </a:r>
            <a:endParaRPr/>
          </a:p>
          <a:p>
            <a:pPr marL="0" lvl="0" indent="0" algn="l" rtl="0">
              <a:lnSpc>
                <a:spcPct val="90000"/>
              </a:lnSpc>
              <a:spcBef>
                <a:spcPts val="1000"/>
              </a:spcBef>
              <a:spcAft>
                <a:spcPts val="0"/>
              </a:spcAft>
              <a:buSzPts val="1800"/>
              <a:buNone/>
            </a:pP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1"/>
          <p:cNvSpPr txBox="1">
            <a:spLocks noGrp="1"/>
          </p:cNvSpPr>
          <p:nvPr>
            <p:ph type="title"/>
          </p:nvPr>
        </p:nvSpPr>
        <p:spPr>
          <a:xfrm>
            <a:off x="317566" y="1175832"/>
            <a:ext cx="7886700" cy="51156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Types of Attributes-</a:t>
            </a:r>
            <a:endParaRPr/>
          </a:p>
        </p:txBody>
      </p:sp>
      <p:sp>
        <p:nvSpPr>
          <p:cNvPr id="381" name="Google Shape;381;p61"/>
          <p:cNvSpPr txBox="1">
            <a:spLocks noGrp="1"/>
          </p:cNvSpPr>
          <p:nvPr>
            <p:ph type="body" idx="1"/>
          </p:nvPr>
        </p:nvSpPr>
        <p:spPr>
          <a:xfrm>
            <a:off x="317566" y="1825624"/>
            <a:ext cx="8552114" cy="4712335"/>
          </a:xfrm>
          <a:prstGeom prst="rect">
            <a:avLst/>
          </a:prstGeom>
          <a:noFill/>
          <a:ln>
            <a:noFill/>
          </a:ln>
        </p:spPr>
        <p:txBody>
          <a:bodyPr spcFirstLastPara="1" wrap="square" lIns="91425" tIns="45700" rIns="91425" bIns="45700" anchor="t" anchorCtr="0">
            <a:normAutofit fontScale="92500" lnSpcReduction="10000"/>
          </a:bodyPr>
          <a:lstStyle/>
          <a:p>
            <a:pPr lvl="0">
              <a:lnSpc>
                <a:spcPct val="100000"/>
              </a:lnSpc>
            </a:pPr>
            <a:r>
              <a:rPr lang="en-US" sz="2400" dirty="0">
                <a:solidFill>
                  <a:srgbClr val="FF0000"/>
                </a:solidFill>
                <a:latin typeface="Times New Roman"/>
                <a:ea typeface="Times New Roman"/>
                <a:cs typeface="Times New Roman"/>
                <a:sym typeface="Times New Roman"/>
              </a:rPr>
              <a:t>Simple attributes </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endParaRPr>
          </a:p>
          <a:p>
            <a:pPr marL="114300" lvl="0" indent="0">
              <a:lnSpc>
                <a:spcPct val="100000"/>
              </a:lnSpc>
              <a:buNone/>
            </a:pPr>
            <a:r>
              <a:rPr lang="en-US" sz="2400" dirty="0" smtClean="0">
                <a:latin typeface="Times New Roman"/>
                <a:ea typeface="Times New Roman"/>
                <a:cs typeface="Times New Roman"/>
                <a:sym typeface="Times New Roman"/>
              </a:rPr>
              <a:t>	Cannot </a:t>
            </a:r>
            <a:r>
              <a:rPr lang="en-US" sz="2400" dirty="0">
                <a:latin typeface="Times New Roman"/>
                <a:ea typeface="Times New Roman"/>
                <a:cs typeface="Times New Roman"/>
                <a:sym typeface="Times New Roman"/>
              </a:rPr>
              <a:t>be divided into smaller parts. It stores a single piece of </a:t>
            </a:r>
            <a:r>
              <a:rPr lang="en-US" sz="2400" dirty="0" smtClean="0">
                <a:latin typeface="Times New Roman"/>
                <a:ea typeface="Times New Roman"/>
                <a:cs typeface="Times New Roman"/>
                <a:sym typeface="Times New Roman"/>
              </a:rPr>
              <a:t>	information</a:t>
            </a:r>
            <a:r>
              <a:rPr lang="en-US" sz="2400" dirty="0">
                <a:latin typeface="Times New Roman"/>
                <a:ea typeface="Times New Roman"/>
                <a:cs typeface="Times New Roman"/>
                <a:sym typeface="Times New Roman"/>
              </a:rPr>
              <a:t>. </a:t>
            </a:r>
            <a:endParaRPr sz="2400" dirty="0">
              <a:latin typeface="Times New Roman"/>
              <a:ea typeface="Times New Roman"/>
              <a:cs typeface="Times New Roman"/>
            </a:endParaRPr>
          </a:p>
          <a:p>
            <a:pPr marL="114300" lvl="0" indent="0">
              <a:lnSpc>
                <a:spcPct val="100000"/>
              </a:lnSpc>
              <a:buNone/>
            </a:pPr>
            <a:r>
              <a:rPr lang="en-US" sz="2400" dirty="0" smtClean="0">
                <a:latin typeface="Times New Roman"/>
                <a:ea typeface="Times New Roman"/>
                <a:cs typeface="Times New Roman"/>
                <a:sym typeface="Times New Roman"/>
              </a:rPr>
              <a:t>	Example</a:t>
            </a:r>
            <a:r>
              <a:rPr lang="en-US" sz="2400" dirty="0">
                <a:latin typeface="Times New Roman"/>
                <a:ea typeface="Times New Roman"/>
                <a:cs typeface="Times New Roman"/>
                <a:sym typeface="Times New Roman"/>
              </a:rPr>
              <a:t>: Age, Gender, Salary.</a:t>
            </a:r>
            <a:endParaRPr sz="2400" dirty="0">
              <a:latin typeface="Times New Roman"/>
              <a:ea typeface="Times New Roman"/>
              <a:cs typeface="Times New Roman"/>
              <a:sym typeface="Times New Roman"/>
            </a:endParaRPr>
          </a:p>
          <a:p>
            <a:pPr lvl="0">
              <a:lnSpc>
                <a:spcPct val="100000"/>
              </a:lnSpc>
            </a:pPr>
            <a:r>
              <a:rPr lang="en-US" sz="2400" dirty="0">
                <a:solidFill>
                  <a:srgbClr val="FF0000"/>
                </a:solidFill>
                <a:latin typeface="Times New Roman"/>
                <a:ea typeface="Times New Roman"/>
                <a:cs typeface="Times New Roman"/>
                <a:sym typeface="Times New Roman"/>
              </a:rPr>
              <a:t>Composite attributes :</a:t>
            </a:r>
            <a:endParaRPr sz="2400" dirty="0">
              <a:solidFill>
                <a:srgbClr val="FF0000"/>
              </a:solidFill>
              <a:latin typeface="Times New Roman"/>
              <a:ea typeface="Times New Roman"/>
              <a:cs typeface="Times New Roman"/>
            </a:endParaRPr>
          </a:p>
          <a:p>
            <a:pPr marL="114300" lvl="0" indent="0">
              <a:lnSpc>
                <a:spcPct val="100000"/>
              </a:lnSpc>
              <a:buNone/>
            </a:pPr>
            <a:r>
              <a:rPr lang="en-US" sz="2400" dirty="0" smtClean="0">
                <a:latin typeface="Times New Roman"/>
                <a:ea typeface="Times New Roman"/>
                <a:cs typeface="Times New Roman"/>
                <a:sym typeface="Times New Roman"/>
              </a:rPr>
              <a:t>	Can </a:t>
            </a:r>
            <a:r>
              <a:rPr lang="en-US" sz="2400" dirty="0">
                <a:latin typeface="Times New Roman"/>
                <a:ea typeface="Times New Roman"/>
                <a:cs typeface="Times New Roman"/>
                <a:sym typeface="Times New Roman"/>
              </a:rPr>
              <a:t>be divided into smaller sub-attributes. </a:t>
            </a:r>
            <a:endParaRPr sz="2400" dirty="0">
              <a:latin typeface="Times New Roman"/>
              <a:ea typeface="Times New Roman"/>
              <a:cs typeface="Times New Roman"/>
            </a:endParaRPr>
          </a:p>
          <a:p>
            <a:pPr marL="114300" lvl="0" indent="0">
              <a:lnSpc>
                <a:spcPct val="100000"/>
              </a:lnSpc>
              <a:buNone/>
            </a:pPr>
            <a:r>
              <a:rPr lang="en-US" sz="2400" dirty="0" smtClean="0">
                <a:latin typeface="Times New Roman"/>
                <a:ea typeface="Times New Roman"/>
                <a:cs typeface="Times New Roman"/>
                <a:sym typeface="Times New Roman"/>
              </a:rPr>
              <a:t>	Example</a:t>
            </a:r>
            <a:r>
              <a:rPr lang="en-US" sz="2400" dirty="0">
                <a:latin typeface="Times New Roman"/>
                <a:ea typeface="Times New Roman"/>
                <a:cs typeface="Times New Roman"/>
                <a:sym typeface="Times New Roman"/>
              </a:rPr>
              <a:t>: Name → First Name, Middle Name, Last Name. Address → House No., Street, City, State, PIN Code.</a:t>
            </a:r>
            <a:endParaRPr sz="2400" dirty="0">
              <a:latin typeface="Times New Roman"/>
              <a:ea typeface="Times New Roman"/>
              <a:cs typeface="Times New Roman"/>
              <a:sym typeface="Times New Roman"/>
            </a:endParaRPr>
          </a:p>
          <a:p>
            <a:pPr lvl="0">
              <a:lnSpc>
                <a:spcPct val="100000"/>
              </a:lnSpc>
            </a:pPr>
            <a:r>
              <a:rPr lang="en-US" sz="2400" dirty="0">
                <a:solidFill>
                  <a:srgbClr val="FF0000"/>
                </a:solidFill>
                <a:latin typeface="Times New Roman"/>
                <a:ea typeface="Times New Roman"/>
                <a:cs typeface="Times New Roman"/>
                <a:sym typeface="Times New Roman"/>
              </a:rPr>
              <a:t>Single valued attributes </a:t>
            </a:r>
            <a:r>
              <a:rPr lang="en-US" sz="2400" dirty="0">
                <a:latin typeface="Times New Roman"/>
                <a:ea typeface="Times New Roman"/>
                <a:cs typeface="Times New Roman"/>
                <a:sym typeface="Times New Roman"/>
              </a:rPr>
              <a:t>: Has only one value for each entity. </a:t>
            </a:r>
            <a:endParaRPr sz="2400" dirty="0">
              <a:latin typeface="Times New Roman"/>
              <a:ea typeface="Times New Roman"/>
              <a:cs typeface="Times New Roman"/>
            </a:endParaRPr>
          </a:p>
          <a:p>
            <a:pPr marL="114300" lvl="0" indent="0">
              <a:lnSpc>
                <a:spcPct val="100000"/>
              </a:lnSpc>
              <a:buNone/>
            </a:pPr>
            <a:r>
              <a:rPr lang="en-US" sz="2400" dirty="0" smtClean="0">
                <a:latin typeface="Times New Roman"/>
                <a:ea typeface="Times New Roman"/>
                <a:cs typeface="Times New Roman"/>
                <a:sym typeface="Times New Roman"/>
              </a:rPr>
              <a:t>	Example</a:t>
            </a:r>
            <a:r>
              <a:rPr lang="en-US" sz="2400" dirty="0">
                <a:latin typeface="Times New Roman"/>
                <a:ea typeface="Times New Roman"/>
                <a:cs typeface="Times New Roman"/>
                <a:sym typeface="Times New Roman"/>
              </a:rPr>
              <a:t>: Roll Number, Date of Birth, </a:t>
            </a:r>
            <a:r>
              <a:rPr lang="en-US" sz="2400" dirty="0" err="1">
                <a:latin typeface="Times New Roman"/>
                <a:ea typeface="Times New Roman"/>
                <a:cs typeface="Times New Roman"/>
                <a:sym typeface="Times New Roman"/>
              </a:rPr>
              <a:t>Aadhaar</a:t>
            </a:r>
            <a:r>
              <a:rPr lang="en-US" sz="2400" dirty="0">
                <a:latin typeface="Times New Roman"/>
                <a:ea typeface="Times New Roman"/>
                <a:cs typeface="Times New Roman"/>
                <a:sym typeface="Times New Roman"/>
              </a:rPr>
              <a:t> Number.</a:t>
            </a:r>
            <a:endParaRPr sz="2400" dirty="0">
              <a:latin typeface="Times New Roman"/>
              <a:ea typeface="Times New Roman"/>
              <a:cs typeface="Times New Roman"/>
              <a:sym typeface="Times New Roman"/>
            </a:endParaRPr>
          </a:p>
          <a:p>
            <a:pPr marL="114300" lvl="0" indent="0">
              <a:lnSpc>
                <a:spcPct val="100000"/>
              </a:lnSpc>
              <a:buNone/>
            </a:pPr>
            <a:r>
              <a:rPr lang="en-US" sz="2400" dirty="0">
                <a:latin typeface="Times New Roman"/>
                <a:ea typeface="Times New Roman"/>
                <a:cs typeface="Times New Roman"/>
                <a:sym typeface="Times New Roman"/>
              </a:rPr>
              <a:t>                 </a:t>
            </a:r>
            <a:endParaRPr sz="2400" dirty="0">
              <a:latin typeface="Times New Roman"/>
              <a:ea typeface="Times New Roman"/>
              <a:cs typeface="Times New Roman"/>
            </a:endParaRPr>
          </a:p>
          <a:p>
            <a:pPr marL="0" lvl="0" indent="0" algn="l" rtl="0">
              <a:lnSpc>
                <a:spcPct val="90000"/>
              </a:lnSpc>
              <a:spcBef>
                <a:spcPts val="1000"/>
              </a:spcBef>
              <a:spcAft>
                <a:spcPts val="0"/>
              </a:spcAft>
              <a:buSzPts val="1800"/>
              <a:buNone/>
            </a:pPr>
            <a:endParaRPr sz="24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2"/>
          <p:cNvSpPr txBox="1">
            <a:spLocks noGrp="1"/>
          </p:cNvSpPr>
          <p:nvPr>
            <p:ph type="title"/>
          </p:nvPr>
        </p:nvSpPr>
        <p:spPr>
          <a:xfrm>
            <a:off x="317566" y="1175832"/>
            <a:ext cx="7886700" cy="51156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dirty="0">
                <a:solidFill>
                  <a:srgbClr val="FF0000"/>
                </a:solidFill>
                <a:latin typeface="Times New Roman"/>
                <a:ea typeface="Times New Roman"/>
                <a:cs typeface="Times New Roman"/>
                <a:sym typeface="Times New Roman"/>
              </a:rPr>
              <a:t>Types of Attributes-</a:t>
            </a:r>
            <a:endParaRPr dirty="0"/>
          </a:p>
        </p:txBody>
      </p:sp>
      <p:sp>
        <p:nvSpPr>
          <p:cNvPr id="387" name="Google Shape;387;p62"/>
          <p:cNvSpPr txBox="1">
            <a:spLocks noGrp="1"/>
          </p:cNvSpPr>
          <p:nvPr>
            <p:ph type="body" idx="1"/>
          </p:nvPr>
        </p:nvSpPr>
        <p:spPr>
          <a:xfrm>
            <a:off x="317566" y="1825624"/>
            <a:ext cx="8552114" cy="4712335"/>
          </a:xfrm>
          <a:prstGeom prst="rect">
            <a:avLst/>
          </a:prstGeom>
          <a:noFill/>
          <a:ln>
            <a:noFill/>
          </a:ln>
        </p:spPr>
        <p:txBody>
          <a:bodyPr spcFirstLastPara="1" wrap="square" lIns="91425" tIns="45700" rIns="91425" bIns="45700" anchor="t" anchorCtr="0">
            <a:normAutofit fontScale="77500" lnSpcReduction="20000"/>
          </a:bodyPr>
          <a:lstStyle/>
          <a:p>
            <a:pPr>
              <a:lnSpc>
                <a:spcPct val="110000"/>
              </a:lnSpc>
            </a:pPr>
            <a:r>
              <a:rPr lang="en-US" sz="3100" dirty="0">
                <a:solidFill>
                  <a:srgbClr val="FF0000"/>
                </a:solidFill>
                <a:latin typeface="Times New Roman"/>
                <a:ea typeface="Times New Roman"/>
                <a:cs typeface="Times New Roman"/>
                <a:sym typeface="Times New Roman"/>
              </a:rPr>
              <a:t>Multi valued attributes</a:t>
            </a:r>
            <a:r>
              <a:rPr lang="en-US" sz="3100" dirty="0">
                <a:latin typeface="Times New Roman"/>
                <a:ea typeface="Times New Roman"/>
                <a:cs typeface="Times New Roman"/>
                <a:sym typeface="Times New Roman"/>
              </a:rPr>
              <a:t>: </a:t>
            </a:r>
            <a:r>
              <a:rPr lang="en-US" sz="3100" dirty="0">
                <a:latin typeface="Times New Roman"/>
                <a:ea typeface="Times New Roman"/>
                <a:cs typeface="Times New Roman"/>
              </a:rPr>
              <a:t>Can have multiple values for a single entity. </a:t>
            </a:r>
            <a:endParaRPr sz="3100" dirty="0">
              <a:latin typeface="Times New Roman"/>
              <a:ea typeface="Times New Roman"/>
              <a:cs typeface="Times New Roman"/>
            </a:endParaRPr>
          </a:p>
          <a:p>
            <a:pPr>
              <a:lnSpc>
                <a:spcPct val="110000"/>
              </a:lnSpc>
            </a:pPr>
            <a:r>
              <a:rPr lang="en-US" sz="3100" dirty="0">
                <a:latin typeface="Times New Roman"/>
                <a:ea typeface="Times New Roman"/>
                <a:cs typeface="Times New Roman"/>
              </a:rPr>
              <a:t>Example: Phone Numbers, Email IDs, Skills.</a:t>
            </a:r>
            <a:endParaRPr sz="3100" dirty="0">
              <a:latin typeface="Times New Roman"/>
              <a:ea typeface="Times New Roman"/>
              <a:cs typeface="Times New Roman"/>
            </a:endParaRPr>
          </a:p>
          <a:p>
            <a:pPr>
              <a:lnSpc>
                <a:spcPct val="110000"/>
              </a:lnSpc>
            </a:pPr>
            <a:r>
              <a:rPr lang="en-US" sz="3100" dirty="0">
                <a:solidFill>
                  <a:srgbClr val="FF0000"/>
                </a:solidFill>
                <a:latin typeface="Times New Roman"/>
                <a:ea typeface="Times New Roman"/>
                <a:cs typeface="Times New Roman"/>
                <a:sym typeface="Times New Roman"/>
              </a:rPr>
              <a:t>Derived attributes</a:t>
            </a:r>
            <a:r>
              <a:rPr lang="en-US" sz="3100" dirty="0">
                <a:latin typeface="Times New Roman"/>
                <a:ea typeface="Times New Roman"/>
                <a:cs typeface="Times New Roman"/>
                <a:sym typeface="Times New Roman"/>
              </a:rPr>
              <a:t>: </a:t>
            </a:r>
            <a:r>
              <a:rPr lang="en-US" sz="3100" dirty="0">
                <a:latin typeface="Times New Roman"/>
                <a:ea typeface="Times New Roman"/>
                <a:cs typeface="Times New Roman"/>
              </a:rPr>
              <a:t>Its value is calculated from another attribute. </a:t>
            </a:r>
            <a:endParaRPr sz="3100" dirty="0">
              <a:latin typeface="Times New Roman"/>
              <a:ea typeface="Times New Roman"/>
              <a:cs typeface="Times New Roman"/>
            </a:endParaRPr>
          </a:p>
          <a:p>
            <a:pPr>
              <a:lnSpc>
                <a:spcPct val="110000"/>
              </a:lnSpc>
            </a:pPr>
            <a:r>
              <a:rPr lang="en-US" sz="3100" dirty="0">
                <a:latin typeface="Times New Roman"/>
                <a:ea typeface="Times New Roman"/>
                <a:cs typeface="Times New Roman"/>
              </a:rPr>
              <a:t>It is usually not stored in the database. </a:t>
            </a:r>
            <a:endParaRPr sz="3100" dirty="0">
              <a:latin typeface="Times New Roman"/>
              <a:ea typeface="Times New Roman"/>
              <a:cs typeface="Times New Roman"/>
            </a:endParaRPr>
          </a:p>
          <a:p>
            <a:pPr>
              <a:lnSpc>
                <a:spcPct val="110000"/>
              </a:lnSpc>
            </a:pPr>
            <a:r>
              <a:rPr lang="en-US" sz="3100" dirty="0">
                <a:latin typeface="Times New Roman"/>
                <a:ea typeface="Times New Roman"/>
                <a:cs typeface="Times New Roman"/>
              </a:rPr>
              <a:t>Example: Age is derived from Date of Birth.</a:t>
            </a:r>
            <a:endParaRPr sz="3100" dirty="0">
              <a:latin typeface="Times New Roman"/>
              <a:ea typeface="Times New Roman"/>
              <a:cs typeface="Times New Roman"/>
            </a:endParaRPr>
          </a:p>
          <a:p>
            <a:pPr>
              <a:lnSpc>
                <a:spcPct val="110000"/>
              </a:lnSpc>
            </a:pPr>
            <a:r>
              <a:rPr lang="en-US" sz="3100" dirty="0">
                <a:solidFill>
                  <a:srgbClr val="FF0000"/>
                </a:solidFill>
                <a:latin typeface="Times New Roman"/>
                <a:ea typeface="Times New Roman"/>
                <a:cs typeface="Times New Roman"/>
                <a:sym typeface="Times New Roman"/>
              </a:rPr>
              <a:t>Key attributes: </a:t>
            </a:r>
            <a:r>
              <a:rPr lang="en-US" sz="3100" dirty="0">
                <a:latin typeface="Times New Roman"/>
                <a:ea typeface="Times New Roman"/>
                <a:cs typeface="Times New Roman"/>
              </a:rPr>
              <a:t>Uniquely identifies each record in an entity. No two records can have the same key value. </a:t>
            </a:r>
            <a:endParaRPr sz="3100" dirty="0">
              <a:latin typeface="Times New Roman"/>
              <a:ea typeface="Times New Roman"/>
              <a:cs typeface="Times New Roman"/>
            </a:endParaRPr>
          </a:p>
          <a:p>
            <a:pPr>
              <a:lnSpc>
                <a:spcPct val="110000"/>
              </a:lnSpc>
            </a:pPr>
            <a:r>
              <a:rPr lang="en-US" sz="3100" dirty="0">
                <a:latin typeface="Times New Roman"/>
                <a:ea typeface="Times New Roman"/>
                <a:cs typeface="Times New Roman"/>
              </a:rPr>
              <a:t>Example: Student ID, Employee ID, Roll Number</a:t>
            </a:r>
            <a:r>
              <a:rPr lang="en-US" dirty="0">
                <a:highlight>
                  <a:srgbClr val="FFFF00"/>
                </a:highlight>
              </a:rPr>
              <a:t>.</a:t>
            </a:r>
            <a:endParaRPr b="1" dirty="0">
              <a:highlight>
                <a:srgbClr val="FFFF00"/>
              </a:highlight>
            </a:endParaRPr>
          </a:p>
          <a:p>
            <a:pPr marL="0" lvl="0" indent="0" algn="l" rtl="0">
              <a:lnSpc>
                <a:spcPct val="90000"/>
              </a:lnSpc>
              <a:spcBef>
                <a:spcPts val="1000"/>
              </a:spcBef>
              <a:spcAft>
                <a:spcPts val="0"/>
              </a:spcAft>
              <a:buSzPct val="81081"/>
              <a:buNone/>
            </a:pPr>
            <a:endParaRPr sz="2400" dirty="0">
              <a:latin typeface="Times New Roman"/>
              <a:ea typeface="Times New Roman"/>
              <a:cs typeface="Times New Roman"/>
              <a:sym typeface="Times New Roman"/>
            </a:endParaRPr>
          </a:p>
          <a:p>
            <a:pPr marL="0" lvl="0" indent="0" algn="l" rtl="0">
              <a:lnSpc>
                <a:spcPct val="90000"/>
              </a:lnSpc>
              <a:spcBef>
                <a:spcPts val="1000"/>
              </a:spcBef>
              <a:spcAft>
                <a:spcPts val="0"/>
              </a:spcAft>
              <a:buSzPct val="81081"/>
              <a:buNone/>
            </a:pPr>
            <a:r>
              <a:rPr lang="en-US" sz="2400" dirty="0">
                <a:latin typeface="Times New Roman"/>
                <a:ea typeface="Times New Roman"/>
                <a:cs typeface="Times New Roman"/>
                <a:sym typeface="Times New Roman"/>
              </a:rPr>
              <a:t>                 </a:t>
            </a:r>
            <a:endParaRPr dirty="0"/>
          </a:p>
          <a:p>
            <a:pPr marL="0" lvl="0" indent="0" algn="l" rtl="0">
              <a:lnSpc>
                <a:spcPct val="90000"/>
              </a:lnSpc>
              <a:spcBef>
                <a:spcPts val="1000"/>
              </a:spcBef>
              <a:spcAft>
                <a:spcPts val="0"/>
              </a:spcAft>
              <a:buSzPct val="81081"/>
              <a:buNone/>
            </a:pPr>
            <a:endParaRPr sz="24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6"/>
          <p:cNvSpPr txBox="1">
            <a:spLocks noGrp="1"/>
          </p:cNvSpPr>
          <p:nvPr>
            <p:ph type="title"/>
          </p:nvPr>
        </p:nvSpPr>
        <p:spPr>
          <a:xfrm>
            <a:off x="543809" y="970921"/>
            <a:ext cx="7886700" cy="631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Relational Model</a:t>
            </a:r>
            <a:endParaRPr sz="2400">
              <a:latin typeface="Times New Roman"/>
              <a:ea typeface="Times New Roman"/>
              <a:cs typeface="Times New Roman"/>
              <a:sym typeface="Times New Roman"/>
            </a:endParaRPr>
          </a:p>
        </p:txBody>
      </p:sp>
      <p:sp>
        <p:nvSpPr>
          <p:cNvPr id="393" name="Google Shape;393;p46"/>
          <p:cNvSpPr txBox="1">
            <a:spLocks noGrp="1"/>
          </p:cNvSpPr>
          <p:nvPr>
            <p:ph type="body" idx="1"/>
          </p:nvPr>
        </p:nvSpPr>
        <p:spPr>
          <a:xfrm>
            <a:off x="338579" y="1602556"/>
            <a:ext cx="7772400" cy="4112443"/>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Relational Model is the most widely used model. </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In this model, the data is maintained in the form of a two-dimensional table. </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All the information is stored in the form of row and columns. The basic structure of a relational model is tables.</a:t>
            </a:r>
            <a:endParaRPr dirty="0"/>
          </a:p>
        </p:txBody>
      </p:sp>
      <p:pic>
        <p:nvPicPr>
          <p:cNvPr id="394" name="Google Shape;394;p46" descr="https://s3.ap-south-1.amazonaws.com/afteracademy-server-uploads/what-is-data-model-in-dbms-and-what-are-its-types-relational-model-50808b24ef520d16.jpg"/>
          <p:cNvPicPr preferRelativeResize="0"/>
          <p:nvPr/>
        </p:nvPicPr>
        <p:blipFill rotWithShape="1">
          <a:blip r:embed="rId3">
            <a:alphaModFix/>
          </a:blip>
          <a:srcRect/>
          <a:stretch/>
        </p:blipFill>
        <p:spPr>
          <a:xfrm>
            <a:off x="883763" y="3982080"/>
            <a:ext cx="6487998" cy="233871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7"/>
          <p:cNvSpPr txBox="1">
            <a:spLocks noGrp="1"/>
          </p:cNvSpPr>
          <p:nvPr>
            <p:ph type="title"/>
          </p:nvPr>
        </p:nvSpPr>
        <p:spPr>
          <a:xfrm>
            <a:off x="572678" y="1068371"/>
            <a:ext cx="7772400" cy="7318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ER to Table conversion</a:t>
            </a:r>
            <a:endParaRPr/>
          </a:p>
        </p:txBody>
      </p:sp>
      <p:sp>
        <p:nvSpPr>
          <p:cNvPr id="400" name="Google Shape;400;p47"/>
          <p:cNvSpPr txBox="1">
            <a:spLocks noGrp="1"/>
          </p:cNvSpPr>
          <p:nvPr>
            <p:ph type="body" idx="1"/>
          </p:nvPr>
        </p:nvSpPr>
        <p:spPr>
          <a:xfrm>
            <a:off x="247096" y="1800209"/>
            <a:ext cx="8229600" cy="4380322"/>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Entity type becomes a table.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All single-valued attribute becomes a column for the table.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A key attribute of the entity type represented by the primary key.</a:t>
            </a:r>
            <a:endParaRPr dirty="0"/>
          </a:p>
          <a:p>
            <a:pPr marL="457200" lvl="0" indent="-342900" algn="l" rtl="0">
              <a:lnSpc>
                <a:spcPct val="90000"/>
              </a:lnSpc>
              <a:spcBef>
                <a:spcPts val="1000"/>
              </a:spcBef>
              <a:spcAft>
                <a:spcPts val="0"/>
              </a:spcAft>
              <a:buClr>
                <a:schemeClr val="dk1"/>
              </a:buClr>
              <a:buSzPts val="1800"/>
              <a:buChar char="•"/>
            </a:pPr>
            <a:r>
              <a:rPr lang="en-US" dirty="0"/>
              <a:t> </a:t>
            </a:r>
            <a:r>
              <a:rPr lang="en-US" sz="2400" dirty="0">
                <a:latin typeface="Times New Roman"/>
                <a:ea typeface="Times New Roman"/>
                <a:cs typeface="Times New Roman"/>
                <a:sym typeface="Times New Roman"/>
              </a:rPr>
              <a:t>Composite attribute represented by components.(student address is a composite attribute, It contains CITY, PIN, DOOR#, STREET, and STATE, In the STUDENT table, these attributes can merge as an individual column.)</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Derived attributes are not considered in the table.</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pic>
        <p:nvPicPr>
          <p:cNvPr id="406" name="Google Shape;406;p48"/>
          <p:cNvPicPr preferRelativeResize="0"/>
          <p:nvPr/>
        </p:nvPicPr>
        <p:blipFill rotWithShape="1">
          <a:blip r:embed="rId3">
            <a:alphaModFix/>
          </a:blip>
          <a:srcRect/>
          <a:stretch/>
        </p:blipFill>
        <p:spPr>
          <a:xfrm>
            <a:off x="2324100" y="1514649"/>
            <a:ext cx="4436918" cy="443691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3"/>
          <p:cNvSpPr txBox="1">
            <a:spLocks noGrp="1"/>
          </p:cNvSpPr>
          <p:nvPr>
            <p:ph type="title"/>
          </p:nvPr>
        </p:nvSpPr>
        <p:spPr>
          <a:xfrm>
            <a:off x="628650" y="1337310"/>
            <a:ext cx="7886700" cy="35337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74074"/>
              <a:buNone/>
            </a:pPr>
            <a:r>
              <a:rPr lang="en-US" sz="2700" b="1">
                <a:solidFill>
                  <a:srgbClr val="FF0000"/>
                </a:solidFill>
                <a:latin typeface="Times New Roman"/>
                <a:ea typeface="Times New Roman"/>
                <a:cs typeface="Times New Roman"/>
                <a:sym typeface="Times New Roman"/>
              </a:rPr>
              <a:t>Relationship Set to Table conversion</a:t>
            </a:r>
            <a:r>
              <a:rPr lang="en-US" b="1"/>
              <a:t/>
            </a:r>
            <a:br>
              <a:rPr lang="en-US" b="1"/>
            </a:br>
            <a:endParaRPr/>
          </a:p>
        </p:txBody>
      </p:sp>
      <p:sp>
        <p:nvSpPr>
          <p:cNvPr id="412" name="Google Shape;412;p63"/>
          <p:cNvSpPr txBox="1">
            <a:spLocks noGrp="1"/>
          </p:cNvSpPr>
          <p:nvPr>
            <p:ph type="body" idx="1"/>
          </p:nvPr>
        </p:nvSpPr>
        <p:spPr>
          <a:xfrm>
            <a:off x="194310" y="1520190"/>
            <a:ext cx="8755380" cy="5097780"/>
          </a:xfrm>
          <a:prstGeom prst="rect">
            <a:avLst/>
          </a:prstGeom>
          <a:noFill/>
          <a:ln>
            <a:noFill/>
          </a:ln>
        </p:spPr>
        <p:txBody>
          <a:bodyPr spcFirstLastPara="1" wrap="square" lIns="91425" tIns="45700" rIns="91425" bIns="45700" anchor="t" anchorCtr="0">
            <a:normAutofit/>
          </a:bodyPr>
          <a:lstStyle/>
          <a:p>
            <a:r>
              <a:rPr lang="en-US" sz="2400" dirty="0">
                <a:latin typeface="Times New Roman"/>
                <a:ea typeface="Times New Roman"/>
                <a:cs typeface="Times New Roman"/>
                <a:sym typeface="Times New Roman"/>
              </a:rPr>
              <a:t>While converting the relationship set to a table, the primary attributes of the two entity sets becomes the table attributes and if the relationship set has any attribute that also becomes the attribute of the table.</a:t>
            </a:r>
            <a:endParaRPr sz="2400" dirty="0">
              <a:latin typeface="Times New Roman"/>
              <a:ea typeface="Times New Roman"/>
              <a:cs typeface="Times New Roman"/>
            </a:endParaRPr>
          </a:p>
          <a:p>
            <a:r>
              <a:rPr lang="en-US" sz="2400" dirty="0">
                <a:latin typeface="Times New Roman"/>
                <a:ea typeface="Times New Roman"/>
                <a:cs typeface="Times New Roman"/>
                <a:sym typeface="Times New Roman"/>
              </a:rPr>
              <a:t>For example :we have two entity sets Employee and Department. These entity sets are associated to each other using the Works relationship set. To convert this relationship set Works to the table, we take the primary attributes of each entity set, these are </a:t>
            </a:r>
            <a:r>
              <a:rPr lang="en-US" sz="2400" dirty="0" err="1">
                <a:latin typeface="Times New Roman"/>
                <a:ea typeface="Times New Roman"/>
                <a:cs typeface="Times New Roman"/>
                <a:sym typeface="Times New Roman"/>
              </a:rPr>
              <a:t>Emp_Id</a:t>
            </a:r>
            <a:r>
              <a:rPr lang="en-US" sz="2400" dirty="0">
                <a:latin typeface="Times New Roman"/>
                <a:ea typeface="Times New Roman"/>
                <a:cs typeface="Times New Roman"/>
                <a:sym typeface="Times New Roman"/>
              </a:rPr>
              <a:t> and </a:t>
            </a:r>
            <a:r>
              <a:rPr lang="en-US" sz="2400" dirty="0" err="1">
                <a:latin typeface="Times New Roman"/>
                <a:ea typeface="Times New Roman"/>
                <a:cs typeface="Times New Roman"/>
                <a:sym typeface="Times New Roman"/>
              </a:rPr>
              <a:t>Dept_Id</a:t>
            </a:r>
            <a:r>
              <a:rPr lang="en-US" sz="2400" dirty="0">
                <a:latin typeface="Times New Roman"/>
                <a:ea typeface="Times New Roman"/>
                <a:cs typeface="Times New Roman"/>
                <a:sym typeface="Times New Roman"/>
              </a:rPr>
              <a:t> and all the attributes of the relationship set and form a table.</a:t>
            </a:r>
            <a:endParaRPr sz="2400" dirty="0">
              <a:latin typeface="Times New Roman"/>
              <a:ea typeface="Times New Roman"/>
              <a:cs typeface="Times New Roman"/>
            </a:endParaRPr>
          </a:p>
        </p:txBody>
      </p:sp>
      <p:sp>
        <p:nvSpPr>
          <p:cNvPr id="413" name="Google Shape;413;p6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6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pic>
        <p:nvPicPr>
          <p:cNvPr id="419" name="Google Shape;419;p64"/>
          <p:cNvPicPr preferRelativeResize="0"/>
          <p:nvPr/>
        </p:nvPicPr>
        <p:blipFill rotWithShape="1">
          <a:blip r:embed="rId3">
            <a:alphaModFix/>
          </a:blip>
          <a:srcRect/>
          <a:stretch/>
        </p:blipFill>
        <p:spPr>
          <a:xfrm>
            <a:off x="666399" y="1255269"/>
            <a:ext cx="7163151" cy="48961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6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pic>
        <p:nvPicPr>
          <p:cNvPr id="425" name="Google Shape;425;p65"/>
          <p:cNvPicPr preferRelativeResize="0"/>
          <p:nvPr/>
        </p:nvPicPr>
        <p:blipFill rotWithShape="1">
          <a:blip r:embed="rId3">
            <a:alphaModFix/>
          </a:blip>
          <a:srcRect/>
          <a:stretch/>
        </p:blipFill>
        <p:spPr>
          <a:xfrm>
            <a:off x="757237" y="1465314"/>
            <a:ext cx="7629525" cy="4438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pic>
        <p:nvPicPr>
          <p:cNvPr id="431" name="Google Shape;431;p66"/>
          <p:cNvPicPr preferRelativeResize="0"/>
          <p:nvPr/>
        </p:nvPicPr>
        <p:blipFill rotWithShape="1">
          <a:blip r:embed="rId3">
            <a:alphaModFix/>
          </a:blip>
          <a:srcRect/>
          <a:stretch/>
        </p:blipFill>
        <p:spPr>
          <a:xfrm>
            <a:off x="140586" y="487425"/>
            <a:ext cx="8862828" cy="5883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grpSp>
        <p:nvGrpSpPr>
          <p:cNvPr id="437" name="Google Shape;437;p49"/>
          <p:cNvGrpSpPr/>
          <p:nvPr/>
        </p:nvGrpSpPr>
        <p:grpSpPr>
          <a:xfrm>
            <a:off x="849840" y="1500642"/>
            <a:ext cx="7617058" cy="3474402"/>
            <a:chOff x="807048" y="1208222"/>
            <a:chExt cx="6063778" cy="3474402"/>
          </a:xfrm>
        </p:grpSpPr>
        <p:sp>
          <p:nvSpPr>
            <p:cNvPr id="438" name="Google Shape;438;p49"/>
            <p:cNvSpPr/>
            <p:nvPr/>
          </p:nvSpPr>
          <p:spPr>
            <a:xfrm>
              <a:off x="826098" y="1227272"/>
              <a:ext cx="5657838" cy="219074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49"/>
            <p:cNvSpPr/>
            <p:nvPr/>
          </p:nvSpPr>
          <p:spPr>
            <a:xfrm>
              <a:off x="807048" y="1208222"/>
              <a:ext cx="5695950" cy="2228850"/>
            </a:xfrm>
            <a:custGeom>
              <a:avLst/>
              <a:gdLst/>
              <a:ahLst/>
              <a:cxnLst/>
              <a:rect l="l" t="t" r="r" b="b"/>
              <a:pathLst>
                <a:path w="5695950" h="2228850" extrusionOk="0">
                  <a:moveTo>
                    <a:pt x="0" y="0"/>
                  </a:moveTo>
                  <a:lnTo>
                    <a:pt x="5695938" y="0"/>
                  </a:lnTo>
                  <a:lnTo>
                    <a:pt x="5695938" y="2228845"/>
                  </a:lnTo>
                  <a:lnTo>
                    <a:pt x="0" y="2228845"/>
                  </a:lnTo>
                  <a:lnTo>
                    <a:pt x="0" y="0"/>
                  </a:lnTo>
                  <a:close/>
                </a:path>
              </a:pathLst>
            </a:custGeom>
            <a:noFill/>
            <a:ln w="380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49"/>
            <p:cNvSpPr/>
            <p:nvPr/>
          </p:nvSpPr>
          <p:spPr>
            <a:xfrm>
              <a:off x="5089016" y="3672339"/>
              <a:ext cx="1781810" cy="1010285"/>
            </a:xfrm>
            <a:custGeom>
              <a:avLst/>
              <a:gdLst/>
              <a:ahLst/>
              <a:cxnLst/>
              <a:rect l="l" t="t" r="r" b="b"/>
              <a:pathLst>
                <a:path w="1781809" h="1010285" extrusionOk="0">
                  <a:moveTo>
                    <a:pt x="1534333" y="54478"/>
                  </a:moveTo>
                  <a:lnTo>
                    <a:pt x="1230095" y="54478"/>
                  </a:lnTo>
                  <a:lnTo>
                    <a:pt x="1272682" y="25390"/>
                  </a:lnTo>
                  <a:lnTo>
                    <a:pt x="1323136" y="6971"/>
                  </a:lnTo>
                  <a:lnTo>
                    <a:pt x="1378226" y="0"/>
                  </a:lnTo>
                  <a:lnTo>
                    <a:pt x="1434720" y="5253"/>
                  </a:lnTo>
                  <a:lnTo>
                    <a:pt x="1487025" y="22519"/>
                  </a:lnTo>
                  <a:lnTo>
                    <a:pt x="1530170" y="49824"/>
                  </a:lnTo>
                  <a:lnTo>
                    <a:pt x="1534333" y="54478"/>
                  </a:lnTo>
                  <a:close/>
                </a:path>
                <a:path w="1781809" h="1010285" extrusionOk="0">
                  <a:moveTo>
                    <a:pt x="1554217" y="76702"/>
                  </a:moveTo>
                  <a:lnTo>
                    <a:pt x="926046" y="76702"/>
                  </a:lnTo>
                  <a:lnTo>
                    <a:pt x="951549" y="47290"/>
                  </a:lnTo>
                  <a:lnTo>
                    <a:pt x="985262" y="24118"/>
                  </a:lnTo>
                  <a:lnTo>
                    <a:pt x="1025373" y="8151"/>
                  </a:lnTo>
                  <a:lnTo>
                    <a:pt x="1070071" y="353"/>
                  </a:lnTo>
                  <a:lnTo>
                    <a:pt x="1115870" y="1532"/>
                  </a:lnTo>
                  <a:lnTo>
                    <a:pt x="1159149" y="11403"/>
                  </a:lnTo>
                  <a:lnTo>
                    <a:pt x="1197895" y="29279"/>
                  </a:lnTo>
                  <a:lnTo>
                    <a:pt x="1230095" y="54478"/>
                  </a:lnTo>
                  <a:lnTo>
                    <a:pt x="1534333" y="54478"/>
                  </a:lnTo>
                  <a:lnTo>
                    <a:pt x="1554217" y="76702"/>
                  </a:lnTo>
                  <a:close/>
                </a:path>
                <a:path w="1781809" h="1010285" extrusionOk="0">
                  <a:moveTo>
                    <a:pt x="1576023" y="118102"/>
                  </a:moveTo>
                  <a:lnTo>
                    <a:pt x="577747" y="118102"/>
                  </a:lnTo>
                  <a:lnTo>
                    <a:pt x="606945" y="85473"/>
                  </a:lnTo>
                  <a:lnTo>
                    <a:pt x="644590" y="59268"/>
                  </a:lnTo>
                  <a:lnTo>
                    <a:pt x="688995" y="40418"/>
                  </a:lnTo>
                  <a:lnTo>
                    <a:pt x="738471" y="29853"/>
                  </a:lnTo>
                  <a:lnTo>
                    <a:pt x="789756" y="28444"/>
                  </a:lnTo>
                  <a:lnTo>
                    <a:pt x="839431" y="36112"/>
                  </a:lnTo>
                  <a:lnTo>
                    <a:pt x="885519" y="52363"/>
                  </a:lnTo>
                  <a:lnTo>
                    <a:pt x="926046" y="76702"/>
                  </a:lnTo>
                  <a:lnTo>
                    <a:pt x="1554217" y="76702"/>
                  </a:lnTo>
                  <a:lnTo>
                    <a:pt x="1561859" y="85243"/>
                  </a:lnTo>
                  <a:lnTo>
                    <a:pt x="1576023" y="118102"/>
                  </a:lnTo>
                  <a:close/>
                </a:path>
                <a:path w="1781809" h="1010285" extrusionOk="0">
                  <a:moveTo>
                    <a:pt x="536252" y="949375"/>
                  </a:moveTo>
                  <a:lnTo>
                    <a:pt x="485827" y="948780"/>
                  </a:lnTo>
                  <a:lnTo>
                    <a:pt x="435697" y="941926"/>
                  </a:lnTo>
                  <a:lnTo>
                    <a:pt x="387618" y="928979"/>
                  </a:lnTo>
                  <a:lnTo>
                    <a:pt x="343220" y="910450"/>
                  </a:lnTo>
                  <a:lnTo>
                    <a:pt x="303270" y="886795"/>
                  </a:lnTo>
                  <a:lnTo>
                    <a:pt x="268532" y="858469"/>
                  </a:lnTo>
                  <a:lnTo>
                    <a:pt x="239772" y="825926"/>
                  </a:lnTo>
                  <a:lnTo>
                    <a:pt x="184609" y="824345"/>
                  </a:lnTo>
                  <a:lnTo>
                    <a:pt x="133751" y="810373"/>
                  </a:lnTo>
                  <a:lnTo>
                    <a:pt x="90566" y="785408"/>
                  </a:lnTo>
                  <a:lnTo>
                    <a:pt x="58423" y="750851"/>
                  </a:lnTo>
                  <a:lnTo>
                    <a:pt x="41396" y="710416"/>
                  </a:lnTo>
                  <a:lnTo>
                    <a:pt x="40951" y="668833"/>
                  </a:lnTo>
                  <a:lnTo>
                    <a:pt x="56542" y="629021"/>
                  </a:lnTo>
                  <a:lnTo>
                    <a:pt x="87623" y="593901"/>
                  </a:lnTo>
                  <a:lnTo>
                    <a:pt x="43918" y="566001"/>
                  </a:lnTo>
                  <a:lnTo>
                    <a:pt x="14154" y="529830"/>
                  </a:lnTo>
                  <a:lnTo>
                    <a:pt x="0" y="488338"/>
                  </a:lnTo>
                  <a:lnTo>
                    <a:pt x="3123" y="444477"/>
                  </a:lnTo>
                  <a:lnTo>
                    <a:pt x="23683" y="403553"/>
                  </a:lnTo>
                  <a:lnTo>
                    <a:pt x="58704" y="370339"/>
                  </a:lnTo>
                  <a:lnTo>
                    <a:pt x="105097" y="346989"/>
                  </a:lnTo>
                  <a:lnTo>
                    <a:pt x="159773" y="335652"/>
                  </a:lnTo>
                  <a:lnTo>
                    <a:pt x="161273" y="332502"/>
                  </a:lnTo>
                  <a:lnTo>
                    <a:pt x="159870" y="283975"/>
                  </a:lnTo>
                  <a:lnTo>
                    <a:pt x="172270" y="237290"/>
                  </a:lnTo>
                  <a:lnTo>
                    <a:pt x="197508" y="194091"/>
                  </a:lnTo>
                  <a:lnTo>
                    <a:pt x="234622" y="156022"/>
                  </a:lnTo>
                  <a:lnTo>
                    <a:pt x="282647" y="124727"/>
                  </a:lnTo>
                  <a:lnTo>
                    <a:pt x="328897" y="105508"/>
                  </a:lnTo>
                  <a:lnTo>
                    <a:pt x="378121" y="93493"/>
                  </a:lnTo>
                  <a:lnTo>
                    <a:pt x="428969" y="88715"/>
                  </a:lnTo>
                  <a:lnTo>
                    <a:pt x="480090" y="91203"/>
                  </a:lnTo>
                  <a:lnTo>
                    <a:pt x="530132" y="100989"/>
                  </a:lnTo>
                  <a:lnTo>
                    <a:pt x="577747" y="118102"/>
                  </a:lnTo>
                  <a:lnTo>
                    <a:pt x="1576023" y="118102"/>
                  </a:lnTo>
                  <a:lnTo>
                    <a:pt x="1579795" y="126852"/>
                  </a:lnTo>
                  <a:lnTo>
                    <a:pt x="1623701" y="140154"/>
                  </a:lnTo>
                  <a:lnTo>
                    <a:pt x="1662529" y="160140"/>
                  </a:lnTo>
                  <a:lnTo>
                    <a:pt x="1695033" y="186013"/>
                  </a:lnTo>
                  <a:lnTo>
                    <a:pt x="1719970" y="216977"/>
                  </a:lnTo>
                  <a:lnTo>
                    <a:pt x="1735812" y="251345"/>
                  </a:lnTo>
                  <a:lnTo>
                    <a:pt x="1741801" y="287130"/>
                  </a:lnTo>
                  <a:lnTo>
                    <a:pt x="1737899" y="323089"/>
                  </a:lnTo>
                  <a:lnTo>
                    <a:pt x="1724070" y="357977"/>
                  </a:lnTo>
                  <a:lnTo>
                    <a:pt x="1754729" y="396622"/>
                  </a:lnTo>
                  <a:lnTo>
                    <a:pt x="1774027" y="438661"/>
                  </a:lnTo>
                  <a:lnTo>
                    <a:pt x="1781707" y="482648"/>
                  </a:lnTo>
                  <a:lnTo>
                    <a:pt x="1777515" y="527136"/>
                  </a:lnTo>
                  <a:lnTo>
                    <a:pt x="1761194" y="570676"/>
                  </a:lnTo>
                  <a:lnTo>
                    <a:pt x="1733472" y="610615"/>
                  </a:lnTo>
                  <a:lnTo>
                    <a:pt x="1696210" y="644692"/>
                  </a:lnTo>
                  <a:lnTo>
                    <a:pt x="1650905" y="672007"/>
                  </a:lnTo>
                  <a:lnTo>
                    <a:pt x="1599052" y="691660"/>
                  </a:lnTo>
                  <a:lnTo>
                    <a:pt x="1542145" y="702751"/>
                  </a:lnTo>
                  <a:lnTo>
                    <a:pt x="1533171" y="751302"/>
                  </a:lnTo>
                  <a:lnTo>
                    <a:pt x="1508439" y="795585"/>
                  </a:lnTo>
                  <a:lnTo>
                    <a:pt x="1469653" y="833395"/>
                  </a:lnTo>
                  <a:lnTo>
                    <a:pt x="1427648" y="857326"/>
                  </a:lnTo>
                  <a:lnTo>
                    <a:pt x="1177446" y="857326"/>
                  </a:lnTo>
                  <a:lnTo>
                    <a:pt x="1157317" y="895329"/>
                  </a:lnTo>
                  <a:lnTo>
                    <a:pt x="1141015" y="914651"/>
                  </a:lnTo>
                  <a:lnTo>
                    <a:pt x="679772" y="914651"/>
                  </a:lnTo>
                  <a:lnTo>
                    <a:pt x="634177" y="932204"/>
                  </a:lnTo>
                  <a:lnTo>
                    <a:pt x="586020" y="943814"/>
                  </a:lnTo>
                  <a:lnTo>
                    <a:pt x="536252" y="949375"/>
                  </a:lnTo>
                  <a:close/>
                </a:path>
                <a:path w="1781809" h="1010285" extrusionOk="0">
                  <a:moveTo>
                    <a:pt x="1322070" y="884700"/>
                  </a:moveTo>
                  <a:lnTo>
                    <a:pt x="1272150" y="883625"/>
                  </a:lnTo>
                  <a:lnTo>
                    <a:pt x="1223373" y="874489"/>
                  </a:lnTo>
                  <a:lnTo>
                    <a:pt x="1177446" y="857326"/>
                  </a:lnTo>
                  <a:lnTo>
                    <a:pt x="1427648" y="857326"/>
                  </a:lnTo>
                  <a:lnTo>
                    <a:pt x="1418520" y="862526"/>
                  </a:lnTo>
                  <a:lnTo>
                    <a:pt x="1371428" y="877679"/>
                  </a:lnTo>
                  <a:lnTo>
                    <a:pt x="1322070" y="884700"/>
                  </a:lnTo>
                  <a:close/>
                </a:path>
                <a:path w="1781809" h="1010285" extrusionOk="0">
                  <a:moveTo>
                    <a:pt x="899069" y="1010182"/>
                  </a:moveTo>
                  <a:lnTo>
                    <a:pt x="847434" y="1004667"/>
                  </a:lnTo>
                  <a:lnTo>
                    <a:pt x="798415" y="991919"/>
                  </a:lnTo>
                  <a:lnTo>
                    <a:pt x="753283" y="972376"/>
                  </a:lnTo>
                  <a:lnTo>
                    <a:pt x="713312" y="946474"/>
                  </a:lnTo>
                  <a:lnTo>
                    <a:pt x="679772" y="914651"/>
                  </a:lnTo>
                  <a:lnTo>
                    <a:pt x="1141015" y="914651"/>
                  </a:lnTo>
                  <a:lnTo>
                    <a:pt x="1092974" y="957988"/>
                  </a:lnTo>
                  <a:lnTo>
                    <a:pt x="1050866" y="981233"/>
                  </a:lnTo>
                  <a:lnTo>
                    <a:pt x="1003539" y="998147"/>
                  </a:lnTo>
                  <a:lnTo>
                    <a:pt x="952046" y="1008026"/>
                  </a:lnTo>
                  <a:lnTo>
                    <a:pt x="899069" y="1010182"/>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49"/>
            <p:cNvSpPr/>
            <p:nvPr/>
          </p:nvSpPr>
          <p:spPr>
            <a:xfrm>
              <a:off x="5089016" y="3672339"/>
              <a:ext cx="1781810" cy="1010285"/>
            </a:xfrm>
            <a:custGeom>
              <a:avLst/>
              <a:gdLst/>
              <a:ahLst/>
              <a:cxnLst/>
              <a:rect l="l" t="t" r="r" b="b"/>
              <a:pathLst>
                <a:path w="1781809" h="1010285" extrusionOk="0">
                  <a:moveTo>
                    <a:pt x="161273" y="332502"/>
                  </a:moveTo>
                  <a:lnTo>
                    <a:pt x="159870" y="283975"/>
                  </a:lnTo>
                  <a:lnTo>
                    <a:pt x="172270" y="237290"/>
                  </a:lnTo>
                  <a:lnTo>
                    <a:pt x="197508" y="194091"/>
                  </a:lnTo>
                  <a:lnTo>
                    <a:pt x="234622" y="156022"/>
                  </a:lnTo>
                  <a:lnTo>
                    <a:pt x="282647" y="124727"/>
                  </a:lnTo>
                  <a:lnTo>
                    <a:pt x="328897" y="105508"/>
                  </a:lnTo>
                  <a:lnTo>
                    <a:pt x="378121" y="93493"/>
                  </a:lnTo>
                  <a:lnTo>
                    <a:pt x="428969" y="88715"/>
                  </a:lnTo>
                  <a:lnTo>
                    <a:pt x="480090" y="91203"/>
                  </a:lnTo>
                  <a:lnTo>
                    <a:pt x="530132" y="100989"/>
                  </a:lnTo>
                  <a:lnTo>
                    <a:pt x="577747" y="118102"/>
                  </a:lnTo>
                  <a:lnTo>
                    <a:pt x="606945" y="85473"/>
                  </a:lnTo>
                  <a:lnTo>
                    <a:pt x="644590" y="59268"/>
                  </a:lnTo>
                  <a:lnTo>
                    <a:pt x="688995" y="40418"/>
                  </a:lnTo>
                  <a:lnTo>
                    <a:pt x="738471" y="29853"/>
                  </a:lnTo>
                  <a:lnTo>
                    <a:pt x="789756" y="28444"/>
                  </a:lnTo>
                  <a:lnTo>
                    <a:pt x="839431" y="36112"/>
                  </a:lnTo>
                  <a:lnTo>
                    <a:pt x="885519" y="52363"/>
                  </a:lnTo>
                  <a:lnTo>
                    <a:pt x="926046" y="76702"/>
                  </a:lnTo>
                  <a:lnTo>
                    <a:pt x="951549" y="47290"/>
                  </a:lnTo>
                  <a:lnTo>
                    <a:pt x="985262" y="24118"/>
                  </a:lnTo>
                  <a:lnTo>
                    <a:pt x="1025373" y="8151"/>
                  </a:lnTo>
                  <a:lnTo>
                    <a:pt x="1070071" y="353"/>
                  </a:lnTo>
                  <a:lnTo>
                    <a:pt x="1115870" y="1532"/>
                  </a:lnTo>
                  <a:lnTo>
                    <a:pt x="1159149" y="11403"/>
                  </a:lnTo>
                  <a:lnTo>
                    <a:pt x="1197895" y="29279"/>
                  </a:lnTo>
                  <a:lnTo>
                    <a:pt x="1230095" y="54478"/>
                  </a:lnTo>
                  <a:lnTo>
                    <a:pt x="1272682" y="25390"/>
                  </a:lnTo>
                  <a:lnTo>
                    <a:pt x="1323136" y="6971"/>
                  </a:lnTo>
                  <a:lnTo>
                    <a:pt x="1378226" y="0"/>
                  </a:lnTo>
                  <a:lnTo>
                    <a:pt x="1434720" y="5253"/>
                  </a:lnTo>
                  <a:lnTo>
                    <a:pt x="1487025" y="22519"/>
                  </a:lnTo>
                  <a:lnTo>
                    <a:pt x="1530170" y="49824"/>
                  </a:lnTo>
                  <a:lnTo>
                    <a:pt x="1561859" y="85243"/>
                  </a:lnTo>
                  <a:lnTo>
                    <a:pt x="1579795" y="126852"/>
                  </a:lnTo>
                  <a:lnTo>
                    <a:pt x="1623701" y="140154"/>
                  </a:lnTo>
                  <a:lnTo>
                    <a:pt x="1662529" y="160140"/>
                  </a:lnTo>
                  <a:lnTo>
                    <a:pt x="1695033" y="186013"/>
                  </a:lnTo>
                  <a:lnTo>
                    <a:pt x="1719969" y="216977"/>
                  </a:lnTo>
                  <a:lnTo>
                    <a:pt x="1741801" y="287130"/>
                  </a:lnTo>
                  <a:lnTo>
                    <a:pt x="1737899" y="323089"/>
                  </a:lnTo>
                  <a:lnTo>
                    <a:pt x="1724069" y="357977"/>
                  </a:lnTo>
                  <a:lnTo>
                    <a:pt x="1754729" y="396622"/>
                  </a:lnTo>
                  <a:lnTo>
                    <a:pt x="1774027" y="438661"/>
                  </a:lnTo>
                  <a:lnTo>
                    <a:pt x="1781707" y="482648"/>
                  </a:lnTo>
                  <a:lnTo>
                    <a:pt x="1777515" y="527136"/>
                  </a:lnTo>
                  <a:lnTo>
                    <a:pt x="1761194" y="570676"/>
                  </a:lnTo>
                  <a:lnTo>
                    <a:pt x="1733472" y="610615"/>
                  </a:lnTo>
                  <a:lnTo>
                    <a:pt x="1696210" y="644692"/>
                  </a:lnTo>
                  <a:lnTo>
                    <a:pt x="1650905" y="672007"/>
                  </a:lnTo>
                  <a:lnTo>
                    <a:pt x="1599052" y="691660"/>
                  </a:lnTo>
                  <a:lnTo>
                    <a:pt x="1542145" y="702751"/>
                  </a:lnTo>
                  <a:lnTo>
                    <a:pt x="1533171" y="751302"/>
                  </a:lnTo>
                  <a:lnTo>
                    <a:pt x="1508439" y="795585"/>
                  </a:lnTo>
                  <a:lnTo>
                    <a:pt x="1469653" y="833395"/>
                  </a:lnTo>
                  <a:lnTo>
                    <a:pt x="1418520" y="862526"/>
                  </a:lnTo>
                  <a:lnTo>
                    <a:pt x="1371428" y="877679"/>
                  </a:lnTo>
                  <a:lnTo>
                    <a:pt x="1322070" y="884700"/>
                  </a:lnTo>
                  <a:lnTo>
                    <a:pt x="1272150" y="883625"/>
                  </a:lnTo>
                  <a:lnTo>
                    <a:pt x="1223373" y="874489"/>
                  </a:lnTo>
                  <a:lnTo>
                    <a:pt x="1177446" y="857326"/>
                  </a:lnTo>
                  <a:lnTo>
                    <a:pt x="1157317" y="895329"/>
                  </a:lnTo>
                  <a:lnTo>
                    <a:pt x="1128809" y="929118"/>
                  </a:lnTo>
                  <a:lnTo>
                    <a:pt x="1092974" y="957988"/>
                  </a:lnTo>
                  <a:lnTo>
                    <a:pt x="1050866" y="981233"/>
                  </a:lnTo>
                  <a:lnTo>
                    <a:pt x="1003539" y="998147"/>
                  </a:lnTo>
                  <a:lnTo>
                    <a:pt x="952046" y="1008026"/>
                  </a:lnTo>
                  <a:lnTo>
                    <a:pt x="899069" y="1010182"/>
                  </a:lnTo>
                  <a:lnTo>
                    <a:pt x="847434" y="1004667"/>
                  </a:lnTo>
                  <a:lnTo>
                    <a:pt x="798415" y="991919"/>
                  </a:lnTo>
                  <a:lnTo>
                    <a:pt x="753283" y="972376"/>
                  </a:lnTo>
                  <a:lnTo>
                    <a:pt x="713312" y="946474"/>
                  </a:lnTo>
                  <a:lnTo>
                    <a:pt x="679772" y="914651"/>
                  </a:lnTo>
                  <a:lnTo>
                    <a:pt x="634177" y="932204"/>
                  </a:lnTo>
                  <a:lnTo>
                    <a:pt x="586020" y="943814"/>
                  </a:lnTo>
                  <a:lnTo>
                    <a:pt x="536252" y="949375"/>
                  </a:lnTo>
                  <a:lnTo>
                    <a:pt x="485827" y="948780"/>
                  </a:lnTo>
                  <a:lnTo>
                    <a:pt x="435697" y="941926"/>
                  </a:lnTo>
                  <a:lnTo>
                    <a:pt x="387618" y="928979"/>
                  </a:lnTo>
                  <a:lnTo>
                    <a:pt x="343220" y="910450"/>
                  </a:lnTo>
                  <a:lnTo>
                    <a:pt x="303270" y="886795"/>
                  </a:lnTo>
                  <a:lnTo>
                    <a:pt x="268532" y="858469"/>
                  </a:lnTo>
                  <a:lnTo>
                    <a:pt x="239772" y="825926"/>
                  </a:lnTo>
                  <a:lnTo>
                    <a:pt x="184609" y="824345"/>
                  </a:lnTo>
                  <a:lnTo>
                    <a:pt x="133751" y="810373"/>
                  </a:lnTo>
                  <a:lnTo>
                    <a:pt x="90566" y="785408"/>
                  </a:lnTo>
                  <a:lnTo>
                    <a:pt x="58423" y="750851"/>
                  </a:lnTo>
                  <a:lnTo>
                    <a:pt x="41396" y="710416"/>
                  </a:lnTo>
                  <a:lnTo>
                    <a:pt x="40951" y="668833"/>
                  </a:lnTo>
                  <a:lnTo>
                    <a:pt x="56542" y="629021"/>
                  </a:lnTo>
                  <a:lnTo>
                    <a:pt x="87623" y="593901"/>
                  </a:lnTo>
                  <a:lnTo>
                    <a:pt x="43918" y="566001"/>
                  </a:lnTo>
                  <a:lnTo>
                    <a:pt x="14154" y="529830"/>
                  </a:lnTo>
                  <a:lnTo>
                    <a:pt x="0" y="488338"/>
                  </a:lnTo>
                  <a:lnTo>
                    <a:pt x="3123" y="444477"/>
                  </a:lnTo>
                  <a:lnTo>
                    <a:pt x="23683" y="403553"/>
                  </a:lnTo>
                  <a:lnTo>
                    <a:pt x="58704" y="370339"/>
                  </a:lnTo>
                  <a:lnTo>
                    <a:pt x="105097" y="346989"/>
                  </a:lnTo>
                  <a:lnTo>
                    <a:pt x="159773" y="335652"/>
                  </a:lnTo>
                  <a:lnTo>
                    <a:pt x="161273" y="332502"/>
                  </a:lnTo>
                  <a:close/>
                </a:path>
                <a:path w="1781809" h="1010285" extrusionOk="0">
                  <a:moveTo>
                    <a:pt x="87648" y="593901"/>
                  </a:moveTo>
                  <a:lnTo>
                    <a:pt x="112148" y="603164"/>
                  </a:lnTo>
                  <a:lnTo>
                    <a:pt x="138020" y="609411"/>
                  </a:lnTo>
                  <a:lnTo>
                    <a:pt x="164805" y="612559"/>
                  </a:lnTo>
                  <a:lnTo>
                    <a:pt x="192048" y="612526"/>
                  </a:lnTo>
                </a:path>
                <a:path w="1781809" h="1010285" extrusionOk="0">
                  <a:moveTo>
                    <a:pt x="239772" y="825926"/>
                  </a:moveTo>
                  <a:lnTo>
                    <a:pt x="251462" y="824563"/>
                  </a:lnTo>
                  <a:lnTo>
                    <a:pt x="262994" y="822617"/>
                  </a:lnTo>
                  <a:lnTo>
                    <a:pt x="274334" y="820094"/>
                  </a:lnTo>
                  <a:lnTo>
                    <a:pt x="285447" y="817001"/>
                  </a:lnTo>
                </a:path>
                <a:path w="1781809" h="1010285" extrusionOk="0">
                  <a:moveTo>
                    <a:pt x="679747" y="914651"/>
                  </a:moveTo>
                  <a:lnTo>
                    <a:pt x="671818" y="904909"/>
                  </a:lnTo>
                  <a:lnTo>
                    <a:pt x="664578" y="894863"/>
                  </a:lnTo>
                  <a:lnTo>
                    <a:pt x="658041" y="884536"/>
                  </a:lnTo>
                  <a:lnTo>
                    <a:pt x="652222" y="873951"/>
                  </a:lnTo>
                </a:path>
                <a:path w="1781809" h="1010285" extrusionOk="0">
                  <a:moveTo>
                    <a:pt x="1177446" y="857326"/>
                  </a:moveTo>
                  <a:lnTo>
                    <a:pt x="1181340" y="846342"/>
                  </a:lnTo>
                  <a:lnTo>
                    <a:pt x="1184474" y="835226"/>
                  </a:lnTo>
                  <a:lnTo>
                    <a:pt x="1186843" y="823998"/>
                  </a:lnTo>
                  <a:lnTo>
                    <a:pt x="1188446" y="812676"/>
                  </a:lnTo>
                </a:path>
                <a:path w="1781809" h="1010285" extrusionOk="0">
                  <a:moveTo>
                    <a:pt x="1542120" y="702751"/>
                  </a:moveTo>
                  <a:lnTo>
                    <a:pt x="1536401" y="661151"/>
                  </a:lnTo>
                  <a:lnTo>
                    <a:pt x="1519065" y="622325"/>
                  </a:lnTo>
                  <a:lnTo>
                    <a:pt x="1491187" y="587611"/>
                  </a:lnTo>
                  <a:lnTo>
                    <a:pt x="1453846" y="558348"/>
                  </a:lnTo>
                  <a:lnTo>
                    <a:pt x="1408120" y="535877"/>
                  </a:lnTo>
                </a:path>
                <a:path w="1781809" h="1010285" extrusionOk="0">
                  <a:moveTo>
                    <a:pt x="1724044" y="357977"/>
                  </a:moveTo>
                  <a:lnTo>
                    <a:pt x="1712716" y="375552"/>
                  </a:lnTo>
                  <a:lnTo>
                    <a:pt x="1698895" y="391946"/>
                  </a:lnTo>
                  <a:lnTo>
                    <a:pt x="1682729" y="406999"/>
                  </a:lnTo>
                  <a:lnTo>
                    <a:pt x="1664370" y="420552"/>
                  </a:lnTo>
                </a:path>
                <a:path w="1781809" h="1010285" extrusionOk="0">
                  <a:moveTo>
                    <a:pt x="1579795" y="126852"/>
                  </a:moveTo>
                  <a:lnTo>
                    <a:pt x="1581271" y="134191"/>
                  </a:lnTo>
                  <a:lnTo>
                    <a:pt x="1582289" y="141571"/>
                  </a:lnTo>
                  <a:lnTo>
                    <a:pt x="1582846" y="148980"/>
                  </a:lnTo>
                  <a:lnTo>
                    <a:pt x="1582945" y="156402"/>
                  </a:lnTo>
                </a:path>
                <a:path w="1781809" h="1010285" extrusionOk="0">
                  <a:moveTo>
                    <a:pt x="1230095" y="54478"/>
                  </a:moveTo>
                  <a:lnTo>
                    <a:pt x="1221138" y="63236"/>
                  </a:lnTo>
                  <a:lnTo>
                    <a:pt x="1213036" y="72462"/>
                  </a:lnTo>
                  <a:lnTo>
                    <a:pt x="1205820" y="82114"/>
                  </a:lnTo>
                  <a:lnTo>
                    <a:pt x="1199521" y="92152"/>
                  </a:lnTo>
                </a:path>
                <a:path w="1781809" h="1010285" extrusionOk="0">
                  <a:moveTo>
                    <a:pt x="926046" y="76702"/>
                  </a:moveTo>
                  <a:lnTo>
                    <a:pt x="921375" y="84554"/>
                  </a:lnTo>
                  <a:lnTo>
                    <a:pt x="917343" y="92606"/>
                  </a:lnTo>
                  <a:lnTo>
                    <a:pt x="913963" y="100830"/>
                  </a:lnTo>
                  <a:lnTo>
                    <a:pt x="911246" y="109202"/>
                  </a:lnTo>
                </a:path>
                <a:path w="1781809" h="1010285" extrusionOk="0">
                  <a:moveTo>
                    <a:pt x="577747" y="118102"/>
                  </a:moveTo>
                  <a:lnTo>
                    <a:pt x="592042" y="125032"/>
                  </a:lnTo>
                  <a:lnTo>
                    <a:pt x="605762" y="132609"/>
                  </a:lnTo>
                  <a:lnTo>
                    <a:pt x="618869" y="140813"/>
                  </a:lnTo>
                  <a:lnTo>
                    <a:pt x="631322" y="149627"/>
                  </a:lnTo>
                </a:path>
                <a:path w="1781809" h="1010285" extrusionOk="0">
                  <a:moveTo>
                    <a:pt x="161273" y="332502"/>
                  </a:moveTo>
                  <a:lnTo>
                    <a:pt x="162969" y="340895"/>
                  </a:lnTo>
                  <a:lnTo>
                    <a:pt x="165094" y="349230"/>
                  </a:lnTo>
                  <a:lnTo>
                    <a:pt x="167646" y="357494"/>
                  </a:lnTo>
                  <a:lnTo>
                    <a:pt x="170623" y="365677"/>
                  </a:lnTo>
                </a:path>
              </a:pathLst>
            </a:custGeom>
            <a:noFill/>
            <a:ln w="76175" cap="flat" cmpd="sng">
              <a:solidFill>
                <a:srgbClr val="F0C1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2" name="Google Shape;442;p49"/>
          <p:cNvGrpSpPr/>
          <p:nvPr/>
        </p:nvGrpSpPr>
        <p:grpSpPr>
          <a:xfrm>
            <a:off x="801487" y="2604655"/>
            <a:ext cx="7251700" cy="3765551"/>
            <a:chOff x="448586" y="1079094"/>
            <a:chExt cx="7251700" cy="3504441"/>
          </a:xfrm>
        </p:grpSpPr>
        <p:sp>
          <p:nvSpPr>
            <p:cNvPr id="443" name="Google Shape;443;p49"/>
            <p:cNvSpPr/>
            <p:nvPr/>
          </p:nvSpPr>
          <p:spPr>
            <a:xfrm>
              <a:off x="462874" y="2115608"/>
              <a:ext cx="7223035" cy="245310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49"/>
            <p:cNvSpPr/>
            <p:nvPr/>
          </p:nvSpPr>
          <p:spPr>
            <a:xfrm>
              <a:off x="448586" y="2101320"/>
              <a:ext cx="7251700" cy="2482215"/>
            </a:xfrm>
            <a:custGeom>
              <a:avLst/>
              <a:gdLst/>
              <a:ahLst/>
              <a:cxnLst/>
              <a:rect l="l" t="t" r="r" b="b"/>
              <a:pathLst>
                <a:path w="7251700" h="2482215" extrusionOk="0">
                  <a:moveTo>
                    <a:pt x="0" y="0"/>
                  </a:moveTo>
                  <a:lnTo>
                    <a:pt x="7251622" y="0"/>
                  </a:lnTo>
                  <a:lnTo>
                    <a:pt x="7251622" y="2481695"/>
                  </a:lnTo>
                  <a:lnTo>
                    <a:pt x="0" y="2481695"/>
                  </a:lnTo>
                  <a:lnTo>
                    <a:pt x="0" y="0"/>
                  </a:lnTo>
                  <a:close/>
                </a:path>
              </a:pathLst>
            </a:custGeom>
            <a:noFill/>
            <a:ln w="285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49"/>
            <p:cNvSpPr/>
            <p:nvPr/>
          </p:nvSpPr>
          <p:spPr>
            <a:xfrm>
              <a:off x="1165896" y="1079094"/>
              <a:ext cx="506095" cy="213360"/>
            </a:xfrm>
            <a:custGeom>
              <a:avLst/>
              <a:gdLst/>
              <a:ahLst/>
              <a:cxnLst/>
              <a:rect l="l" t="t" r="r" b="b"/>
              <a:pathLst>
                <a:path w="506094" h="213359" extrusionOk="0">
                  <a:moveTo>
                    <a:pt x="505557" y="213359"/>
                  </a:moveTo>
                  <a:lnTo>
                    <a:pt x="0" y="213359"/>
                  </a:lnTo>
                  <a:lnTo>
                    <a:pt x="0" y="0"/>
                  </a:lnTo>
                  <a:lnTo>
                    <a:pt x="505557" y="0"/>
                  </a:lnTo>
                  <a:lnTo>
                    <a:pt x="505557" y="213359"/>
                  </a:lnTo>
                  <a:close/>
                </a:path>
              </a:pathLst>
            </a:custGeom>
            <a:solidFill>
              <a:srgbClr val="FB3F6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4"/>
          <p:cNvSpPr txBox="1">
            <a:spLocks noGrp="1"/>
          </p:cNvSpPr>
          <p:nvPr>
            <p:ph type="title"/>
          </p:nvPr>
        </p:nvSpPr>
        <p:spPr>
          <a:xfrm>
            <a:off x="457200" y="964677"/>
            <a:ext cx="82296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SQL Characteristics and advantages</a:t>
            </a:r>
            <a:endParaRPr/>
          </a:p>
        </p:txBody>
      </p:sp>
      <p:sp>
        <p:nvSpPr>
          <p:cNvPr id="325" name="Google Shape;325;p34"/>
          <p:cNvSpPr txBox="1">
            <a:spLocks noGrp="1"/>
          </p:cNvSpPr>
          <p:nvPr>
            <p:ph type="body" idx="1"/>
          </p:nvPr>
        </p:nvSpPr>
        <p:spPr>
          <a:xfrm>
            <a:off x="342900" y="1447800"/>
            <a:ext cx="8458200" cy="5008652"/>
          </a:xfrm>
          <a:prstGeom prst="rect">
            <a:avLst/>
          </a:prstGeom>
          <a:noFill/>
          <a:ln>
            <a:noFill/>
          </a:ln>
        </p:spPr>
        <p:txBody>
          <a:bodyPr spcFirstLastPara="1" wrap="square" lIns="91425" tIns="45700" rIns="91425" bIns="45700" anchor="t" anchorCtr="0">
            <a:noAutofit/>
          </a:bodyPr>
          <a:lstStyle/>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SQL stands for Structured Query Language </a:t>
            </a:r>
            <a:endParaRPr/>
          </a:p>
          <a:p>
            <a:pPr marL="457200" lvl="0" indent="-342900" algn="just" rtl="0">
              <a:lnSpc>
                <a:spcPct val="90000"/>
              </a:lnSpc>
              <a:spcBef>
                <a:spcPts val="1000"/>
              </a:spcBef>
              <a:spcAft>
                <a:spcPts val="0"/>
              </a:spcAft>
              <a:buSzPts val="1800"/>
              <a:buChar char="•"/>
            </a:pPr>
            <a:r>
              <a:rPr lang="en-US" sz="2400">
                <a:latin typeface="Times New Roman"/>
                <a:ea typeface="Times New Roman"/>
                <a:cs typeface="Times New Roman"/>
                <a:sym typeface="Times New Roman"/>
              </a:rPr>
              <a:t>SQL lets you access and manipulate databases</a:t>
            </a:r>
            <a:endParaRPr/>
          </a:p>
          <a:p>
            <a:pPr marL="457200" lvl="0" indent="-342900" algn="just" rtl="0">
              <a:lnSpc>
                <a:spcPct val="90000"/>
              </a:lnSpc>
              <a:spcBef>
                <a:spcPts val="1000"/>
              </a:spcBef>
              <a:spcAft>
                <a:spcPts val="0"/>
              </a:spcAft>
              <a:buSzPts val="1800"/>
              <a:buChar char="•"/>
            </a:pPr>
            <a:r>
              <a:rPr lang="en-US" sz="2400" i="0">
                <a:solidFill>
                  <a:srgbClr val="222222"/>
                </a:solidFill>
                <a:latin typeface="Times New Roman"/>
                <a:ea typeface="Times New Roman"/>
                <a:cs typeface="Times New Roman"/>
                <a:sym typeface="Times New Roman"/>
              </a:rPr>
              <a:t>SQL is a database language designed for the retrieval and management of data in a relational database.</a:t>
            </a:r>
            <a:endParaRPr/>
          </a:p>
          <a:p>
            <a:pPr marL="457200" lvl="0" indent="-342900" algn="just" rtl="0">
              <a:lnSpc>
                <a:spcPct val="90000"/>
              </a:lnSpc>
              <a:spcBef>
                <a:spcPts val="1000"/>
              </a:spcBef>
              <a:spcAft>
                <a:spcPts val="0"/>
              </a:spcAft>
              <a:buSzPts val="1800"/>
              <a:buChar char="•"/>
            </a:pPr>
            <a:r>
              <a:rPr lang="en-US" sz="2400" b="0" i="0">
                <a:solidFill>
                  <a:srgbClr val="222222"/>
                </a:solidFill>
                <a:latin typeface="Times New Roman"/>
                <a:ea typeface="Times New Roman"/>
                <a:cs typeface="Times New Roman"/>
                <a:sym typeface="Times New Roman"/>
              </a:rPr>
              <a:t>SQL is the standard language for database management</a:t>
            </a:r>
            <a:endParaRPr sz="2400" b="0">
              <a:solidFill>
                <a:srgbClr val="222222"/>
              </a:solidFill>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400" b="0" i="0">
                <a:solidFill>
                  <a:srgbClr val="222222"/>
                </a:solidFill>
                <a:latin typeface="Times New Roman"/>
                <a:ea typeface="Times New Roman"/>
                <a:cs typeface="Times New Roman"/>
                <a:sym typeface="Times New Roman"/>
              </a:rPr>
              <a:t>All the RDBMS systems like MySQL, MS Access, Oracle, Sybase, Postgres, and SQL Server use SQL as their standard database language.</a:t>
            </a:r>
            <a:endParaRPr/>
          </a:p>
          <a:p>
            <a:pPr marL="457200" lvl="0" indent="-342900" algn="just" rtl="0">
              <a:lnSpc>
                <a:spcPct val="90000"/>
              </a:lnSpc>
              <a:spcBef>
                <a:spcPts val="1000"/>
              </a:spcBef>
              <a:spcAft>
                <a:spcPts val="0"/>
              </a:spcAft>
              <a:buSzPts val="1800"/>
              <a:buChar char="•"/>
            </a:pPr>
            <a:r>
              <a:rPr lang="en-US" sz="2400" b="0" i="0">
                <a:solidFill>
                  <a:srgbClr val="222222"/>
                </a:solidFill>
                <a:latin typeface="Times New Roman"/>
                <a:ea typeface="Times New Roman"/>
                <a:cs typeface="Times New Roman"/>
                <a:sym typeface="Times New Roman"/>
              </a:rPr>
              <a:t>SQL programming language uses various commands for different operations like DCL, TCL, DQL, DDL and DML.</a:t>
            </a:r>
            <a:endParaRPr sz="2400">
              <a:latin typeface="Times New Roman"/>
              <a:ea typeface="Times New Roman"/>
              <a:cs typeface="Times New Roman"/>
              <a:sym typeface="Times New Roman"/>
            </a:endParaRPr>
          </a:p>
        </p:txBody>
      </p:sp>
    </p:spTree>
    <p:extLst>
      <p:ext uri="{BB962C8B-B14F-4D97-AF65-F5344CB8AC3E}">
        <p14:creationId xmlns:p14="http://schemas.microsoft.com/office/powerpoint/2010/main" val="92566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0"/>
          <p:cNvSpPr txBox="1">
            <a:spLocks noGrp="1"/>
          </p:cNvSpPr>
          <p:nvPr>
            <p:ph type="title"/>
          </p:nvPr>
        </p:nvSpPr>
        <p:spPr>
          <a:xfrm>
            <a:off x="527901" y="727125"/>
            <a:ext cx="66294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SQL Data types</a:t>
            </a:r>
            <a:br>
              <a:rPr lang="en-US" sz="2400" b="1">
                <a:solidFill>
                  <a:srgbClr val="FF0000"/>
                </a:solidFill>
                <a:latin typeface="Times New Roman"/>
                <a:ea typeface="Times New Roman"/>
                <a:cs typeface="Times New Roman"/>
                <a:sym typeface="Times New Roman"/>
              </a:rPr>
            </a:br>
            <a:r>
              <a:rPr lang="en-US" sz="2400" b="1">
                <a:solidFill>
                  <a:srgbClr val="FF0000"/>
                </a:solidFill>
                <a:latin typeface="Times New Roman"/>
                <a:ea typeface="Times New Roman"/>
                <a:cs typeface="Times New Roman"/>
                <a:sym typeface="Times New Roman"/>
              </a:rPr>
              <a:t>SQL Server String Data Type</a:t>
            </a:r>
            <a:endParaRPr/>
          </a:p>
        </p:txBody>
      </p:sp>
      <p:graphicFrame>
        <p:nvGraphicFramePr>
          <p:cNvPr id="360" name="Google Shape;360;p40"/>
          <p:cNvGraphicFramePr/>
          <p:nvPr/>
        </p:nvGraphicFramePr>
        <p:xfrm>
          <a:off x="751788" y="1870125"/>
          <a:ext cx="7477800" cy="4308100"/>
        </p:xfrm>
        <a:graphic>
          <a:graphicData uri="http://schemas.openxmlformats.org/drawingml/2006/table">
            <a:tbl>
              <a:tblPr>
                <a:noFill/>
              </a:tblPr>
              <a:tblGrid>
                <a:gridCol w="1934850"/>
                <a:gridCol w="5542950"/>
              </a:tblGrid>
              <a:tr h="670150">
                <a:tc>
                  <a:txBody>
                    <a:bodyPr/>
                    <a:lstStyle/>
                    <a:p>
                      <a:pPr marL="0" marR="0" lvl="0" indent="0" algn="l" rtl="0">
                        <a:lnSpc>
                          <a:spcPct val="100000"/>
                        </a:lnSpc>
                        <a:spcBef>
                          <a:spcPts val="0"/>
                        </a:spcBef>
                        <a:spcAft>
                          <a:spcPts val="0"/>
                        </a:spcAft>
                        <a:buNone/>
                      </a:pPr>
                      <a:r>
                        <a:rPr lang="en-US" sz="1800" b="1" u="none" strike="noStrike" cap="none" dirty="0">
                          <a:latin typeface="Times New Roman"/>
                          <a:ea typeface="Times New Roman"/>
                          <a:cs typeface="Times New Roman"/>
                          <a:sym typeface="Times New Roman"/>
                        </a:rPr>
                        <a:t>char(n)</a:t>
                      </a:r>
                      <a:endParaRPr sz="1800" u="none" strike="noStrike" cap="none" dirty="0">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fixed width character string data type. Its size can be up to 8000 characters. </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70150">
                <a:tc>
                  <a:txBody>
                    <a:bodyPr/>
                    <a:lstStyle/>
                    <a:p>
                      <a:pPr marL="0" marR="0" lvl="0" indent="0" algn="l" rtl="0">
                        <a:lnSpc>
                          <a:spcPct val="100000"/>
                        </a:lnSpc>
                        <a:spcBef>
                          <a:spcPts val="0"/>
                        </a:spcBef>
                        <a:spcAft>
                          <a:spcPts val="0"/>
                        </a:spcAft>
                        <a:buNone/>
                      </a:pPr>
                      <a:r>
                        <a:rPr lang="en-US" sz="1800" b="1" u="none" strike="noStrike" cap="none" dirty="0" err="1">
                          <a:latin typeface="Times New Roman"/>
                          <a:ea typeface="Times New Roman"/>
                          <a:cs typeface="Times New Roman"/>
                          <a:sym typeface="Times New Roman"/>
                        </a:rPr>
                        <a:t>varchar</a:t>
                      </a:r>
                      <a:r>
                        <a:rPr lang="en-US" sz="1800" b="1" u="none" strike="noStrike" cap="none" dirty="0">
                          <a:latin typeface="Times New Roman"/>
                          <a:ea typeface="Times New Roman"/>
                          <a:cs typeface="Times New Roman"/>
                          <a:sym typeface="Times New Roman"/>
                        </a:rPr>
                        <a:t>(n)</a:t>
                      </a:r>
                      <a:endParaRPr sz="1800" u="none" strike="noStrike" cap="none" dirty="0">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variable width character string data type. Its size can be up to 8000 characters.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57350">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varchar(max)</a:t>
                      </a:r>
                      <a:endParaRPr sz="18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variable width character string data types. Its size can be up to 1,073,741,824 characters.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70150">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text</a:t>
                      </a:r>
                      <a:endParaRPr sz="18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variable width character string data type. Its size can be up to 2GB of text data. </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70150">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nchar</a:t>
                      </a:r>
                      <a:endParaRPr sz="18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fixed width Unicode string data type. Its size can be up to 4000 characters.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670150">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nvarchar</a:t>
                      </a:r>
                      <a:endParaRPr sz="18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a variable width Unicode string data type. Its size can be up to 4000 characters.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5367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1"/>
          <p:cNvSpPr txBox="1">
            <a:spLocks noGrp="1"/>
          </p:cNvSpPr>
          <p:nvPr>
            <p:ph type="title"/>
          </p:nvPr>
        </p:nvSpPr>
        <p:spPr>
          <a:xfrm>
            <a:off x="398479" y="1002183"/>
            <a:ext cx="6743700" cy="7318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MySQL Date and Time Data Types </a:t>
            </a:r>
            <a:endParaRPr/>
          </a:p>
        </p:txBody>
      </p:sp>
      <p:graphicFrame>
        <p:nvGraphicFramePr>
          <p:cNvPr id="366" name="Google Shape;366;p41"/>
          <p:cNvGraphicFramePr/>
          <p:nvPr/>
        </p:nvGraphicFramePr>
        <p:xfrm>
          <a:off x="398479" y="1909914"/>
          <a:ext cx="8151650" cy="4214970"/>
        </p:xfrm>
        <a:graphic>
          <a:graphicData uri="http://schemas.openxmlformats.org/drawingml/2006/table">
            <a:tbl>
              <a:tblPr>
                <a:noFill/>
              </a:tblPr>
              <a:tblGrid>
                <a:gridCol w="2233700"/>
                <a:gridCol w="5917950"/>
              </a:tblGrid>
              <a:tr h="580275">
                <a:tc>
                  <a:txBody>
                    <a:bodyPr/>
                    <a:lstStyle/>
                    <a:p>
                      <a:pPr marL="0" marR="0" lvl="0" indent="0" algn="l" rtl="0">
                        <a:lnSpc>
                          <a:spcPct val="100000"/>
                        </a:lnSpc>
                        <a:spcBef>
                          <a:spcPts val="0"/>
                        </a:spcBef>
                        <a:spcAft>
                          <a:spcPts val="0"/>
                        </a:spcAft>
                        <a:buNone/>
                      </a:pPr>
                      <a:r>
                        <a:rPr lang="en-US" sz="1800" b="1" u="none" strike="noStrike" cap="none" dirty="0">
                          <a:latin typeface="Times New Roman"/>
                          <a:ea typeface="Times New Roman"/>
                          <a:cs typeface="Times New Roman"/>
                          <a:sym typeface="Times New Roman"/>
                        </a:rPr>
                        <a:t>DATE</a:t>
                      </a:r>
                      <a:endParaRPr sz="1800" u="none" strike="noStrike" cap="none" dirty="0">
                        <a:latin typeface="Times New Roman"/>
                        <a:ea typeface="Times New Roman"/>
                        <a:cs typeface="Times New Roman"/>
                        <a:sym typeface="Times New Roman"/>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It is used to specify date format YYYY-MM-DD. Its supported range is from '1000-01-01' to '9999-12-31'. </a:t>
                      </a:r>
                      <a:endParaRPr dirty="0"/>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28450">
                <a:tc>
                  <a:txBody>
                    <a:bodyPr/>
                    <a:lstStyle/>
                    <a:p>
                      <a:pPr marL="0" marR="0" lvl="0" indent="0" algn="l" rtl="0">
                        <a:lnSpc>
                          <a:spcPct val="100000"/>
                        </a:lnSpc>
                        <a:spcBef>
                          <a:spcPts val="0"/>
                        </a:spcBef>
                        <a:spcAft>
                          <a:spcPts val="0"/>
                        </a:spcAft>
                        <a:buNone/>
                      </a:pPr>
                      <a:r>
                        <a:rPr lang="en-US" sz="1800" b="1" u="none" strike="noStrike" cap="none" dirty="0">
                          <a:latin typeface="Times New Roman"/>
                          <a:ea typeface="Times New Roman"/>
                          <a:cs typeface="Times New Roman"/>
                          <a:sym typeface="Times New Roman"/>
                        </a:rPr>
                        <a:t>DATETIME(</a:t>
                      </a:r>
                      <a:r>
                        <a:rPr lang="en-US" sz="1800" b="1" u="none" strike="noStrike" cap="none" dirty="0" err="1">
                          <a:latin typeface="Times New Roman"/>
                          <a:ea typeface="Times New Roman"/>
                          <a:cs typeface="Times New Roman"/>
                          <a:sym typeface="Times New Roman"/>
                        </a:rPr>
                        <a:t>fsp</a:t>
                      </a:r>
                      <a:r>
                        <a:rPr lang="en-US" sz="1800" b="1" u="none" strike="noStrike" cap="none" dirty="0">
                          <a:latin typeface="Times New Roman"/>
                          <a:ea typeface="Times New Roman"/>
                          <a:cs typeface="Times New Roman"/>
                          <a:sym typeface="Times New Roman"/>
                        </a:rPr>
                        <a:t>)</a:t>
                      </a:r>
                      <a:endParaRPr sz="1800" u="none" strike="noStrike" cap="none" dirty="0">
                        <a:latin typeface="Times New Roman"/>
                        <a:ea typeface="Times New Roman"/>
                        <a:cs typeface="Times New Roman"/>
                        <a:sym typeface="Times New Roman"/>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used to specify date and time combination. Its format is YYYY-MM-DD hh:mm:ss. Its supported range is from '1000-01-01 00:00:00' to 9999-12-31 23:59:59'.</a:t>
                      </a:r>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276625">
                <a:tc>
                  <a:txBody>
                    <a:bodyPr/>
                    <a:lstStyle/>
                    <a:p>
                      <a:pPr marL="0" marR="0" lvl="0" indent="0" algn="l" rtl="0">
                        <a:lnSpc>
                          <a:spcPct val="100000"/>
                        </a:lnSpc>
                        <a:spcBef>
                          <a:spcPts val="0"/>
                        </a:spcBef>
                        <a:spcAft>
                          <a:spcPts val="0"/>
                        </a:spcAft>
                        <a:buNone/>
                      </a:pPr>
                      <a:r>
                        <a:rPr lang="en-US" sz="1800" b="1" u="none" strike="noStrike" cap="none" dirty="0">
                          <a:latin typeface="Times New Roman"/>
                          <a:ea typeface="Times New Roman"/>
                          <a:cs typeface="Times New Roman"/>
                          <a:sym typeface="Times New Roman"/>
                        </a:rPr>
                        <a:t>TIMESTAMP(</a:t>
                      </a:r>
                      <a:r>
                        <a:rPr lang="en-US" sz="1800" b="1" u="none" strike="noStrike" cap="none" dirty="0" err="1">
                          <a:latin typeface="Times New Roman"/>
                          <a:ea typeface="Times New Roman"/>
                          <a:cs typeface="Times New Roman"/>
                          <a:sym typeface="Times New Roman"/>
                        </a:rPr>
                        <a:t>fsp</a:t>
                      </a:r>
                      <a:r>
                        <a:rPr lang="en-US" sz="1800" b="1" u="none" strike="noStrike" cap="none" dirty="0">
                          <a:latin typeface="Times New Roman"/>
                          <a:ea typeface="Times New Roman"/>
                          <a:cs typeface="Times New Roman"/>
                          <a:sym typeface="Times New Roman"/>
                        </a:rPr>
                        <a:t>)</a:t>
                      </a:r>
                      <a:endParaRPr sz="1800" u="none" strike="noStrike" cap="none" dirty="0">
                        <a:latin typeface="Times New Roman"/>
                        <a:ea typeface="Times New Roman"/>
                        <a:cs typeface="Times New Roman"/>
                        <a:sym typeface="Times New Roman"/>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used to specify the timestamp. Its value is stored as the number of seconds since the Unix epoch('1970-01-01 00:00:00' UTC). Its format is YYYY-MM-DD hh:mm:ss. Its supported range is from '1970-01-01 00:00:01' UTC to '2038-01-09 03:14:07' UTC.</a:t>
                      </a:r>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8027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TIME(fsp)</a:t>
                      </a:r>
                      <a:endParaRPr sz="1800" u="none" strike="noStrike" cap="none">
                        <a:latin typeface="Times New Roman"/>
                        <a:ea typeface="Times New Roman"/>
                        <a:cs typeface="Times New Roman"/>
                        <a:sym typeface="Times New Roman"/>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used to specify the time format. Its format is hh:mm:ss. Its supported range is from '-838:59:59' to '838:59:59'</a:t>
                      </a:r>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80275">
                <a:tc>
                  <a:txBody>
                    <a:bodyPr/>
                    <a:lstStyle/>
                    <a:p>
                      <a:pPr marL="0" marR="0" lvl="0" indent="0" algn="l" rtl="0">
                        <a:lnSpc>
                          <a:spcPct val="100000"/>
                        </a:lnSpc>
                        <a:spcBef>
                          <a:spcPts val="0"/>
                        </a:spcBef>
                        <a:spcAft>
                          <a:spcPts val="0"/>
                        </a:spcAft>
                        <a:buNone/>
                      </a:pPr>
                      <a:r>
                        <a:rPr lang="en-US" sz="1800" b="1" u="none" strike="noStrike" cap="none">
                          <a:latin typeface="Times New Roman"/>
                          <a:ea typeface="Times New Roman"/>
                          <a:cs typeface="Times New Roman"/>
                          <a:sym typeface="Times New Roman"/>
                        </a:rPr>
                        <a:t>YEAR</a:t>
                      </a:r>
                      <a:endParaRPr sz="1800" u="none" strike="noStrike" cap="none">
                        <a:latin typeface="Times New Roman"/>
                        <a:ea typeface="Times New Roman"/>
                        <a:cs typeface="Times New Roman"/>
                        <a:sym typeface="Times New Roman"/>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used to specify a year in four-digit format. Values allowed in four digit format from 1901 to 2155, and 0000. </a:t>
                      </a:r>
                      <a:endParaRPr/>
                    </a:p>
                  </a:txBody>
                  <a:tcPr marL="67225" marR="67225" marT="33625" marB="33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68931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2"/>
          <p:cNvSpPr txBox="1">
            <a:spLocks noGrp="1"/>
          </p:cNvSpPr>
          <p:nvPr>
            <p:ph type="title"/>
          </p:nvPr>
        </p:nvSpPr>
        <p:spPr>
          <a:xfrm>
            <a:off x="381000" y="860981"/>
            <a:ext cx="5774933" cy="7318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b="1">
                <a:solidFill>
                  <a:srgbClr val="FF0000"/>
                </a:solidFill>
                <a:latin typeface="Times New Roman"/>
                <a:ea typeface="Times New Roman"/>
                <a:cs typeface="Times New Roman"/>
                <a:sym typeface="Times New Roman"/>
              </a:rPr>
              <a:t>MySQL Numeric Data Types</a:t>
            </a:r>
            <a:endParaRPr/>
          </a:p>
        </p:txBody>
      </p:sp>
      <p:graphicFrame>
        <p:nvGraphicFramePr>
          <p:cNvPr id="372" name="Google Shape;372;p42"/>
          <p:cNvGraphicFramePr/>
          <p:nvPr>
            <p:extLst/>
          </p:nvPr>
        </p:nvGraphicFramePr>
        <p:xfrm>
          <a:off x="381000" y="1743958"/>
          <a:ext cx="8206825" cy="4641115"/>
        </p:xfrm>
        <a:graphic>
          <a:graphicData uri="http://schemas.openxmlformats.org/drawingml/2006/table">
            <a:tbl>
              <a:tblPr>
                <a:noFill/>
              </a:tblPr>
              <a:tblGrid>
                <a:gridCol w="1692900"/>
                <a:gridCol w="6513925"/>
              </a:tblGrid>
              <a:tr h="610750">
                <a:tc>
                  <a:txBody>
                    <a:bodyPr/>
                    <a:lstStyle/>
                    <a:p>
                      <a:pPr marL="0"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BIT(Size)</a:t>
                      </a:r>
                      <a:endParaRPr sz="1600" u="none" strike="noStrike" cap="none" dirty="0">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a:latin typeface="Times New Roman"/>
                          <a:ea typeface="Times New Roman"/>
                          <a:cs typeface="Times New Roman"/>
                          <a:sym typeface="Times New Roman"/>
                        </a:rPr>
                        <a:t>It is used for a bit-value type. The number of bits per value is specified in size. Its size can be 1 to 64. The default value is 1.</a:t>
                      </a:r>
                      <a:endParaRPr sz="160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977200">
                <a:tc>
                  <a:txBody>
                    <a:bodyPr/>
                    <a:lstStyle/>
                    <a:p>
                      <a:pPr marL="0" marR="0" lvl="0" indent="0" algn="l" rtl="0">
                        <a:lnSpc>
                          <a:spcPct val="100000"/>
                        </a:lnSpc>
                        <a:spcBef>
                          <a:spcPts val="0"/>
                        </a:spcBef>
                        <a:spcAft>
                          <a:spcPts val="0"/>
                        </a:spcAft>
                        <a:buNone/>
                      </a:pPr>
                      <a:r>
                        <a:rPr lang="en-US" sz="1600" b="1" u="none" strike="noStrike" cap="none" dirty="0">
                          <a:latin typeface="Times New Roman"/>
                          <a:ea typeface="Times New Roman"/>
                          <a:cs typeface="Times New Roman"/>
                          <a:sym typeface="Times New Roman"/>
                        </a:rPr>
                        <a:t>INT(size)</a:t>
                      </a:r>
                      <a:endParaRPr sz="1600" u="none" strike="noStrike" cap="none" dirty="0">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It is used for the integer value. Its signed range varies from -2147483648 to 2147483647 and unsigned range varies from 0 to 4294967295. The size parameter specifies the max display width that is 255. </a:t>
                      </a:r>
                      <a:endParaRPr sz="1600" dirty="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44300">
                <a:tc>
                  <a:txBody>
                    <a:bodyPr/>
                    <a:lstStyle/>
                    <a:p>
                      <a:pPr marL="0" marR="0" lvl="0" indent="0" algn="l" rtl="0">
                        <a:lnSpc>
                          <a:spcPct val="100000"/>
                        </a:lnSpc>
                        <a:spcBef>
                          <a:spcPts val="0"/>
                        </a:spcBef>
                        <a:spcAft>
                          <a:spcPts val="0"/>
                        </a:spcAft>
                        <a:buNone/>
                      </a:pPr>
                      <a:r>
                        <a:rPr lang="en-US" sz="1600" b="1" u="none" strike="noStrike" cap="none">
                          <a:latin typeface="Times New Roman"/>
                          <a:ea typeface="Times New Roman"/>
                          <a:cs typeface="Times New Roman"/>
                          <a:sym typeface="Times New Roman"/>
                        </a:rPr>
                        <a:t>INTEGER(size)</a:t>
                      </a:r>
                      <a:endParaRPr sz="1600" u="none" strike="noStrike" cap="none">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It is equal to INT(size).</a:t>
                      </a:r>
                      <a:endParaRPr sz="1600" dirty="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93975">
                <a:tc>
                  <a:txBody>
                    <a:bodyPr/>
                    <a:lstStyle/>
                    <a:p>
                      <a:pPr marL="0" marR="0" lvl="0" indent="0" algn="l" rtl="0">
                        <a:lnSpc>
                          <a:spcPct val="100000"/>
                        </a:lnSpc>
                        <a:spcBef>
                          <a:spcPts val="0"/>
                        </a:spcBef>
                        <a:spcAft>
                          <a:spcPts val="0"/>
                        </a:spcAft>
                        <a:buNone/>
                      </a:pPr>
                      <a:r>
                        <a:rPr lang="en-US" sz="1600" b="1" u="none" strike="noStrike" cap="none">
                          <a:latin typeface="Times New Roman"/>
                          <a:ea typeface="Times New Roman"/>
                          <a:cs typeface="Times New Roman"/>
                          <a:sym typeface="Times New Roman"/>
                        </a:rPr>
                        <a:t>FLOAT(size, d)</a:t>
                      </a:r>
                      <a:endParaRPr sz="1600" u="none" strike="noStrike" cap="none">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It is used to specify a floating point number. Its size parameter specifies the total number of digits. The number of digits after the decimal point is specified by </a:t>
                      </a:r>
                      <a:r>
                        <a:rPr lang="en-US" sz="1600" b="1" u="none" strike="noStrike" cap="none" dirty="0">
                          <a:latin typeface="Times New Roman"/>
                          <a:ea typeface="Times New Roman"/>
                          <a:cs typeface="Times New Roman"/>
                          <a:sym typeface="Times New Roman"/>
                        </a:rPr>
                        <a:t>d</a:t>
                      </a:r>
                      <a:r>
                        <a:rPr lang="en-US" sz="1600" u="none" strike="noStrike" cap="none" dirty="0">
                          <a:latin typeface="Times New Roman"/>
                          <a:ea typeface="Times New Roman"/>
                          <a:cs typeface="Times New Roman"/>
                          <a:sym typeface="Times New Roman"/>
                        </a:rPr>
                        <a:t> parameter.</a:t>
                      </a:r>
                      <a:endParaRPr sz="1600" dirty="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160425">
                <a:tc>
                  <a:txBody>
                    <a:bodyPr/>
                    <a:lstStyle/>
                    <a:p>
                      <a:pPr marL="0" marR="0" lvl="0" indent="0" algn="l" rtl="0">
                        <a:lnSpc>
                          <a:spcPct val="100000"/>
                        </a:lnSpc>
                        <a:spcBef>
                          <a:spcPts val="0"/>
                        </a:spcBef>
                        <a:spcAft>
                          <a:spcPts val="0"/>
                        </a:spcAft>
                        <a:buNone/>
                      </a:pPr>
                      <a:r>
                        <a:rPr lang="en-US" sz="1600" b="1" u="none" strike="noStrike" cap="none">
                          <a:latin typeface="Times New Roman"/>
                          <a:ea typeface="Times New Roman"/>
                          <a:cs typeface="Times New Roman"/>
                          <a:sym typeface="Times New Roman"/>
                        </a:rPr>
                        <a:t>FLOAT(p)</a:t>
                      </a:r>
                      <a:endParaRPr sz="1600" u="none" strike="noStrike" cap="none">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It is used to specify a floating point number. MySQL used p parameter to determine whether to use FLOAT or DOUBLE. If p is between 0 to24, the data type becomes FLOAT (). If p is from 25 to 53, the data type becomes DOUBLE().</a:t>
                      </a:r>
                      <a:endParaRPr sz="1600" dirty="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93975">
                <a:tc>
                  <a:txBody>
                    <a:bodyPr/>
                    <a:lstStyle/>
                    <a:p>
                      <a:pPr marL="0" marR="0" lvl="0" indent="0" algn="l" rtl="0">
                        <a:lnSpc>
                          <a:spcPct val="100000"/>
                        </a:lnSpc>
                        <a:spcBef>
                          <a:spcPts val="0"/>
                        </a:spcBef>
                        <a:spcAft>
                          <a:spcPts val="0"/>
                        </a:spcAft>
                        <a:buNone/>
                      </a:pPr>
                      <a:r>
                        <a:rPr lang="en-US" sz="1600" b="1" u="none" strike="noStrike" cap="none">
                          <a:latin typeface="Times New Roman"/>
                          <a:ea typeface="Times New Roman"/>
                          <a:cs typeface="Times New Roman"/>
                          <a:sym typeface="Times New Roman"/>
                        </a:rPr>
                        <a:t>DOUBLE(size, d)</a:t>
                      </a:r>
                      <a:endParaRPr sz="1600" u="none" strike="noStrike" cap="none">
                        <a:latin typeface="Times New Roman"/>
                        <a:ea typeface="Times New Roman"/>
                        <a:cs typeface="Times New Roman"/>
                        <a:sym typeface="Times New Roman"/>
                      </a:endParaRPr>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u="none" strike="noStrike" cap="none" dirty="0">
                          <a:latin typeface="Times New Roman"/>
                          <a:ea typeface="Times New Roman"/>
                          <a:cs typeface="Times New Roman"/>
                          <a:sym typeface="Times New Roman"/>
                        </a:rPr>
                        <a:t>It is a normal size floating point number. Its size parameter specifies the total number of digits. The number of digits after the decimal is specified by d parameter.</a:t>
                      </a:r>
                      <a:endParaRPr sz="1600" dirty="0"/>
                    </a:p>
                  </a:txBody>
                  <a:tcPr marL="60950" marR="60950" marT="30475" marB="30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63187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3794</Words>
  <Application>Microsoft Office PowerPoint</Application>
  <PresentationFormat>On-screen Show (4:3)</PresentationFormat>
  <Paragraphs>584</Paragraphs>
  <Slides>73</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73</vt:i4>
      </vt:variant>
    </vt:vector>
  </HeadingPairs>
  <TitlesOfParts>
    <vt:vector size="81" baseType="lpstr">
      <vt:lpstr>Arial Unicode MS</vt:lpstr>
      <vt:lpstr>Arial</vt:lpstr>
      <vt:lpstr>Calibri</vt:lpstr>
      <vt:lpstr>Cambria</vt:lpstr>
      <vt:lpstr>Noto Sans Symbols</vt:lpstr>
      <vt:lpstr>Times New Roman</vt:lpstr>
      <vt:lpstr>var(--bs-font-monospace)</vt:lpstr>
      <vt:lpstr>Office Theme</vt:lpstr>
      <vt:lpstr>PowerPoint Presentation</vt:lpstr>
      <vt:lpstr>PowerPoint Presentation</vt:lpstr>
      <vt:lpstr>PowerPoint Presentation</vt:lpstr>
      <vt:lpstr>PowerPoint Presentation</vt:lpstr>
      <vt:lpstr>PowerPoint Presentation</vt:lpstr>
      <vt:lpstr>Database Applications Examples</vt:lpstr>
      <vt:lpstr>Database Applications Examples</vt:lpstr>
      <vt:lpstr>PowerPoint Presentation</vt:lpstr>
      <vt:lpstr>PowerPoint Presentation</vt:lpstr>
      <vt:lpstr>Purpose of Database Systems/ Disadvantage of File-oriented system </vt:lpstr>
      <vt:lpstr>PowerPoint Presentation</vt:lpstr>
      <vt:lpstr>PowerPoint Presentation</vt:lpstr>
      <vt:lpstr>View of Data</vt:lpstr>
      <vt:lpstr>Data Abstraction</vt:lpstr>
      <vt:lpstr>PowerPoint Presentation</vt:lpstr>
      <vt:lpstr>PowerPoint Presentation</vt:lpstr>
      <vt:lpstr>PowerPoint Presentation</vt:lpstr>
      <vt:lpstr>PowerPoint Presentation</vt:lpstr>
      <vt:lpstr>Relational Databases</vt:lpstr>
      <vt:lpstr>Data-Definition Language</vt:lpstr>
      <vt:lpstr>DDL Command</vt:lpstr>
      <vt:lpstr>Create </vt:lpstr>
      <vt:lpstr>PowerPoint Presentation</vt:lpstr>
      <vt:lpstr>PowerPoint Presentation</vt:lpstr>
      <vt:lpstr>Alter:</vt:lpstr>
      <vt:lpstr>PowerPoint Presentation</vt:lpstr>
      <vt:lpstr>PowerPoint Presentation</vt:lpstr>
      <vt:lpstr>PowerPoint Presentation</vt:lpstr>
      <vt:lpstr>Truncate:</vt:lpstr>
      <vt:lpstr>Drop:</vt:lpstr>
      <vt:lpstr>Data-Manipulation Language</vt:lpstr>
      <vt:lpstr>Procedural DML</vt:lpstr>
      <vt:lpstr>Non-Procedural DML: </vt:lpstr>
      <vt:lpstr>DML</vt:lpstr>
      <vt:lpstr>PowerPoint Presentation</vt:lpstr>
      <vt:lpstr>PowerPoint Presentation</vt:lpstr>
      <vt:lpstr>Database Architecture</vt:lpstr>
      <vt:lpstr>Database Architecture</vt:lpstr>
      <vt:lpstr>Database Architecture</vt:lpstr>
      <vt:lpstr>The Query Processor</vt:lpstr>
      <vt:lpstr>Storage Manager</vt:lpstr>
      <vt:lpstr>The storage manager components include: </vt:lpstr>
      <vt:lpstr>PowerPoint Presentation</vt:lpstr>
      <vt:lpstr> DBMS Three Level Architecture </vt:lpstr>
      <vt:lpstr>PowerPoint Presentation</vt:lpstr>
      <vt:lpstr>Data Models</vt:lpstr>
      <vt:lpstr>Entity-Relationship Model</vt:lpstr>
      <vt:lpstr>PowerPoint Presentation</vt:lpstr>
      <vt:lpstr>PowerPoint Presentation</vt:lpstr>
      <vt:lpstr>PowerPoint Presentation</vt:lpstr>
      <vt:lpstr>Advantages of ER Model</vt:lpstr>
      <vt:lpstr>Types of Entity type</vt:lpstr>
      <vt:lpstr>PowerPoint Presentation</vt:lpstr>
      <vt:lpstr>Relationship in DBMS</vt:lpstr>
      <vt:lpstr>PowerPoint Presentation</vt:lpstr>
      <vt:lpstr>Many-to-Many Relationship  </vt:lpstr>
      <vt:lpstr>Types of Participation Constraints-</vt:lpstr>
      <vt:lpstr>PowerPoint Presentation</vt:lpstr>
      <vt:lpstr>Types of Attributes-</vt:lpstr>
      <vt:lpstr>Types of Attributes-</vt:lpstr>
      <vt:lpstr>Types of Attributes-</vt:lpstr>
      <vt:lpstr>Relational Model</vt:lpstr>
      <vt:lpstr>ER to Table conversion</vt:lpstr>
      <vt:lpstr>PowerPoint Presentation</vt:lpstr>
      <vt:lpstr>Relationship Set to Table conversion </vt:lpstr>
      <vt:lpstr>PowerPoint Presentation</vt:lpstr>
      <vt:lpstr>PowerPoint Presentation</vt:lpstr>
      <vt:lpstr>PowerPoint Presentation</vt:lpstr>
      <vt:lpstr>PowerPoint Presentation</vt:lpstr>
      <vt:lpstr>SQL Characteristics and advantages</vt:lpstr>
      <vt:lpstr>SQL Data types SQL Server String Data Type</vt:lpstr>
      <vt:lpstr>MySQL Date and Time Data Types </vt:lpstr>
      <vt:lpstr>MySQL Numeric Data Types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Pooja</cp:lastModifiedBy>
  <cp:revision>31</cp:revision>
  <dcterms:modified xsi:type="dcterms:W3CDTF">2026-07-23T03:51:19Z</dcterms:modified>
</cp:coreProperties>
</file>